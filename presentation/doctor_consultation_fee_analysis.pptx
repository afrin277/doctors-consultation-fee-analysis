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28" r:id="rId2"/>
    <p:sldId id="302" r:id="rId3"/>
    <p:sldId id="331" r:id="rId4"/>
    <p:sldId id="300" r:id="rId5"/>
    <p:sldId id="273" r:id="rId6"/>
    <p:sldId id="327" r:id="rId7"/>
    <p:sldId id="306" r:id="rId8"/>
    <p:sldId id="256" r:id="rId9"/>
    <p:sldId id="313" r:id="rId10"/>
    <p:sldId id="325" r:id="rId11"/>
    <p:sldId id="334" r:id="rId12"/>
    <p:sldId id="335" r:id="rId13"/>
    <p:sldId id="333" r:id="rId14"/>
    <p:sldId id="264" r:id="rId15"/>
    <p:sldId id="310" r:id="rId16"/>
    <p:sldId id="271" r:id="rId17"/>
    <p:sldId id="320" r:id="rId18"/>
    <p:sldId id="319" r:id="rId19"/>
    <p:sldId id="323" r:id="rId20"/>
    <p:sldId id="278" r:id="rId21"/>
    <p:sldId id="276" r:id="rId22"/>
    <p:sldId id="280" r:id="rId23"/>
    <p:sldId id="281" r:id="rId24"/>
    <p:sldId id="282" r:id="rId25"/>
    <p:sldId id="283" r:id="rId26"/>
    <p:sldId id="285" r:id="rId27"/>
    <p:sldId id="286" r:id="rId28"/>
    <p:sldId id="287" r:id="rId29"/>
    <p:sldId id="288" r:id="rId30"/>
    <p:sldId id="289" r:id="rId31"/>
    <p:sldId id="292" r:id="rId32"/>
    <p:sldId id="326" r:id="rId33"/>
    <p:sldId id="33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AD8B"/>
    <a:srgbClr val="C09100"/>
    <a:srgbClr val="FFFDE8"/>
    <a:srgbClr val="FFFBF0"/>
    <a:srgbClr val="DEEBF7"/>
    <a:srgbClr val="FCE8E8"/>
    <a:srgbClr val="E2F0D9"/>
    <a:srgbClr val="FBE5D6"/>
    <a:srgbClr val="F5F5F5"/>
    <a:srgbClr val="F7C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089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6FA8C-1603-4D69-A4B0-D0FEC3A4B37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1C9D1-6DF3-4E10-AC37-0E581A780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8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7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46A0A-F8B6-37C2-546E-034721F3B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351D0F-013B-5AB7-C630-00149512D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A3072-B109-4647-537F-DF5F44C30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487E7-2756-D905-5FA9-52A5D745E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60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EB26-85EC-C983-5535-EBCC89952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B7242-5265-CBEA-5668-5876EA541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A381E-06E3-8078-1B56-64642DF80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36CBF-A2A1-7992-C7AF-9ECC11791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54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0A7E4-0ED2-8BD6-FB7E-060E96BD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FF3E1-5F07-9A60-870F-AF2187B0B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3CFAF-8099-5B8A-615D-B25B63C99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6EC1B-5697-120B-E49B-05EEF0F35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05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9EAB-242B-BE15-188D-5EE8C191E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A7A4D-D7CC-02EB-5307-78D9E94278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A86467-566E-0367-CF6E-4542A92F4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DB522-11B2-77EF-458A-A75ADAB83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86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36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299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767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53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D8B0-E8B2-6B75-123C-DDA9B0DFC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37974-009C-DF1D-E17E-ADFFE7428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738-47A5-17AA-E388-674C3DB61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A3C65-B2A6-6A4E-1EE9-D9C742859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06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1BB28-775A-F597-3ABB-6851C617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EECC86-E008-41BF-63E2-B767E5EF2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C60A2-7586-26B2-8CD0-F546572C4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C83B7-31A9-FD83-846F-DC67560FC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33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92264-E4CD-1167-A7CF-1CED50000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F8172-52F0-F3AE-B9B4-D942C6A45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BB4C2-5A72-CFFF-BFDF-39FA3CD53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31A82-5ABE-5030-78D7-D612BBC45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9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E9658-A0F6-BB76-5DDD-0D452D5EA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8ACC7-19E8-0A0E-592F-48B08C99D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D142D8-0C2D-006D-B61F-BE93F3A4F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05AF1-FDB0-D182-9FBE-48C98A90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56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5E84-5E74-4AA1-1EE5-402E44EE2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4A47A-2EE3-F89C-5B4F-595869502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9E0E00-8E0E-C55E-FACA-D0FD16129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AE746-199E-C113-4BA3-FDED0F3B5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71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C1B4C-F654-464A-EA20-49CA9BBE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A73E4-D864-85A9-2906-81F08A0D96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093A8-9785-04A7-D0CB-B133A0343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49CA3-9620-D60C-8825-0A0443441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01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14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A8CD2-B5AC-7C51-5EBB-69D89323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3F855-3E91-3395-0BAF-7F3B11953C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65642-C828-270B-48EA-11C790E86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10E93-E710-BC3B-023A-4071EE8A6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1C9D1-6DF3-4E10-AC37-0E581A7803C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42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0104-65C8-1DE2-25C0-2D9435E93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A203D-DB7F-1B7B-D2C2-A44FB5C0D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E010-58F0-0105-E566-4729C550E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BA816-819F-2E61-4BD3-825EB2A18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18D75-D697-EDBE-1739-F24C17BBC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3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B508-EF3E-D86B-E736-A87307256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7680B-F166-B2D2-6D8D-9F687A3DF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751D6-0783-7BB3-7DCE-528D1D7C8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50E9-F68C-508C-4CAC-8AF769AC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01B1B-8930-4BF4-62AB-D922718B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47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C478-C566-E6D8-9A7B-33AA3B15E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F5792-6D51-82EC-F3B1-8A26E27B9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A18BC-3C59-03FA-0A95-2CD1EC63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B10B1-C48F-9CFA-32B7-FF29FF85C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AFC11-1B88-3B4F-1E2C-304AA233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17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3A5E-1090-89C5-AC69-8ED83C80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FE7A-D03D-24CE-A369-E9024D542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374B2-3E9F-0400-20C5-FD06AB295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E0677-508B-B23E-5270-04DE0CCF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AF40C-8E3C-A9FB-B6DC-AC1CDF6C7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23CBB3-D2DB-7B41-4967-8B9E42DB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22471-9802-1703-0A83-A0368301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4163F-FEAD-718F-D5B3-A358DDE5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6C2E3-D3A3-E9F8-E634-979ACF381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0DC53-FF1F-7F4F-4EB5-1E265F112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EB9ABB-C873-ACBD-35AA-C2080952A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1E9F6F-AC62-9414-AE76-71DB4DB72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4AB90-C85A-44C8-BA9C-7D97FCDA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092281-C9AA-58AB-EE22-B6F272055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06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7ED7C-B2C5-E49E-0E5A-132742F26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3BA8E-6F16-6237-013B-B6A8B75C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C78E9-54AB-3525-F727-7474CF23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7C39D-2006-89D7-E967-A3EF26C7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63CAB-0700-5A23-9EBF-03D7661D5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D6207C-B01B-376D-10C7-75538F63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3F3E4-AA0A-35A0-F12A-EB4390976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6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C4D5D-6CF8-8D0F-602C-24E08713C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C8421-9AA1-A725-D12A-8E6B18BE4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159ECC-285A-8AA0-D7C2-76D114E30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9E7F1-B1E4-9A4A-E3E0-0780B0C6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1CED5-2CA4-0957-4009-442D85EC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E89C0-EB29-2D5A-D439-B421E028C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6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A80E7-F5C0-65FF-C270-010C02AF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8D664-B5BF-1BC8-AB5A-1325460EE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1D5094-6207-80F5-AE70-F83F0B2EA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3C6D1-B0D5-F466-FC94-1C84C535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672E6-4E98-92DC-7439-5BB4ABC0E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0503-C438-BE7B-EB7D-88A1F21FD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5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0739-D0C5-FA66-4D80-65FC4E89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F23D6-945A-DFF8-0512-DC8E525C9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67D69-46B1-F714-1AEB-0D99C5C1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66521-70CC-35F4-B491-B0083DA6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83D98-9D3F-2839-FD48-07F98D43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343D30-BD34-FC81-D1F8-5B39BBBB8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3E5078-28E0-707A-A8A6-D585783E0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2D2A-8AF7-DA6D-14AC-34E7F2E19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B265-9904-C947-E7D3-260F28E9E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FA7A5-A856-EA2A-B3B7-C7FF00FAC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16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9A085-0DC0-FA2D-72D1-E97D1E56C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05C48-A240-5930-55B4-DBE5057BD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CF5CD-D145-7C35-CA41-3EF694691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AD7A-1082-4565-9449-09E3A54489C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40A7D-17BB-2DB1-6D67-55DF49E95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6EC28-2B85-F139-AB4A-CACC52CF8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98C05-1A96-4CDF-BC8C-FE14A4F59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2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microsoft.com/office/2007/relationships/hdphoto" Target="../media/hdphoto3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microsoft.com/office/2007/relationships/hdphoto" Target="../media/hdphoto4.wdp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419C-BE49-6302-8843-CC7234C2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AD1BA524-67E3-0ECF-4B4D-5B3866EC1E53}"/>
              </a:ext>
            </a:extLst>
          </p:cNvPr>
          <p:cNvSpPr txBox="1"/>
          <p:nvPr/>
        </p:nvSpPr>
        <p:spPr>
          <a:xfrm>
            <a:off x="1056945" y="1763412"/>
            <a:ext cx="4933224" cy="1743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80000"/>
              </a:lnSpc>
              <a:spcAft>
                <a:spcPts val="50"/>
              </a:spcAft>
            </a:pPr>
            <a:r>
              <a:rPr lang="en-US" sz="4400" dirty="0">
                <a:solidFill>
                  <a:srgbClr val="1732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Doctor’s</a:t>
            </a:r>
          </a:p>
          <a:p>
            <a:pPr defTabSz="457200">
              <a:lnSpc>
                <a:spcPct val="80000"/>
              </a:lnSpc>
              <a:spcAft>
                <a:spcPts val="50"/>
              </a:spcAft>
            </a:pPr>
            <a:r>
              <a:rPr lang="en-US" sz="4400" dirty="0">
                <a:solidFill>
                  <a:srgbClr val="1732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Consultation Fee</a:t>
            </a:r>
          </a:p>
          <a:p>
            <a:pPr defTabSz="457200">
              <a:lnSpc>
                <a:spcPct val="80000"/>
              </a:lnSpc>
              <a:spcAft>
                <a:spcPts val="50"/>
              </a:spcAft>
            </a:pPr>
            <a:r>
              <a:rPr lang="en-US" sz="4400" dirty="0">
                <a:solidFill>
                  <a:srgbClr val="173278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1731CB8-0C99-CEDF-9CAC-47D457CDD7AA}"/>
              </a:ext>
            </a:extLst>
          </p:cNvPr>
          <p:cNvSpPr/>
          <p:nvPr/>
        </p:nvSpPr>
        <p:spPr>
          <a:xfrm>
            <a:off x="0" y="991566"/>
            <a:ext cx="574158" cy="1139443"/>
          </a:xfrm>
          <a:custGeom>
            <a:avLst/>
            <a:gdLst>
              <a:gd name="csX0" fmla="*/ 0 w 574158"/>
              <a:gd name="csY0" fmla="*/ 0 h 1159108"/>
              <a:gd name="csX1" fmla="*/ 35061 w 574158"/>
              <a:gd name="csY1" fmla="*/ 3081 h 1159108"/>
              <a:gd name="csX2" fmla="*/ 560442 w 574158"/>
              <a:gd name="csY2" fmla="*/ 460965 h 1159108"/>
              <a:gd name="csX3" fmla="*/ 574158 w 574158"/>
              <a:gd name="csY3" fmla="*/ 579545 h 1159108"/>
              <a:gd name="csX4" fmla="*/ 574158 w 574158"/>
              <a:gd name="csY4" fmla="*/ 579563 h 1159108"/>
              <a:gd name="csX5" fmla="*/ 560442 w 574158"/>
              <a:gd name="csY5" fmla="*/ 698143 h 1159108"/>
              <a:gd name="csX6" fmla="*/ 35061 w 574158"/>
              <a:gd name="csY6" fmla="*/ 1156027 h 1159108"/>
              <a:gd name="csX7" fmla="*/ 0 w 574158"/>
              <a:gd name="csY7" fmla="*/ 1159108 h 11591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74158" h="1159108">
                <a:moveTo>
                  <a:pt x="0" y="0"/>
                </a:moveTo>
                <a:lnTo>
                  <a:pt x="35061" y="3081"/>
                </a:lnTo>
                <a:cubicBezTo>
                  <a:pt x="298772" y="50111"/>
                  <a:pt x="506479" y="231134"/>
                  <a:pt x="560442" y="460965"/>
                </a:cubicBezTo>
                <a:lnTo>
                  <a:pt x="574158" y="579545"/>
                </a:lnTo>
                <a:lnTo>
                  <a:pt x="574158" y="579563"/>
                </a:lnTo>
                <a:lnTo>
                  <a:pt x="560442" y="698143"/>
                </a:lnTo>
                <a:cubicBezTo>
                  <a:pt x="506479" y="927974"/>
                  <a:pt x="298772" y="1108997"/>
                  <a:pt x="35061" y="1156027"/>
                </a:cubicBezTo>
                <a:lnTo>
                  <a:pt x="0" y="1159108"/>
                </a:lnTo>
                <a:close/>
              </a:path>
            </a:pathLst>
          </a:custGeom>
          <a:solidFill>
            <a:srgbClr val="3475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FA9E075-24A9-BBA6-12FC-33CF8F13083C}"/>
              </a:ext>
            </a:extLst>
          </p:cNvPr>
          <p:cNvGrpSpPr/>
          <p:nvPr/>
        </p:nvGrpSpPr>
        <p:grpSpPr>
          <a:xfrm>
            <a:off x="6096000" y="521572"/>
            <a:ext cx="277283" cy="277283"/>
            <a:chOff x="6096000" y="1011766"/>
            <a:chExt cx="277283" cy="27728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68C98600-A2A2-7CFF-A2E0-EEB305E4383B}"/>
                </a:ext>
              </a:extLst>
            </p:cNvPr>
            <p:cNvSpPr/>
            <p:nvPr/>
          </p:nvSpPr>
          <p:spPr>
            <a:xfrm>
              <a:off x="6096000" y="1117600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EF889B4-F4DD-914C-CEED-FDFAD0408C17}"/>
                </a:ext>
              </a:extLst>
            </p:cNvPr>
            <p:cNvSpPr/>
            <p:nvPr/>
          </p:nvSpPr>
          <p:spPr>
            <a:xfrm rot="5400000">
              <a:off x="6095999" y="1117599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E9A1C88-5803-DACA-6B69-B263B5A3C730}"/>
              </a:ext>
            </a:extLst>
          </p:cNvPr>
          <p:cNvGrpSpPr/>
          <p:nvPr/>
        </p:nvGrpSpPr>
        <p:grpSpPr>
          <a:xfrm>
            <a:off x="4470405" y="5870883"/>
            <a:ext cx="397372" cy="369332"/>
            <a:chOff x="6096000" y="1011766"/>
            <a:chExt cx="277283" cy="277283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9961A64-ABC2-3102-768D-009B8AEC6C41}"/>
                </a:ext>
              </a:extLst>
            </p:cNvPr>
            <p:cNvSpPr/>
            <p:nvPr/>
          </p:nvSpPr>
          <p:spPr>
            <a:xfrm>
              <a:off x="6096000" y="1117600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202AD53-C855-DC26-CDCC-0FC1C9C79E9A}"/>
                </a:ext>
              </a:extLst>
            </p:cNvPr>
            <p:cNvSpPr/>
            <p:nvPr/>
          </p:nvSpPr>
          <p:spPr>
            <a:xfrm rot="5400000">
              <a:off x="6095999" y="1117599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97AD830-696F-5D50-C2FC-23F877E30B1C}"/>
              </a:ext>
            </a:extLst>
          </p:cNvPr>
          <p:cNvGrpSpPr/>
          <p:nvPr/>
        </p:nvGrpSpPr>
        <p:grpSpPr>
          <a:xfrm>
            <a:off x="8694822" y="0"/>
            <a:ext cx="3497178" cy="4920916"/>
            <a:chOff x="8694822" y="0"/>
            <a:chExt cx="3497178" cy="492091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5320D2-1795-E9BB-A79A-8DB7E5A631FF}"/>
                </a:ext>
              </a:extLst>
            </p:cNvPr>
            <p:cNvSpPr/>
            <p:nvPr/>
          </p:nvSpPr>
          <p:spPr>
            <a:xfrm>
              <a:off x="8694822" y="0"/>
              <a:ext cx="3497178" cy="4920916"/>
            </a:xfrm>
            <a:custGeom>
              <a:avLst/>
              <a:gdLst>
                <a:gd name="csX0" fmla="*/ 443846 w 3497178"/>
                <a:gd name="csY0" fmla="*/ 0 h 4920916"/>
                <a:gd name="csX1" fmla="*/ 3497178 w 3497178"/>
                <a:gd name="csY1" fmla="*/ 0 h 4920916"/>
                <a:gd name="csX2" fmla="*/ 3497178 w 3497178"/>
                <a:gd name="csY2" fmla="*/ 4920046 h 4920916"/>
                <a:gd name="csX3" fmla="*/ 3461125 w 3497178"/>
                <a:gd name="csY3" fmla="*/ 4920916 h 4920916"/>
                <a:gd name="csX4" fmla="*/ 3461043 w 3497178"/>
                <a:gd name="csY4" fmla="*/ 4920916 h 4920916"/>
                <a:gd name="csX5" fmla="*/ 3282977 w 3497178"/>
                <a:gd name="csY5" fmla="*/ 4916617 h 4920916"/>
                <a:gd name="csX6" fmla="*/ 0 w 3497178"/>
                <a:gd name="csY6" fmla="*/ 1616243 h 4920916"/>
                <a:gd name="csX7" fmla="*/ 417734 w 3497178"/>
                <a:gd name="csY7" fmla="*/ 41039 h 4920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497178" h="4920916">
                  <a:moveTo>
                    <a:pt x="443846" y="0"/>
                  </a:moveTo>
                  <a:lnTo>
                    <a:pt x="3497178" y="0"/>
                  </a:lnTo>
                  <a:lnTo>
                    <a:pt x="3497178" y="4920046"/>
                  </a:lnTo>
                  <a:lnTo>
                    <a:pt x="3461125" y="4920916"/>
                  </a:lnTo>
                  <a:lnTo>
                    <a:pt x="3461043" y="4920916"/>
                  </a:lnTo>
                  <a:lnTo>
                    <a:pt x="3282977" y="4916617"/>
                  </a:lnTo>
                  <a:cubicBezTo>
                    <a:pt x="1454245" y="4828108"/>
                    <a:pt x="0" y="3384329"/>
                    <a:pt x="0" y="1616243"/>
                  </a:cubicBezTo>
                  <a:cubicBezTo>
                    <a:pt x="0" y="1045893"/>
                    <a:pt x="151326" y="509289"/>
                    <a:pt x="417734" y="41039"/>
                  </a:cubicBezTo>
                  <a:close/>
                </a:path>
              </a:pathLst>
            </a:custGeom>
            <a:solidFill>
              <a:srgbClr val="17327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6703480-5E13-7CFC-AA84-B83D0B43BA61}"/>
                </a:ext>
              </a:extLst>
            </p:cNvPr>
            <p:cNvSpPr/>
            <p:nvPr/>
          </p:nvSpPr>
          <p:spPr>
            <a:xfrm>
              <a:off x="11300666" y="588182"/>
              <a:ext cx="306448" cy="45719"/>
            </a:xfrm>
            <a:prstGeom prst="rect">
              <a:avLst/>
            </a:prstGeom>
            <a:solidFill>
              <a:srgbClr val="3475FE"/>
            </a:solidFill>
            <a:ln>
              <a:solidFill>
                <a:srgbClr val="1732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EDDB651-7070-ADB4-0312-D6956F2A388B}"/>
                </a:ext>
              </a:extLst>
            </p:cNvPr>
            <p:cNvSpPr/>
            <p:nvPr/>
          </p:nvSpPr>
          <p:spPr>
            <a:xfrm>
              <a:off x="11300666" y="665542"/>
              <a:ext cx="306448" cy="45719"/>
            </a:xfrm>
            <a:prstGeom prst="rect">
              <a:avLst/>
            </a:prstGeom>
            <a:solidFill>
              <a:srgbClr val="3475FE"/>
            </a:solidFill>
            <a:ln>
              <a:solidFill>
                <a:srgbClr val="1732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475D788-2692-F014-C23A-BF1DEFFF80AC}"/>
                </a:ext>
              </a:extLst>
            </p:cNvPr>
            <p:cNvSpPr/>
            <p:nvPr/>
          </p:nvSpPr>
          <p:spPr>
            <a:xfrm>
              <a:off x="11300666" y="744812"/>
              <a:ext cx="306448" cy="45719"/>
            </a:xfrm>
            <a:prstGeom prst="rect">
              <a:avLst/>
            </a:prstGeom>
            <a:solidFill>
              <a:srgbClr val="3475FE"/>
            </a:solidFill>
            <a:ln>
              <a:solidFill>
                <a:srgbClr val="17327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39DA8A4-6AE5-75F6-78CE-A489797B1917}"/>
              </a:ext>
            </a:extLst>
          </p:cNvPr>
          <p:cNvGrpSpPr/>
          <p:nvPr/>
        </p:nvGrpSpPr>
        <p:grpSpPr>
          <a:xfrm>
            <a:off x="6006370" y="1513182"/>
            <a:ext cx="6192252" cy="5350042"/>
            <a:chOff x="6006370" y="1513182"/>
            <a:chExt cx="6192252" cy="5350042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7014C38-9E6F-C7C5-A821-B270136F8A8C}"/>
                </a:ext>
              </a:extLst>
            </p:cNvPr>
            <p:cNvSpPr/>
            <p:nvPr/>
          </p:nvSpPr>
          <p:spPr>
            <a:xfrm>
              <a:off x="6006370" y="1513182"/>
              <a:ext cx="6192252" cy="5350042"/>
            </a:xfrm>
            <a:custGeom>
              <a:avLst/>
              <a:gdLst>
                <a:gd name="csX0" fmla="*/ 4596464 w 6192252"/>
                <a:gd name="csY0" fmla="*/ 0 h 5350042"/>
                <a:gd name="csX1" fmla="*/ 6176882 w 6192252"/>
                <a:gd name="csY1" fmla="*/ 282295 h 5350042"/>
                <a:gd name="csX2" fmla="*/ 6192252 w 6192252"/>
                <a:gd name="csY2" fmla="*/ 288429 h 5350042"/>
                <a:gd name="csX3" fmla="*/ 6192252 w 6192252"/>
                <a:gd name="csY3" fmla="*/ 5350042 h 5350042"/>
                <a:gd name="csX4" fmla="*/ 51625 w 6192252"/>
                <a:gd name="csY4" fmla="*/ 5350042 h 5350042"/>
                <a:gd name="csX5" fmla="*/ 23731 w 6192252"/>
                <a:gd name="csY5" fmla="*/ 5127872 h 5350042"/>
                <a:gd name="csX6" fmla="*/ 0 w 6192252"/>
                <a:gd name="csY6" fmla="*/ 4652210 h 5350042"/>
                <a:gd name="csX7" fmla="*/ 4596464 w 6192252"/>
                <a:gd name="csY7" fmla="*/ 0 h 53500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192252" h="5350042">
                  <a:moveTo>
                    <a:pt x="4596464" y="0"/>
                  </a:moveTo>
                  <a:cubicBezTo>
                    <a:pt x="5151773" y="0"/>
                    <a:pt x="5684083" y="99669"/>
                    <a:pt x="6176882" y="282295"/>
                  </a:cubicBezTo>
                  <a:lnTo>
                    <a:pt x="6192252" y="288429"/>
                  </a:lnTo>
                  <a:lnTo>
                    <a:pt x="6192252" y="5350042"/>
                  </a:lnTo>
                  <a:lnTo>
                    <a:pt x="51625" y="5350042"/>
                  </a:lnTo>
                  <a:lnTo>
                    <a:pt x="23731" y="5127872"/>
                  </a:lnTo>
                  <a:cubicBezTo>
                    <a:pt x="8039" y="4971478"/>
                    <a:pt x="0" y="4812794"/>
                    <a:pt x="0" y="4652210"/>
                  </a:cubicBezTo>
                  <a:cubicBezTo>
                    <a:pt x="0" y="2082865"/>
                    <a:pt x="2057907" y="0"/>
                    <a:pt x="4596464" y="0"/>
                  </a:cubicBezTo>
                  <a:close/>
                </a:path>
              </a:pathLst>
            </a:custGeom>
            <a:solidFill>
              <a:srgbClr val="3475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A6A903C-B727-20D8-D0D8-396953554CAD}"/>
                </a:ext>
              </a:extLst>
            </p:cNvPr>
            <p:cNvGrpSpPr/>
            <p:nvPr/>
          </p:nvGrpSpPr>
          <p:grpSpPr>
            <a:xfrm>
              <a:off x="11309364" y="2744954"/>
              <a:ext cx="397372" cy="369332"/>
              <a:chOff x="6096000" y="1011766"/>
              <a:chExt cx="277283" cy="277283"/>
            </a:xfrm>
            <a:solidFill>
              <a:srgbClr val="5C93FF"/>
            </a:solidFill>
          </p:grpSpPr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A0226533-7AE5-39FE-6BCC-537244615505}"/>
                  </a:ext>
                </a:extLst>
              </p:cNvPr>
              <p:cNvSpPr/>
              <p:nvPr/>
            </p:nvSpPr>
            <p:spPr>
              <a:xfrm>
                <a:off x="6096000" y="1117600"/>
                <a:ext cx="277283" cy="656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E60146E7-2A53-6F08-BB40-552086FAE67E}"/>
                  </a:ext>
                </a:extLst>
              </p:cNvPr>
              <p:cNvSpPr/>
              <p:nvPr/>
            </p:nvSpPr>
            <p:spPr>
              <a:xfrm rot="5400000">
                <a:off x="6095999" y="1117599"/>
                <a:ext cx="277283" cy="65617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139DB019-A887-4852-254C-BF90CCF69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8" t="14753"/>
          <a:stretch>
            <a:fillRect/>
          </a:stretch>
        </p:blipFill>
        <p:spPr>
          <a:xfrm>
            <a:off x="6201832" y="1011766"/>
            <a:ext cx="5990168" cy="584623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86199E1-16CE-65AE-76CE-284E040231ED}"/>
              </a:ext>
            </a:extLst>
          </p:cNvPr>
          <p:cNvSpPr txBox="1"/>
          <p:nvPr/>
        </p:nvSpPr>
        <p:spPr>
          <a:xfrm>
            <a:off x="1087655" y="1225484"/>
            <a:ext cx="336884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3475FE"/>
                </a:solidFill>
                <a:latin typeface="Franklin Gothic Demi" panose="020B0703020102020204" pitchFamily="34" charset="0"/>
              </a:rPr>
              <a:t>P  R  E  S  E  N  T  A  T  I  O  N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82FFD0-E99E-C478-CE42-BC9E36A7D4C6}"/>
              </a:ext>
            </a:extLst>
          </p:cNvPr>
          <p:cNvGrpSpPr/>
          <p:nvPr/>
        </p:nvGrpSpPr>
        <p:grpSpPr>
          <a:xfrm>
            <a:off x="1252161" y="3720926"/>
            <a:ext cx="543556" cy="137160"/>
            <a:chOff x="1176456" y="4331467"/>
            <a:chExt cx="543556" cy="13716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096B798-7F4A-DD3E-A8A8-7CBF51D60DC6}"/>
                </a:ext>
              </a:extLst>
            </p:cNvPr>
            <p:cNvSpPr/>
            <p:nvPr/>
          </p:nvSpPr>
          <p:spPr>
            <a:xfrm>
              <a:off x="1582852" y="4331467"/>
              <a:ext cx="137160" cy="137160"/>
            </a:xfrm>
            <a:prstGeom prst="ellipse">
              <a:avLst/>
            </a:prstGeom>
            <a:solidFill>
              <a:srgbClr val="3475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1A1F902-D9D4-679F-D4A1-1A3D64247124}"/>
                </a:ext>
              </a:extLst>
            </p:cNvPr>
            <p:cNvSpPr/>
            <p:nvPr/>
          </p:nvSpPr>
          <p:spPr>
            <a:xfrm>
              <a:off x="1378066" y="4331467"/>
              <a:ext cx="137160" cy="137160"/>
            </a:xfrm>
            <a:prstGeom prst="ellipse">
              <a:avLst/>
            </a:prstGeom>
            <a:solidFill>
              <a:srgbClr val="3475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034BC2C-50D1-5423-E89C-A599F9935E7E}"/>
                </a:ext>
              </a:extLst>
            </p:cNvPr>
            <p:cNvSpPr/>
            <p:nvPr/>
          </p:nvSpPr>
          <p:spPr>
            <a:xfrm>
              <a:off x="1176456" y="4331467"/>
              <a:ext cx="137160" cy="137160"/>
            </a:xfrm>
            <a:prstGeom prst="ellipse">
              <a:avLst/>
            </a:prstGeom>
            <a:solidFill>
              <a:srgbClr val="3475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EA24D1AD-CF82-A489-D4A9-1DA8E7F12957}"/>
              </a:ext>
            </a:extLst>
          </p:cNvPr>
          <p:cNvSpPr txBox="1"/>
          <p:nvPr/>
        </p:nvSpPr>
        <p:spPr>
          <a:xfrm>
            <a:off x="1187179" y="4178781"/>
            <a:ext cx="38163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Data-Driven Insights into</a:t>
            </a:r>
          </a:p>
          <a:p>
            <a:r>
              <a:rPr lang="en-US" dirty="0"/>
              <a:t>Doctor Consultation Fees Across Cities, Specializations and many more.</a:t>
            </a:r>
            <a:endParaRPr lang="en-US" dirty="0">
              <a:cs typeface="Segoe UI" panose="020B0502040204020203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A19389-269D-78E0-424A-8DFE03ACF4D8}"/>
              </a:ext>
            </a:extLst>
          </p:cNvPr>
          <p:cNvGrpSpPr/>
          <p:nvPr/>
        </p:nvGrpSpPr>
        <p:grpSpPr>
          <a:xfrm>
            <a:off x="752145" y="5472215"/>
            <a:ext cx="277283" cy="277283"/>
            <a:chOff x="6096000" y="1011766"/>
            <a:chExt cx="277283" cy="27728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19F6767-790F-EF39-75DD-F52BFAA6E1D0}"/>
                </a:ext>
              </a:extLst>
            </p:cNvPr>
            <p:cNvSpPr/>
            <p:nvPr/>
          </p:nvSpPr>
          <p:spPr>
            <a:xfrm>
              <a:off x="6096000" y="1117600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7AA798-EAD5-CD63-720C-4C9A7471CB9D}"/>
                </a:ext>
              </a:extLst>
            </p:cNvPr>
            <p:cNvSpPr/>
            <p:nvPr/>
          </p:nvSpPr>
          <p:spPr>
            <a:xfrm rot="5400000">
              <a:off x="6095999" y="1117599"/>
              <a:ext cx="277283" cy="65617"/>
            </a:xfrm>
            <a:prstGeom prst="roundRect">
              <a:avLst>
                <a:gd name="adj" fmla="val 50000"/>
              </a:avLst>
            </a:prstGeom>
            <a:solidFill>
              <a:srgbClr val="CBD9F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7069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16" grpId="0" animBg="1"/>
      <p:bldP spid="47" grpId="0"/>
      <p:bldP spid="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3A038-32D2-A272-0954-6A629179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3C6340B-0BEA-26C0-6CF0-1451F91A6410}"/>
              </a:ext>
            </a:extLst>
          </p:cNvPr>
          <p:cNvGrpSpPr/>
          <p:nvPr/>
        </p:nvGrpSpPr>
        <p:grpSpPr>
          <a:xfrm>
            <a:off x="8999280" y="3268616"/>
            <a:ext cx="484419" cy="523371"/>
            <a:chOff x="2839933" y="3361414"/>
            <a:chExt cx="655110" cy="668920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1639E98-43C5-13AD-7709-63D2EED836D7}"/>
                </a:ext>
              </a:extLst>
            </p:cNvPr>
            <p:cNvSpPr/>
            <p:nvPr/>
          </p:nvSpPr>
          <p:spPr>
            <a:xfrm>
              <a:off x="2909807" y="3426541"/>
              <a:ext cx="514034" cy="539496"/>
            </a:xfrm>
            <a:custGeom>
              <a:avLst/>
              <a:gdLst>
                <a:gd name="csX0" fmla="*/ 0 w 515318"/>
                <a:gd name="csY0" fmla="*/ 0 h 530817"/>
                <a:gd name="csX1" fmla="*/ 484322 w 515318"/>
                <a:gd name="csY1" fmla="*/ 224726 h 530817"/>
                <a:gd name="csX2" fmla="*/ 515318 w 515318"/>
                <a:gd name="csY2" fmla="*/ 530817 h 530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5318" h="530817">
                  <a:moveTo>
                    <a:pt x="0" y="0"/>
                  </a:moveTo>
                  <a:lnTo>
                    <a:pt x="484322" y="224726"/>
                  </a:lnTo>
                  <a:lnTo>
                    <a:pt x="515318" y="530817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ADC82D0-6937-A8A8-56DC-53C03EC5AE1B}"/>
                </a:ext>
              </a:extLst>
            </p:cNvPr>
            <p:cNvSpPr/>
            <p:nvPr/>
          </p:nvSpPr>
          <p:spPr>
            <a:xfrm>
              <a:off x="2839933" y="3361414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89EADE8-5AA8-1E44-4490-64BA10444D82}"/>
                </a:ext>
              </a:extLst>
            </p:cNvPr>
            <p:cNvSpPr/>
            <p:nvPr/>
          </p:nvSpPr>
          <p:spPr>
            <a:xfrm>
              <a:off x="3355207" y="3898598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FA22D839-AB1B-024B-9A34-1BAD0794C837}"/>
              </a:ext>
            </a:extLst>
          </p:cNvPr>
          <p:cNvGrpSpPr/>
          <p:nvPr/>
        </p:nvGrpSpPr>
        <p:grpSpPr>
          <a:xfrm>
            <a:off x="6295123" y="3270376"/>
            <a:ext cx="484419" cy="523371"/>
            <a:chOff x="2839933" y="3361414"/>
            <a:chExt cx="655110" cy="668920"/>
          </a:xfrm>
        </p:grpSpPr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80B863F9-E8EF-5538-7A94-1F036E9E0382}"/>
                </a:ext>
              </a:extLst>
            </p:cNvPr>
            <p:cNvSpPr/>
            <p:nvPr/>
          </p:nvSpPr>
          <p:spPr>
            <a:xfrm>
              <a:off x="2909807" y="3426541"/>
              <a:ext cx="514034" cy="539496"/>
            </a:xfrm>
            <a:custGeom>
              <a:avLst/>
              <a:gdLst>
                <a:gd name="csX0" fmla="*/ 0 w 515318"/>
                <a:gd name="csY0" fmla="*/ 0 h 530817"/>
                <a:gd name="csX1" fmla="*/ 484322 w 515318"/>
                <a:gd name="csY1" fmla="*/ 224726 h 530817"/>
                <a:gd name="csX2" fmla="*/ 515318 w 515318"/>
                <a:gd name="csY2" fmla="*/ 530817 h 530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5318" h="530817">
                  <a:moveTo>
                    <a:pt x="0" y="0"/>
                  </a:moveTo>
                  <a:lnTo>
                    <a:pt x="484322" y="224726"/>
                  </a:lnTo>
                  <a:lnTo>
                    <a:pt x="515318" y="530817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AF494E3E-C267-04CB-6F39-7FCB1619D5A3}"/>
                </a:ext>
              </a:extLst>
            </p:cNvPr>
            <p:cNvSpPr/>
            <p:nvPr/>
          </p:nvSpPr>
          <p:spPr>
            <a:xfrm>
              <a:off x="2839933" y="3361414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BF25E400-1B37-620B-B7CF-EA5C6147624C}"/>
                </a:ext>
              </a:extLst>
            </p:cNvPr>
            <p:cNvSpPr/>
            <p:nvPr/>
          </p:nvSpPr>
          <p:spPr>
            <a:xfrm>
              <a:off x="3355207" y="3898598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AEB6802-1D14-3202-067E-8E426CB3AD7A}"/>
              </a:ext>
            </a:extLst>
          </p:cNvPr>
          <p:cNvGrpSpPr/>
          <p:nvPr/>
        </p:nvGrpSpPr>
        <p:grpSpPr>
          <a:xfrm>
            <a:off x="3590966" y="3204017"/>
            <a:ext cx="484419" cy="640080"/>
            <a:chOff x="2839933" y="3361414"/>
            <a:chExt cx="655110" cy="668920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027F872-2A74-9C60-DF06-D81F25D8561D}"/>
                </a:ext>
              </a:extLst>
            </p:cNvPr>
            <p:cNvSpPr/>
            <p:nvPr/>
          </p:nvSpPr>
          <p:spPr>
            <a:xfrm>
              <a:off x="2909807" y="3426541"/>
              <a:ext cx="514034" cy="539496"/>
            </a:xfrm>
            <a:custGeom>
              <a:avLst/>
              <a:gdLst>
                <a:gd name="csX0" fmla="*/ 0 w 515318"/>
                <a:gd name="csY0" fmla="*/ 0 h 530817"/>
                <a:gd name="csX1" fmla="*/ 484322 w 515318"/>
                <a:gd name="csY1" fmla="*/ 224726 h 530817"/>
                <a:gd name="csX2" fmla="*/ 515318 w 515318"/>
                <a:gd name="csY2" fmla="*/ 530817 h 5308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515318" h="530817">
                  <a:moveTo>
                    <a:pt x="0" y="0"/>
                  </a:moveTo>
                  <a:lnTo>
                    <a:pt x="484322" y="224726"/>
                  </a:lnTo>
                  <a:lnTo>
                    <a:pt x="515318" y="530817"/>
                  </a:lnTo>
                </a:path>
              </a:pathLst>
            </a:custGeom>
            <a:noFill/>
            <a:ln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64C732B-C9DC-7D7B-2B69-38A9B89A1294}"/>
                </a:ext>
              </a:extLst>
            </p:cNvPr>
            <p:cNvSpPr/>
            <p:nvPr/>
          </p:nvSpPr>
          <p:spPr>
            <a:xfrm>
              <a:off x="2839933" y="3361414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F656A85-6E9C-9DB9-B622-756AE4FE2B7B}"/>
                </a:ext>
              </a:extLst>
            </p:cNvPr>
            <p:cNvSpPr/>
            <p:nvPr/>
          </p:nvSpPr>
          <p:spPr>
            <a:xfrm>
              <a:off x="3355207" y="3898598"/>
              <a:ext cx="139836" cy="13173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C87EC08-F977-4506-5E04-72C5EF5492BB}"/>
              </a:ext>
            </a:extLst>
          </p:cNvPr>
          <p:cNvGrpSpPr/>
          <p:nvPr/>
        </p:nvGrpSpPr>
        <p:grpSpPr>
          <a:xfrm>
            <a:off x="8329632" y="2723615"/>
            <a:ext cx="1437226" cy="518144"/>
            <a:chOff x="5075321" y="2502284"/>
            <a:chExt cx="2430379" cy="869566"/>
          </a:xfrm>
        </p:grpSpPr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2E7ED89-9856-FB7F-9AE3-25F6D7E8CB23}"/>
                </a:ext>
              </a:extLst>
            </p:cNvPr>
            <p:cNvSpPr/>
            <p:nvPr/>
          </p:nvSpPr>
          <p:spPr>
            <a:xfrm>
              <a:off x="5075321" y="2593007"/>
              <a:ext cx="1677904" cy="519763"/>
            </a:xfrm>
            <a:prstGeom prst="roundRect">
              <a:avLst>
                <a:gd name="adj" fmla="val 13575"/>
              </a:avLst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9896BFE8-B1E3-9CE6-07D3-3DCA904998C9}"/>
                </a:ext>
              </a:extLst>
            </p:cNvPr>
            <p:cNvSpPr/>
            <p:nvPr/>
          </p:nvSpPr>
          <p:spPr>
            <a:xfrm>
              <a:off x="5075321" y="2852086"/>
              <a:ext cx="2430379" cy="519764"/>
            </a:xfrm>
            <a:prstGeom prst="roundRect">
              <a:avLst/>
            </a:prstGeom>
            <a:solidFill>
              <a:srgbClr val="3475FE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C9B24D7-34E0-F7FA-8622-6DD2FB69F66E}"/>
                </a:ext>
              </a:extLst>
            </p:cNvPr>
            <p:cNvSpPr txBox="1"/>
            <p:nvPr/>
          </p:nvSpPr>
          <p:spPr>
            <a:xfrm>
              <a:off x="5410547" y="2502284"/>
              <a:ext cx="1400476" cy="439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002060"/>
                  </a:solidFill>
                  <a:latin typeface="Aparajita" panose="02020603050405020304" pitchFamily="18" charset="0"/>
                  <a:cs typeface="Aparajita" panose="02020603050405020304" pitchFamily="18" charset="0"/>
                </a:rPr>
                <a:t>Member - 03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D1DDBAD-2F47-B007-AF0D-4246F6142D12}"/>
                </a:ext>
              </a:extLst>
            </p:cNvPr>
            <p:cNvSpPr txBox="1"/>
            <p:nvPr/>
          </p:nvSpPr>
          <p:spPr>
            <a:xfrm>
              <a:off x="5431961" y="2876072"/>
              <a:ext cx="2051034" cy="439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ABDALLAH</a:t>
              </a:r>
            </a:p>
          </p:txBody>
        </p:sp>
      </p:grpSp>
      <p:sp>
        <p:nvSpPr>
          <p:cNvPr id="65" name="Oval 64">
            <a:extLst>
              <a:ext uri="{FF2B5EF4-FFF2-40B4-BE49-F238E27FC236}">
                <a16:creationId xmlns:a16="http://schemas.microsoft.com/office/drawing/2014/main" id="{2F8E63E9-0533-C947-B26A-7193A3C468D6}"/>
              </a:ext>
            </a:extLst>
          </p:cNvPr>
          <p:cNvSpPr/>
          <p:nvPr/>
        </p:nvSpPr>
        <p:spPr>
          <a:xfrm>
            <a:off x="7412392" y="2662846"/>
            <a:ext cx="1138931" cy="6538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60EBDC62-76C8-92A0-96E1-930281A53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7" r="31655"/>
          <a:stretch>
            <a:fillRect/>
          </a:stretch>
        </p:blipFill>
        <p:spPr>
          <a:xfrm>
            <a:off x="7490124" y="1613992"/>
            <a:ext cx="1138931" cy="1776467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F032818-2B68-505A-568D-664D11F4BF6C}"/>
              </a:ext>
            </a:extLst>
          </p:cNvPr>
          <p:cNvGrpSpPr/>
          <p:nvPr/>
        </p:nvGrpSpPr>
        <p:grpSpPr>
          <a:xfrm>
            <a:off x="2928040" y="2717900"/>
            <a:ext cx="1447401" cy="518111"/>
            <a:chOff x="2928040" y="2717900"/>
            <a:chExt cx="1447401" cy="518111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BE1672FC-C7B5-4AF7-F7D9-EF472698C942}"/>
                </a:ext>
              </a:extLst>
            </p:cNvPr>
            <p:cNvSpPr/>
            <p:nvPr/>
          </p:nvSpPr>
          <p:spPr>
            <a:xfrm>
              <a:off x="2928040" y="2771926"/>
              <a:ext cx="992243" cy="309709"/>
            </a:xfrm>
            <a:prstGeom prst="roundRect">
              <a:avLst>
                <a:gd name="adj" fmla="val 13575"/>
              </a:avLst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89E8EE1C-0FD3-4031-BB1B-49B7C24C0AE1}"/>
                </a:ext>
              </a:extLst>
            </p:cNvPr>
            <p:cNvSpPr/>
            <p:nvPr/>
          </p:nvSpPr>
          <p:spPr>
            <a:xfrm>
              <a:off x="2928040" y="2926302"/>
              <a:ext cx="1437226" cy="309709"/>
            </a:xfrm>
            <a:prstGeom prst="roundRect">
              <a:avLst/>
            </a:prstGeom>
            <a:solidFill>
              <a:srgbClr val="3475FE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93FA3D0-8B76-A654-2853-5329E753BAC2}"/>
                </a:ext>
              </a:extLst>
            </p:cNvPr>
            <p:cNvSpPr txBox="1"/>
            <p:nvPr/>
          </p:nvSpPr>
          <p:spPr>
            <a:xfrm>
              <a:off x="3145274" y="2717900"/>
              <a:ext cx="82818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002060"/>
                  </a:solidFill>
                  <a:latin typeface="Aparajita" panose="02020603050405020304" pitchFamily="18" charset="0"/>
                  <a:cs typeface="Aparajita" panose="02020603050405020304" pitchFamily="18" charset="0"/>
                </a:rPr>
                <a:t>Member - 01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870D9B1-DE10-15B5-6F1A-DCDB7E72421E}"/>
                </a:ext>
              </a:extLst>
            </p:cNvPr>
            <p:cNvSpPr txBox="1"/>
            <p:nvPr/>
          </p:nvSpPr>
          <p:spPr>
            <a:xfrm>
              <a:off x="3126297" y="2940594"/>
              <a:ext cx="12491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AFROZ SHAMS</a:t>
              </a:r>
            </a:p>
          </p:txBody>
        </p: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8FBAB4EA-C6BE-7509-E18C-001BBF14371F}"/>
              </a:ext>
            </a:extLst>
          </p:cNvPr>
          <p:cNvSpPr/>
          <p:nvPr/>
        </p:nvSpPr>
        <p:spPr>
          <a:xfrm>
            <a:off x="2010800" y="2657099"/>
            <a:ext cx="1138931" cy="6538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9FD7EEFE-25B1-82DA-6EEE-730016C85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7" r="31655"/>
          <a:stretch>
            <a:fillRect/>
          </a:stretch>
        </p:blipFill>
        <p:spPr>
          <a:xfrm>
            <a:off x="2088531" y="1608244"/>
            <a:ext cx="1138931" cy="177646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C69D4ECC-569B-4429-A6A2-51026D1533BE}"/>
              </a:ext>
            </a:extLst>
          </p:cNvPr>
          <p:cNvGrpSpPr/>
          <p:nvPr/>
        </p:nvGrpSpPr>
        <p:grpSpPr>
          <a:xfrm>
            <a:off x="5632796" y="2720455"/>
            <a:ext cx="1437226" cy="521309"/>
            <a:chOff x="5075321" y="2496974"/>
            <a:chExt cx="2430379" cy="87487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9F618A-8FF7-B8EE-FFF0-ACDED5E6369E}"/>
                </a:ext>
              </a:extLst>
            </p:cNvPr>
            <p:cNvSpPr/>
            <p:nvPr/>
          </p:nvSpPr>
          <p:spPr>
            <a:xfrm>
              <a:off x="5075321" y="2593007"/>
              <a:ext cx="1677904" cy="519763"/>
            </a:xfrm>
            <a:prstGeom prst="roundRect">
              <a:avLst>
                <a:gd name="adj" fmla="val 13575"/>
              </a:avLst>
            </a:prstGeom>
            <a:solidFill>
              <a:schemeClr val="accent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E3CC889B-9E49-5750-680F-7282F1AC06E7}"/>
                </a:ext>
              </a:extLst>
            </p:cNvPr>
            <p:cNvSpPr/>
            <p:nvPr/>
          </p:nvSpPr>
          <p:spPr>
            <a:xfrm>
              <a:off x="5075321" y="2852084"/>
              <a:ext cx="2430379" cy="519765"/>
            </a:xfrm>
            <a:prstGeom prst="roundRect">
              <a:avLst/>
            </a:prstGeom>
            <a:solidFill>
              <a:srgbClr val="3475FE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B5CB14-238F-E228-DB80-9A73686EEC9B}"/>
                </a:ext>
              </a:extLst>
            </p:cNvPr>
            <p:cNvSpPr txBox="1"/>
            <p:nvPr/>
          </p:nvSpPr>
          <p:spPr>
            <a:xfrm>
              <a:off x="5362394" y="2496974"/>
              <a:ext cx="1400476" cy="4390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solidFill>
                    <a:srgbClr val="002060"/>
                  </a:solidFill>
                  <a:latin typeface="Aparajita" panose="02020603050405020304" pitchFamily="18" charset="0"/>
                  <a:cs typeface="Aparajita" panose="02020603050405020304" pitchFamily="18" charset="0"/>
                </a:rPr>
                <a:t>Member - 02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83C494-27E8-2A6C-AC66-9AAC3120321A}"/>
                </a:ext>
              </a:extLst>
            </p:cNvPr>
            <p:cNvSpPr txBox="1"/>
            <p:nvPr/>
          </p:nvSpPr>
          <p:spPr>
            <a:xfrm>
              <a:off x="5415911" y="2876070"/>
              <a:ext cx="1400476" cy="439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AFRIN</a:t>
              </a:r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B36E4CC4-5632-0B24-135A-FDF6B78ADF4E}"/>
              </a:ext>
            </a:extLst>
          </p:cNvPr>
          <p:cNvSpPr/>
          <p:nvPr/>
        </p:nvSpPr>
        <p:spPr>
          <a:xfrm>
            <a:off x="4715556" y="2662846"/>
            <a:ext cx="1138931" cy="65383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5763EA-1AEB-B46D-B3AF-CC011DF4061F}"/>
              </a:ext>
            </a:extLst>
          </p:cNvPr>
          <p:cNvGrpSpPr/>
          <p:nvPr/>
        </p:nvGrpSpPr>
        <p:grpSpPr>
          <a:xfrm>
            <a:off x="3277583" y="3803637"/>
            <a:ext cx="1497342" cy="309709"/>
            <a:chOff x="3277583" y="3803637"/>
            <a:chExt cx="1497342" cy="309709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97C61D86-F054-9896-B167-BA9BD3CF149C}"/>
                </a:ext>
              </a:extLst>
            </p:cNvPr>
            <p:cNvSpPr/>
            <p:nvPr/>
          </p:nvSpPr>
          <p:spPr>
            <a:xfrm>
              <a:off x="3298101" y="3803637"/>
              <a:ext cx="1437226" cy="30970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F176"/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5A91657-BA1C-0710-4F07-01087D696FB4}"/>
                </a:ext>
              </a:extLst>
            </p:cNvPr>
            <p:cNvSpPr txBox="1"/>
            <p:nvPr/>
          </p:nvSpPr>
          <p:spPr>
            <a:xfrm>
              <a:off x="3277583" y="3821826"/>
              <a:ext cx="14973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50" b="1" dirty="0">
                  <a:solidFill>
                    <a:srgbClr val="F2F2F2"/>
                  </a:solidFill>
                  <a:latin typeface="Eras Bold ITC" panose="020B0907030504020204" pitchFamily="34" charset="0"/>
                </a:rPr>
                <a:t>BSc. Biochemistry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00E8161-D0DF-AF5F-59E6-C2EB300019D9}"/>
              </a:ext>
            </a:extLst>
          </p:cNvPr>
          <p:cNvGrpSpPr/>
          <p:nvPr/>
        </p:nvGrpSpPr>
        <p:grpSpPr>
          <a:xfrm>
            <a:off x="5967467" y="3803637"/>
            <a:ext cx="1511667" cy="309709"/>
            <a:chOff x="6084816" y="3825149"/>
            <a:chExt cx="2044321" cy="395839"/>
          </a:xfrm>
        </p:grpSpPr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46E44E5C-45A0-B31A-4BD5-52D0262304B6}"/>
                </a:ext>
              </a:extLst>
            </p:cNvPr>
            <p:cNvSpPr/>
            <p:nvPr/>
          </p:nvSpPr>
          <p:spPr>
            <a:xfrm>
              <a:off x="6121124" y="3825149"/>
              <a:ext cx="1943652" cy="3958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F176"/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098A588F-5093-A6B0-A5ED-0652B506CC96}"/>
                </a:ext>
              </a:extLst>
            </p:cNvPr>
            <p:cNvSpPr txBox="1"/>
            <p:nvPr/>
          </p:nvSpPr>
          <p:spPr>
            <a:xfrm>
              <a:off x="6084816" y="3848396"/>
              <a:ext cx="2044321" cy="344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" b="1" dirty="0">
                  <a:solidFill>
                    <a:srgbClr val="F2F2F2"/>
                  </a:solidFill>
                  <a:latin typeface="Eras Bold ITC" panose="020B0907030504020204" pitchFamily="34" charset="0"/>
                </a:rPr>
                <a:t>B. Tech (CS)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097B2A1-EC35-4F3A-6D58-90C97F70F96E}"/>
              </a:ext>
            </a:extLst>
          </p:cNvPr>
          <p:cNvGrpSpPr/>
          <p:nvPr/>
        </p:nvGrpSpPr>
        <p:grpSpPr>
          <a:xfrm>
            <a:off x="8676334" y="3803637"/>
            <a:ext cx="1504867" cy="309709"/>
            <a:chOff x="9748189" y="3775722"/>
            <a:chExt cx="2035126" cy="395839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9F5340D6-4E89-11F9-169A-C23842B28C24}"/>
                </a:ext>
              </a:extLst>
            </p:cNvPr>
            <p:cNvSpPr/>
            <p:nvPr/>
          </p:nvSpPr>
          <p:spPr>
            <a:xfrm>
              <a:off x="9767380" y="3775722"/>
              <a:ext cx="1943652" cy="395839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rgbClr val="FFF176"/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E3A337C-BB1A-39CE-0DF4-85EA75B33861}"/>
                </a:ext>
              </a:extLst>
            </p:cNvPr>
            <p:cNvSpPr txBox="1"/>
            <p:nvPr/>
          </p:nvSpPr>
          <p:spPr>
            <a:xfrm>
              <a:off x="9748189" y="3798969"/>
              <a:ext cx="2035126" cy="344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" b="1" dirty="0">
                  <a:solidFill>
                    <a:srgbClr val="F2F2F2"/>
                  </a:solidFill>
                  <a:latin typeface="Eras Bold ITC" panose="020B0907030504020204" pitchFamily="34" charset="0"/>
                </a:rPr>
                <a:t>MSc. Physics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5BF226F-AE5A-C36A-A316-9FEB008B40DB}"/>
              </a:ext>
            </a:extLst>
          </p:cNvPr>
          <p:cNvSpPr txBox="1"/>
          <p:nvPr/>
        </p:nvSpPr>
        <p:spPr>
          <a:xfrm>
            <a:off x="4078990" y="480768"/>
            <a:ext cx="4250641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r>
              <a:rPr lang="en-US" sz="6000" dirty="0">
                <a:solidFill>
                  <a:schemeClr val="accent4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Jumble" panose="02000503000000020004" pitchFamily="2" charset="0"/>
                <a:ea typeface="Segoe UI Black" panose="020B0A02040204020203" pitchFamily="34" charset="0"/>
              </a:rPr>
              <a:t>ABOUT US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291F5D-E8C7-354F-49D8-2829E8EC8A61}"/>
              </a:ext>
            </a:extLst>
          </p:cNvPr>
          <p:cNvSpPr txBox="1"/>
          <p:nvPr/>
        </p:nvSpPr>
        <p:spPr>
          <a:xfrm>
            <a:off x="1337076" y="4990621"/>
            <a:ext cx="958368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We are a team of three members from </a:t>
            </a:r>
            <a:r>
              <a:rPr lang="en-US" sz="1200" b="1" dirty="0"/>
              <a:t>diverse academic backgrounds who collaborated to complete this data analytics project</a:t>
            </a:r>
            <a:r>
              <a:rPr lang="en-US" sz="1200" dirty="0"/>
              <a:t>. Each member contributed their skills in research, data processing, and visualization. Through effective coordination and clear task distribution, we successfully developed meaningful insights without overlapping work.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446B2D3A-CD02-6470-4EF4-1040EDD2F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79" t="7240" r="30288" b="5110"/>
          <a:stretch>
            <a:fillRect/>
          </a:stretch>
        </p:blipFill>
        <p:spPr>
          <a:xfrm>
            <a:off x="4748331" y="1720215"/>
            <a:ext cx="1124032" cy="154579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3907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7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75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7" grpId="0" animBg="1"/>
      <p:bldP spid="5" grpId="0" animBg="1"/>
      <p:bldP spid="6" grpId="0"/>
      <p:bldP spid="9" grpId="0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36340-AEB6-083D-0750-E5F4AEB5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5BF8E0-2221-989B-B4A4-CC4BFCFD3323}"/>
              </a:ext>
            </a:extLst>
          </p:cNvPr>
          <p:cNvGrpSpPr/>
          <p:nvPr/>
        </p:nvGrpSpPr>
        <p:grpSpPr>
          <a:xfrm>
            <a:off x="1337076" y="480768"/>
            <a:ext cx="9583681" cy="5156184"/>
            <a:chOff x="1337076" y="480768"/>
            <a:chExt cx="9583681" cy="5156184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24A0FE9C-89AF-CFC8-B37B-D20BDC226AC2}"/>
                </a:ext>
              </a:extLst>
            </p:cNvPr>
            <p:cNvGrpSpPr/>
            <p:nvPr/>
          </p:nvGrpSpPr>
          <p:grpSpPr>
            <a:xfrm>
              <a:off x="8999280" y="3268616"/>
              <a:ext cx="484419" cy="523371"/>
              <a:chOff x="2839933" y="3361414"/>
              <a:chExt cx="655110" cy="668920"/>
            </a:xfrm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55B82E6-FA33-DE4A-79B0-CB9FB3E6741D}"/>
                  </a:ext>
                </a:extLst>
              </p:cNvPr>
              <p:cNvSpPr/>
              <p:nvPr/>
            </p:nvSpPr>
            <p:spPr>
              <a:xfrm>
                <a:off x="2909807" y="3426541"/>
                <a:ext cx="514034" cy="539496"/>
              </a:xfrm>
              <a:custGeom>
                <a:avLst/>
                <a:gdLst>
                  <a:gd name="csX0" fmla="*/ 0 w 515318"/>
                  <a:gd name="csY0" fmla="*/ 0 h 530817"/>
                  <a:gd name="csX1" fmla="*/ 484322 w 515318"/>
                  <a:gd name="csY1" fmla="*/ 224726 h 530817"/>
                  <a:gd name="csX2" fmla="*/ 515318 w 515318"/>
                  <a:gd name="csY2" fmla="*/ 530817 h 5308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15318" h="530817">
                    <a:moveTo>
                      <a:pt x="0" y="0"/>
                    </a:moveTo>
                    <a:lnTo>
                      <a:pt x="484322" y="224726"/>
                    </a:lnTo>
                    <a:lnTo>
                      <a:pt x="515318" y="53081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264FEEB7-FCF9-BB5A-652F-92B10B043672}"/>
                  </a:ext>
                </a:extLst>
              </p:cNvPr>
              <p:cNvSpPr/>
              <p:nvPr/>
            </p:nvSpPr>
            <p:spPr>
              <a:xfrm>
                <a:off x="2839933" y="3361414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F262E067-8E55-6194-DA1B-E01535D70D35}"/>
                  </a:ext>
                </a:extLst>
              </p:cNvPr>
              <p:cNvSpPr/>
              <p:nvPr/>
            </p:nvSpPr>
            <p:spPr>
              <a:xfrm>
                <a:off x="3355207" y="3898598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34E4F33-B821-D3BA-74C2-5CB2DB7AA257}"/>
                </a:ext>
              </a:extLst>
            </p:cNvPr>
            <p:cNvGrpSpPr/>
            <p:nvPr/>
          </p:nvGrpSpPr>
          <p:grpSpPr>
            <a:xfrm>
              <a:off x="6295123" y="3270376"/>
              <a:ext cx="484419" cy="523371"/>
              <a:chOff x="2839933" y="3361414"/>
              <a:chExt cx="655110" cy="668920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5FA0BC17-03B5-BF60-1AD7-BA438AD31A4F}"/>
                  </a:ext>
                </a:extLst>
              </p:cNvPr>
              <p:cNvSpPr/>
              <p:nvPr/>
            </p:nvSpPr>
            <p:spPr>
              <a:xfrm>
                <a:off x="2909807" y="3426541"/>
                <a:ext cx="514034" cy="539496"/>
              </a:xfrm>
              <a:custGeom>
                <a:avLst/>
                <a:gdLst>
                  <a:gd name="csX0" fmla="*/ 0 w 515318"/>
                  <a:gd name="csY0" fmla="*/ 0 h 530817"/>
                  <a:gd name="csX1" fmla="*/ 484322 w 515318"/>
                  <a:gd name="csY1" fmla="*/ 224726 h 530817"/>
                  <a:gd name="csX2" fmla="*/ 515318 w 515318"/>
                  <a:gd name="csY2" fmla="*/ 530817 h 5308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15318" h="530817">
                    <a:moveTo>
                      <a:pt x="0" y="0"/>
                    </a:moveTo>
                    <a:lnTo>
                      <a:pt x="484322" y="224726"/>
                    </a:lnTo>
                    <a:lnTo>
                      <a:pt x="515318" y="53081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67C8E80-6466-E423-FA0B-35EF3CD01587}"/>
                  </a:ext>
                </a:extLst>
              </p:cNvPr>
              <p:cNvSpPr/>
              <p:nvPr/>
            </p:nvSpPr>
            <p:spPr>
              <a:xfrm>
                <a:off x="2839933" y="3361414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ECD8636B-7677-D9C5-96F9-37D19EB1C01F}"/>
                  </a:ext>
                </a:extLst>
              </p:cNvPr>
              <p:cNvSpPr/>
              <p:nvPr/>
            </p:nvSpPr>
            <p:spPr>
              <a:xfrm>
                <a:off x="3355207" y="3898598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BD7C8141-8A6E-DF33-539B-EB3E5AA9A977}"/>
                </a:ext>
              </a:extLst>
            </p:cNvPr>
            <p:cNvGrpSpPr/>
            <p:nvPr/>
          </p:nvGrpSpPr>
          <p:grpSpPr>
            <a:xfrm>
              <a:off x="3590966" y="3204017"/>
              <a:ext cx="484419" cy="640080"/>
              <a:chOff x="2839933" y="3361414"/>
              <a:chExt cx="655110" cy="668920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9677E1B5-BF89-20AE-8573-A57A5F5BDDD3}"/>
                  </a:ext>
                </a:extLst>
              </p:cNvPr>
              <p:cNvSpPr/>
              <p:nvPr/>
            </p:nvSpPr>
            <p:spPr>
              <a:xfrm>
                <a:off x="2909807" y="3426541"/>
                <a:ext cx="514034" cy="539496"/>
              </a:xfrm>
              <a:custGeom>
                <a:avLst/>
                <a:gdLst>
                  <a:gd name="csX0" fmla="*/ 0 w 515318"/>
                  <a:gd name="csY0" fmla="*/ 0 h 530817"/>
                  <a:gd name="csX1" fmla="*/ 484322 w 515318"/>
                  <a:gd name="csY1" fmla="*/ 224726 h 530817"/>
                  <a:gd name="csX2" fmla="*/ 515318 w 515318"/>
                  <a:gd name="csY2" fmla="*/ 530817 h 5308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15318" h="530817">
                    <a:moveTo>
                      <a:pt x="0" y="0"/>
                    </a:moveTo>
                    <a:lnTo>
                      <a:pt x="484322" y="224726"/>
                    </a:lnTo>
                    <a:lnTo>
                      <a:pt x="515318" y="53081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2A4703EF-0836-0D6B-338C-88342ACEA499}"/>
                  </a:ext>
                </a:extLst>
              </p:cNvPr>
              <p:cNvSpPr/>
              <p:nvPr/>
            </p:nvSpPr>
            <p:spPr>
              <a:xfrm>
                <a:off x="2839933" y="3361414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CEEF123F-BF9C-6DD5-E2D9-CE030313A2E6}"/>
                  </a:ext>
                </a:extLst>
              </p:cNvPr>
              <p:cNvSpPr/>
              <p:nvPr/>
            </p:nvSpPr>
            <p:spPr>
              <a:xfrm>
                <a:off x="3355207" y="3898598"/>
                <a:ext cx="139836" cy="131736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E6100D9-8BA0-38C3-69EB-1EF6A4FD8B5E}"/>
                </a:ext>
              </a:extLst>
            </p:cNvPr>
            <p:cNvGrpSpPr/>
            <p:nvPr/>
          </p:nvGrpSpPr>
          <p:grpSpPr>
            <a:xfrm>
              <a:off x="8329632" y="2723615"/>
              <a:ext cx="1437226" cy="518144"/>
              <a:chOff x="5075321" y="2502284"/>
              <a:chExt cx="2430379" cy="869566"/>
            </a:xfrm>
          </p:grpSpPr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52D92D8B-6A94-0B81-2EB6-03236EAC1B45}"/>
                  </a:ext>
                </a:extLst>
              </p:cNvPr>
              <p:cNvSpPr/>
              <p:nvPr/>
            </p:nvSpPr>
            <p:spPr>
              <a:xfrm>
                <a:off x="5075321" y="2593007"/>
                <a:ext cx="1677904" cy="519763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D176DC65-7453-4B5F-41C6-633F4B910F97}"/>
                  </a:ext>
                </a:extLst>
              </p:cNvPr>
              <p:cNvSpPr/>
              <p:nvPr/>
            </p:nvSpPr>
            <p:spPr>
              <a:xfrm>
                <a:off x="5075321" y="2852086"/>
                <a:ext cx="2430379" cy="519764"/>
              </a:xfrm>
              <a:prstGeom prst="roundRect">
                <a:avLst/>
              </a:prstGeom>
              <a:solidFill>
                <a:srgbClr val="3475FE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7FC3347-29D7-F8D0-FEDB-C832E5CA7E6D}"/>
                  </a:ext>
                </a:extLst>
              </p:cNvPr>
              <p:cNvSpPr txBox="1"/>
              <p:nvPr/>
            </p:nvSpPr>
            <p:spPr>
              <a:xfrm>
                <a:off x="5410547" y="2502284"/>
                <a:ext cx="1400476" cy="439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i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- 03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6A00813A-EDDD-EACE-E370-22FFCC4073B1}"/>
                  </a:ext>
                </a:extLst>
              </p:cNvPr>
              <p:cNvSpPr txBox="1"/>
              <p:nvPr/>
            </p:nvSpPr>
            <p:spPr>
              <a:xfrm>
                <a:off x="5431961" y="2876072"/>
                <a:ext cx="2051034" cy="439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ABDALLAH</a:t>
                </a:r>
              </a:p>
            </p:txBody>
          </p:sp>
        </p:grp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F997187-01DE-9EDA-2A28-854163C05CC0}"/>
                </a:ext>
              </a:extLst>
            </p:cNvPr>
            <p:cNvSpPr/>
            <p:nvPr/>
          </p:nvSpPr>
          <p:spPr>
            <a:xfrm>
              <a:off x="7412392" y="2662846"/>
              <a:ext cx="1138931" cy="6538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BD42984F-F895-68AA-C6E6-AF1D29248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7" r="31655"/>
            <a:stretch>
              <a:fillRect/>
            </a:stretch>
          </p:blipFill>
          <p:spPr>
            <a:xfrm>
              <a:off x="7490124" y="1613992"/>
              <a:ext cx="1138931" cy="177646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48751F2-0119-B24D-0AF2-BC455A1B0932}"/>
                </a:ext>
              </a:extLst>
            </p:cNvPr>
            <p:cNvGrpSpPr/>
            <p:nvPr/>
          </p:nvGrpSpPr>
          <p:grpSpPr>
            <a:xfrm>
              <a:off x="2928040" y="2717900"/>
              <a:ext cx="1447401" cy="518111"/>
              <a:chOff x="2928040" y="2717900"/>
              <a:chExt cx="1447401" cy="518111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32A2D0D8-BFFB-45E0-82DB-78DA75C978D0}"/>
                  </a:ext>
                </a:extLst>
              </p:cNvPr>
              <p:cNvSpPr/>
              <p:nvPr/>
            </p:nvSpPr>
            <p:spPr>
              <a:xfrm>
                <a:off x="2928040" y="2771926"/>
                <a:ext cx="992243" cy="309709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33BA0D3-D470-EBAB-0FC6-CC1CD5FAC059}"/>
                  </a:ext>
                </a:extLst>
              </p:cNvPr>
              <p:cNvSpPr/>
              <p:nvPr/>
            </p:nvSpPr>
            <p:spPr>
              <a:xfrm>
                <a:off x="2928040" y="2926302"/>
                <a:ext cx="1437226" cy="309709"/>
              </a:xfrm>
              <a:prstGeom prst="roundRect">
                <a:avLst/>
              </a:prstGeom>
              <a:solidFill>
                <a:srgbClr val="3475FE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DEA13A3-8284-31B6-5D16-28602858E33B}"/>
                  </a:ext>
                </a:extLst>
              </p:cNvPr>
              <p:cNvSpPr txBox="1"/>
              <p:nvPr/>
            </p:nvSpPr>
            <p:spPr>
              <a:xfrm>
                <a:off x="3145274" y="2717900"/>
                <a:ext cx="82818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i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- 01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7C34B96-2649-B3C0-42F1-261B0398BA79}"/>
                  </a:ext>
                </a:extLst>
              </p:cNvPr>
              <p:cNvSpPr txBox="1"/>
              <p:nvPr/>
            </p:nvSpPr>
            <p:spPr>
              <a:xfrm>
                <a:off x="3126297" y="2940594"/>
                <a:ext cx="1249144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AFROZ SHAMS</a:t>
                </a:r>
              </a:p>
            </p:txBody>
          </p:sp>
        </p:grp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A8E2BD5-46DD-A98B-C9E3-7B175837CD0A}"/>
                </a:ext>
              </a:extLst>
            </p:cNvPr>
            <p:cNvSpPr/>
            <p:nvPr/>
          </p:nvSpPr>
          <p:spPr>
            <a:xfrm>
              <a:off x="2010800" y="2657099"/>
              <a:ext cx="1138931" cy="6538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FA91F28A-CF36-28FA-7318-FE037A7CE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07" r="31655"/>
            <a:stretch>
              <a:fillRect/>
            </a:stretch>
          </p:blipFill>
          <p:spPr>
            <a:xfrm>
              <a:off x="2088531" y="1608244"/>
              <a:ext cx="1138931" cy="1776467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EC25DD0-1DDD-3AEE-E5DA-118686D07C0A}"/>
                </a:ext>
              </a:extLst>
            </p:cNvPr>
            <p:cNvGrpSpPr/>
            <p:nvPr/>
          </p:nvGrpSpPr>
          <p:grpSpPr>
            <a:xfrm>
              <a:off x="5632796" y="2720455"/>
              <a:ext cx="1437226" cy="521309"/>
              <a:chOff x="5075321" y="2496974"/>
              <a:chExt cx="2430379" cy="87487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763C210-8139-02FD-8DD0-57E52991C128}"/>
                  </a:ext>
                </a:extLst>
              </p:cNvPr>
              <p:cNvSpPr/>
              <p:nvPr/>
            </p:nvSpPr>
            <p:spPr>
              <a:xfrm>
                <a:off x="5075321" y="2593007"/>
                <a:ext cx="1677904" cy="519763"/>
              </a:xfrm>
              <a:prstGeom prst="roundRect">
                <a:avLst>
                  <a:gd name="adj" fmla="val 13575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A24FC45B-3E34-DD98-04C1-CB73471B4E98}"/>
                  </a:ext>
                </a:extLst>
              </p:cNvPr>
              <p:cNvSpPr/>
              <p:nvPr/>
            </p:nvSpPr>
            <p:spPr>
              <a:xfrm>
                <a:off x="5075321" y="2852084"/>
                <a:ext cx="2430379" cy="519765"/>
              </a:xfrm>
              <a:prstGeom prst="roundRect">
                <a:avLst/>
              </a:prstGeom>
              <a:solidFill>
                <a:srgbClr val="3475FE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DD7557-E0A4-DB8D-53A1-98D2584BEFB8}"/>
                  </a:ext>
                </a:extLst>
              </p:cNvPr>
              <p:cNvSpPr txBox="1"/>
              <p:nvPr/>
            </p:nvSpPr>
            <p:spPr>
              <a:xfrm>
                <a:off x="5362394" y="2496974"/>
                <a:ext cx="1400476" cy="439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i="1" dirty="0">
                    <a:solidFill>
                      <a:srgbClr val="002060"/>
                    </a:solidFill>
                    <a:latin typeface="Aparajita" panose="02020603050405020304" pitchFamily="18" charset="0"/>
                    <a:cs typeface="Aparajita" panose="02020603050405020304" pitchFamily="18" charset="0"/>
                  </a:rPr>
                  <a:t>Member - 02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8D36120-1C31-73F1-7E7A-FD81FEE966E7}"/>
                  </a:ext>
                </a:extLst>
              </p:cNvPr>
              <p:cNvSpPr txBox="1"/>
              <p:nvPr/>
            </p:nvSpPr>
            <p:spPr>
              <a:xfrm>
                <a:off x="5415911" y="2876070"/>
                <a:ext cx="1400476" cy="439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chemeClr val="bg1"/>
                    </a:solidFill>
                    <a:latin typeface="Eras Bold ITC" panose="020B0907030504020204" pitchFamily="34" charset="0"/>
                  </a:rPr>
                  <a:t>AFRIN</a:t>
                </a: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0C61063-BE3D-B3C5-57B7-D53747BA3D23}"/>
                </a:ext>
              </a:extLst>
            </p:cNvPr>
            <p:cNvSpPr/>
            <p:nvPr/>
          </p:nvSpPr>
          <p:spPr>
            <a:xfrm>
              <a:off x="4715556" y="2662846"/>
              <a:ext cx="1138931" cy="653831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4704470-9202-3631-2398-778FCA65966E}"/>
                </a:ext>
              </a:extLst>
            </p:cNvPr>
            <p:cNvGrpSpPr/>
            <p:nvPr/>
          </p:nvGrpSpPr>
          <p:grpSpPr>
            <a:xfrm>
              <a:off x="3277583" y="3803637"/>
              <a:ext cx="1497342" cy="309709"/>
              <a:chOff x="3277583" y="3803637"/>
              <a:chExt cx="1497342" cy="309709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E3EBB167-E8CD-C10F-80F5-492618052D5C}"/>
                  </a:ext>
                </a:extLst>
              </p:cNvPr>
              <p:cNvSpPr/>
              <p:nvPr/>
            </p:nvSpPr>
            <p:spPr>
              <a:xfrm>
                <a:off x="3298101" y="3803637"/>
                <a:ext cx="1437226" cy="30970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F176"/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996126F2-79B1-AE5E-897E-8C193D946C16}"/>
                  </a:ext>
                </a:extLst>
              </p:cNvPr>
              <p:cNvSpPr txBox="1"/>
              <p:nvPr/>
            </p:nvSpPr>
            <p:spPr>
              <a:xfrm>
                <a:off x="3277583" y="3821826"/>
                <a:ext cx="149734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50" b="1" dirty="0">
                    <a:solidFill>
                      <a:srgbClr val="F2F2F2"/>
                    </a:solidFill>
                    <a:latin typeface="Eras Bold ITC" panose="020B0907030504020204" pitchFamily="34" charset="0"/>
                  </a:rPr>
                  <a:t>BSc. Biochemistry</a:t>
                </a: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942326E-584A-F7EE-3C71-329EB4394398}"/>
                </a:ext>
              </a:extLst>
            </p:cNvPr>
            <p:cNvGrpSpPr/>
            <p:nvPr/>
          </p:nvGrpSpPr>
          <p:grpSpPr>
            <a:xfrm>
              <a:off x="5967467" y="3803637"/>
              <a:ext cx="1511667" cy="309709"/>
              <a:chOff x="6084816" y="3825149"/>
              <a:chExt cx="2044321" cy="395839"/>
            </a:xfrm>
          </p:grpSpPr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145511EA-3993-E920-30FA-0F6FF932A931}"/>
                  </a:ext>
                </a:extLst>
              </p:cNvPr>
              <p:cNvSpPr/>
              <p:nvPr/>
            </p:nvSpPr>
            <p:spPr>
              <a:xfrm>
                <a:off x="6121124" y="3825149"/>
                <a:ext cx="1943652" cy="39583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F176"/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95853F3F-660D-CD3B-6B38-A9D5C3956B19}"/>
                  </a:ext>
                </a:extLst>
              </p:cNvPr>
              <p:cNvSpPr txBox="1"/>
              <p:nvPr/>
            </p:nvSpPr>
            <p:spPr>
              <a:xfrm>
                <a:off x="6084816" y="3848396"/>
                <a:ext cx="2044321" cy="344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50" b="1" dirty="0">
                    <a:solidFill>
                      <a:srgbClr val="F2F2F2"/>
                    </a:solidFill>
                    <a:latin typeface="Eras Bold ITC" panose="020B0907030504020204" pitchFamily="34" charset="0"/>
                  </a:rPr>
                  <a:t>B. Tech (CS)</a:t>
                </a: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A1CBAF9-47E2-C90A-04E5-889A48A7C80B}"/>
                </a:ext>
              </a:extLst>
            </p:cNvPr>
            <p:cNvGrpSpPr/>
            <p:nvPr/>
          </p:nvGrpSpPr>
          <p:grpSpPr>
            <a:xfrm>
              <a:off x="8676334" y="3803637"/>
              <a:ext cx="1504867" cy="309709"/>
              <a:chOff x="9748189" y="3775722"/>
              <a:chExt cx="2035126" cy="395839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5DDE242E-AF92-11DF-19C8-B528071832E4}"/>
                  </a:ext>
                </a:extLst>
              </p:cNvPr>
              <p:cNvSpPr/>
              <p:nvPr/>
            </p:nvSpPr>
            <p:spPr>
              <a:xfrm>
                <a:off x="9767380" y="3775722"/>
                <a:ext cx="1943652" cy="395839"/>
              </a:xfrm>
              <a:prstGeom prst="round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blurRad="107950" dist="12700" dir="5400000" algn="ctr">
                  <a:srgbClr val="000000"/>
                </a:outerShdw>
              </a:effectLst>
              <a:scene3d>
                <a:camera prst="orthographicFront">
                  <a:rot lat="0" lon="0" rev="0"/>
                </a:camera>
                <a:lightRig rig="soft" dir="t">
                  <a:rot lat="0" lon="0" rev="0"/>
                </a:lightRig>
              </a:scene3d>
              <a:sp3d contourW="44450" prstMaterial="matte">
                <a:bevelT w="63500" h="63500" prst="artDeco"/>
                <a:contourClr>
                  <a:srgbClr val="FFFFFF"/>
                </a:contour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rgbClr val="FFF176"/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00794AD-20F5-4B47-30C8-323CD3ECB649}"/>
                  </a:ext>
                </a:extLst>
              </p:cNvPr>
              <p:cNvSpPr txBox="1"/>
              <p:nvPr/>
            </p:nvSpPr>
            <p:spPr>
              <a:xfrm>
                <a:off x="9748189" y="3798969"/>
                <a:ext cx="2035126" cy="3441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50" b="1" dirty="0">
                    <a:solidFill>
                      <a:srgbClr val="F2F2F2"/>
                    </a:solidFill>
                    <a:latin typeface="Eras Bold ITC" panose="020B0907030504020204" pitchFamily="34" charset="0"/>
                  </a:rPr>
                  <a:t>MSc. Physics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B6E2983-1A32-7FBB-3EFA-D383677AD02A}"/>
                </a:ext>
              </a:extLst>
            </p:cNvPr>
            <p:cNvSpPr txBox="1"/>
            <p:nvPr/>
          </p:nvSpPr>
          <p:spPr>
            <a:xfrm>
              <a:off x="4078990" y="480768"/>
              <a:ext cx="425064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extrusionH="57150">
                <a:bevelT w="38100" h="38100" prst="angle"/>
              </a:sp3d>
            </a:bodyPr>
            <a:lstStyle/>
            <a:p>
              <a:r>
                <a:rPr lang="en-US" sz="6000" dirty="0">
                  <a:solidFill>
                    <a:schemeClr val="accent4"/>
                  </a:solidFill>
                  <a:effectLst>
                    <a:outerShdw blurRad="60007" dist="310007" dir="7680000" sy="30000" kx="1300200" algn="ctr" rotWithShape="0">
                      <a:prstClr val="black">
                        <a:alpha val="32000"/>
                      </a:prstClr>
                    </a:outerShdw>
                  </a:effectLst>
                  <a:latin typeface="Jumble" panose="02000503000000020004" pitchFamily="2" charset="0"/>
                  <a:ea typeface="Segoe UI Black" panose="020B0A02040204020203" pitchFamily="34" charset="0"/>
                </a:rPr>
                <a:t>ABOUT US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B6475B-54BC-9607-01F1-B02B0C9B06DA}"/>
                </a:ext>
              </a:extLst>
            </p:cNvPr>
            <p:cNvSpPr txBox="1"/>
            <p:nvPr/>
          </p:nvSpPr>
          <p:spPr>
            <a:xfrm>
              <a:off x="1337076" y="4990621"/>
              <a:ext cx="9583681" cy="64633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sz="1200" dirty="0"/>
                <a:t>We are a team of three members from </a:t>
              </a:r>
              <a:r>
                <a:rPr lang="en-US" sz="1200" b="1" dirty="0"/>
                <a:t>diverse academic backgrounds who collaborated to complete this data analytics project</a:t>
              </a:r>
              <a:r>
                <a:rPr lang="en-US" sz="1200" dirty="0"/>
                <a:t>. Each member contributed their skills in research, data processing, and visualization. Through effective coordination and clear task distribution, we successfully developed meaningful insights without overlapping work.</a:t>
              </a:r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3FD09909-D379-C3CC-00F1-9946F258F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779" t="7240" r="30288" b="5110"/>
            <a:stretch>
              <a:fillRect/>
            </a:stretch>
          </p:blipFill>
          <p:spPr>
            <a:xfrm>
              <a:off x="4748331" y="1720215"/>
              <a:ext cx="1124032" cy="154579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2F024E-58B7-FD32-77E3-F9F7C012158A}"/>
              </a:ext>
            </a:extLst>
          </p:cNvPr>
          <p:cNvSpPr/>
          <p:nvPr/>
        </p:nvSpPr>
        <p:spPr>
          <a:xfrm>
            <a:off x="5198447" y="7007231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DA850A1-40D2-9E41-F993-B3585CF78EF6}"/>
              </a:ext>
            </a:extLst>
          </p:cNvPr>
          <p:cNvSpPr/>
          <p:nvPr/>
        </p:nvSpPr>
        <p:spPr>
          <a:xfrm>
            <a:off x="5198447" y="7007231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551DD4-846F-48A1-F7B6-1CA1C8A00ACE}"/>
              </a:ext>
            </a:extLst>
          </p:cNvPr>
          <p:cNvSpPr/>
          <p:nvPr/>
        </p:nvSpPr>
        <p:spPr>
          <a:xfrm>
            <a:off x="5198447" y="7007231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DBA1ADD-CDCB-FF92-9391-42C32A7E09C9}"/>
              </a:ext>
            </a:extLst>
          </p:cNvPr>
          <p:cNvSpPr/>
          <p:nvPr/>
        </p:nvSpPr>
        <p:spPr>
          <a:xfrm>
            <a:off x="5221664" y="6956018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A22DCA7-30BD-6133-3CD9-694B7A19DAB6}"/>
              </a:ext>
            </a:extLst>
          </p:cNvPr>
          <p:cNvSpPr/>
          <p:nvPr/>
        </p:nvSpPr>
        <p:spPr>
          <a:xfrm>
            <a:off x="5198447" y="7007231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CFCB64B-B8B0-1A14-D71C-4B342F8C95B3}"/>
              </a:ext>
            </a:extLst>
          </p:cNvPr>
          <p:cNvSpPr/>
          <p:nvPr/>
        </p:nvSpPr>
        <p:spPr>
          <a:xfrm>
            <a:off x="5221664" y="6956018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3CDBA05-1E63-6467-D4C8-7B51C645AC93}"/>
              </a:ext>
            </a:extLst>
          </p:cNvPr>
          <p:cNvSpPr/>
          <p:nvPr/>
        </p:nvSpPr>
        <p:spPr>
          <a:xfrm>
            <a:off x="5221664" y="6956018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86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8D556-61FB-EE2F-ACD5-72633735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5CF983E7-5810-3CE7-3C46-B6411E604061}"/>
              </a:ext>
            </a:extLst>
          </p:cNvPr>
          <p:cNvSpPr txBox="1"/>
          <p:nvPr/>
        </p:nvSpPr>
        <p:spPr>
          <a:xfrm>
            <a:off x="393371" y="411647"/>
            <a:ext cx="1825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Eras Bold ITC" panose="020B0907030504020204" pitchFamily="34" charset="0"/>
              </a:rPr>
              <a:t>TABLE</a:t>
            </a:r>
          </a:p>
          <a:p>
            <a:r>
              <a:rPr lang="en-US" b="1" dirty="0">
                <a:latin typeface="Eras Bold ITC" panose="020B0907030504020204" pitchFamily="34" charset="0"/>
              </a:rPr>
              <a:t>OF CONTENT</a:t>
            </a:r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F29EFF8-5B6A-9EAF-D869-9D0CE13E61A5}"/>
              </a:ext>
            </a:extLst>
          </p:cNvPr>
          <p:cNvSpPr/>
          <p:nvPr/>
        </p:nvSpPr>
        <p:spPr>
          <a:xfrm rot="16200000">
            <a:off x="3738862" y="4077468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1EF2E79-93CC-812C-5808-3377239A4A54}"/>
              </a:ext>
            </a:extLst>
          </p:cNvPr>
          <p:cNvSpPr/>
          <p:nvPr/>
        </p:nvSpPr>
        <p:spPr>
          <a:xfrm rot="5400000">
            <a:off x="6658033" y="4077468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32AE66F-AE04-6C61-8E09-44B0B22DE54C}"/>
              </a:ext>
            </a:extLst>
          </p:cNvPr>
          <p:cNvSpPr/>
          <p:nvPr/>
        </p:nvSpPr>
        <p:spPr>
          <a:xfrm rot="3600000">
            <a:off x="6463025" y="3332767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638DA9F-95AC-DA64-D795-64C2EE6257EA}"/>
              </a:ext>
            </a:extLst>
          </p:cNvPr>
          <p:cNvSpPr/>
          <p:nvPr/>
        </p:nvSpPr>
        <p:spPr>
          <a:xfrm rot="1800000">
            <a:off x="5947720" y="2722711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9CF747-DCB6-C218-CA4C-42CCF1A78A6F}"/>
              </a:ext>
            </a:extLst>
          </p:cNvPr>
          <p:cNvSpPr/>
          <p:nvPr/>
        </p:nvSpPr>
        <p:spPr>
          <a:xfrm rot="18000000">
            <a:off x="3954164" y="3327827"/>
            <a:ext cx="1369786" cy="2919171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AA9A445-9EF8-0CFD-222D-372CBD3C12E9}"/>
              </a:ext>
            </a:extLst>
          </p:cNvPr>
          <p:cNvSpPr/>
          <p:nvPr/>
        </p:nvSpPr>
        <p:spPr>
          <a:xfrm rot="19800000">
            <a:off x="4490985" y="2722709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3DA90A99-2316-B7F7-DC8F-6E40CAFE069B}"/>
              </a:ext>
            </a:extLst>
          </p:cNvPr>
          <p:cNvSpPr/>
          <p:nvPr/>
        </p:nvSpPr>
        <p:spPr>
          <a:xfrm>
            <a:off x="5212379" y="2515456"/>
            <a:ext cx="1323352" cy="3021597"/>
          </a:xfrm>
          <a:custGeom>
            <a:avLst/>
            <a:gdLst>
              <a:gd name="csX0" fmla="*/ 612408 w 1224816"/>
              <a:gd name="csY0" fmla="*/ 0 h 2701810"/>
              <a:gd name="csX1" fmla="*/ 697278 w 1224816"/>
              <a:gd name="csY1" fmla="*/ 77146 h 2701810"/>
              <a:gd name="csX2" fmla="*/ 1224816 w 1224816"/>
              <a:gd name="csY2" fmla="*/ 1350905 h 2701810"/>
              <a:gd name="csX3" fmla="*/ 697278 w 1224816"/>
              <a:gd name="csY3" fmla="*/ 2624665 h 2701810"/>
              <a:gd name="csX4" fmla="*/ 612408 w 1224816"/>
              <a:gd name="csY4" fmla="*/ 2701810 h 2701810"/>
              <a:gd name="csX5" fmla="*/ 527538 w 1224816"/>
              <a:gd name="csY5" fmla="*/ 2624665 h 2701810"/>
              <a:gd name="csX6" fmla="*/ 0 w 1224816"/>
              <a:gd name="csY6" fmla="*/ 1350905 h 2701810"/>
              <a:gd name="csX7" fmla="*/ 527538 w 1224816"/>
              <a:gd name="csY7" fmla="*/ 77146 h 2701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24816" h="2701810">
                <a:moveTo>
                  <a:pt x="612408" y="0"/>
                </a:moveTo>
                <a:lnTo>
                  <a:pt x="697278" y="77146"/>
                </a:lnTo>
                <a:cubicBezTo>
                  <a:pt x="1023218" y="403129"/>
                  <a:pt x="1224816" y="853471"/>
                  <a:pt x="1224816" y="1350905"/>
                </a:cubicBezTo>
                <a:cubicBezTo>
                  <a:pt x="1224816" y="1848339"/>
                  <a:pt x="1023218" y="2298681"/>
                  <a:pt x="697278" y="2624665"/>
                </a:cubicBezTo>
                <a:lnTo>
                  <a:pt x="612408" y="2701810"/>
                </a:lnTo>
                <a:lnTo>
                  <a:pt x="527538" y="2624665"/>
                </a:lnTo>
                <a:cubicBezTo>
                  <a:pt x="201598" y="2298681"/>
                  <a:pt x="0" y="1848339"/>
                  <a:pt x="0" y="1350905"/>
                </a:cubicBezTo>
                <a:cubicBezTo>
                  <a:pt x="0" y="853471"/>
                  <a:pt x="201598" y="403129"/>
                  <a:pt x="527538" y="77146"/>
                </a:cubicBezTo>
                <a:close/>
              </a:path>
            </a:pathLst>
          </a:custGeom>
          <a:gradFill flip="none" rotWithShape="1">
            <a:gsLst>
              <a:gs pos="0">
                <a:srgbClr val="7030A0">
                  <a:lumMod val="0"/>
                </a:srgbClr>
              </a:gs>
              <a:gs pos="46000">
                <a:srgbClr val="D757FF">
                  <a:alpha val="48627"/>
                </a:srgbClr>
              </a:gs>
              <a:gs pos="100000">
                <a:srgbClr val="B600DA">
                  <a:alpha val="97647"/>
                </a:srgbClr>
              </a:gs>
            </a:gsLst>
            <a:path path="circle">
              <a:fillToRect l="50000" t="130000" r="50000" b="-30000"/>
            </a:path>
            <a:tileRect/>
          </a:gradFill>
          <a:ln w="28575">
            <a:solidFill>
              <a:srgbClr val="7030A0">
                <a:alpha val="16000"/>
              </a:srgb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D19266-1966-5797-5689-F0F4DEDB9C0E}"/>
              </a:ext>
            </a:extLst>
          </p:cNvPr>
          <p:cNvSpPr txBox="1"/>
          <p:nvPr/>
        </p:nvSpPr>
        <p:spPr>
          <a:xfrm>
            <a:off x="1989292" y="5025419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0B96C-388E-E799-E7AC-CF47A7A82D5D}"/>
              </a:ext>
            </a:extLst>
          </p:cNvPr>
          <p:cNvSpPr txBox="1"/>
          <p:nvPr/>
        </p:nvSpPr>
        <p:spPr>
          <a:xfrm>
            <a:off x="463635" y="5268852"/>
            <a:ext cx="168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23063-EB34-98B8-FAC3-A28304624F01}"/>
              </a:ext>
            </a:extLst>
          </p:cNvPr>
          <p:cNvSpPr txBox="1"/>
          <p:nvPr/>
        </p:nvSpPr>
        <p:spPr>
          <a:xfrm>
            <a:off x="2219360" y="3424742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9A570-6D2B-8BB9-5412-5A6DC558A2AA}"/>
              </a:ext>
            </a:extLst>
          </p:cNvPr>
          <p:cNvSpPr txBox="1"/>
          <p:nvPr/>
        </p:nvSpPr>
        <p:spPr>
          <a:xfrm>
            <a:off x="253550" y="3675693"/>
            <a:ext cx="2113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BUSINESS PROBLEM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56371-7FFD-E9AB-6BC5-60739E0F40D3}"/>
              </a:ext>
            </a:extLst>
          </p:cNvPr>
          <p:cNvSpPr txBox="1"/>
          <p:nvPr/>
        </p:nvSpPr>
        <p:spPr>
          <a:xfrm>
            <a:off x="3017503" y="2022586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0FF17B-AAE7-DD81-FC06-AF60E225486B}"/>
              </a:ext>
            </a:extLst>
          </p:cNvPr>
          <p:cNvSpPr txBox="1"/>
          <p:nvPr/>
        </p:nvSpPr>
        <p:spPr>
          <a:xfrm>
            <a:off x="1749672" y="2273537"/>
            <a:ext cx="1354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OBJECTIVES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0ECAA6-9D0D-29FD-D7D5-D1457FA5FD85}"/>
              </a:ext>
            </a:extLst>
          </p:cNvPr>
          <p:cNvSpPr txBox="1"/>
          <p:nvPr/>
        </p:nvSpPr>
        <p:spPr>
          <a:xfrm>
            <a:off x="5674618" y="489017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D1F08-0800-27E8-902A-940884ACA85B}"/>
              </a:ext>
            </a:extLst>
          </p:cNvPr>
          <p:cNvSpPr txBox="1"/>
          <p:nvPr/>
        </p:nvSpPr>
        <p:spPr>
          <a:xfrm>
            <a:off x="4860280" y="1379940"/>
            <a:ext cx="2046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TOOLS &amp; LIBRARIES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BA535B-6625-0466-AFBB-6F6476E6BE26}"/>
              </a:ext>
            </a:extLst>
          </p:cNvPr>
          <p:cNvSpPr txBox="1"/>
          <p:nvPr/>
        </p:nvSpPr>
        <p:spPr>
          <a:xfrm>
            <a:off x="8063510" y="2022586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2CC702-B341-4CA0-6B53-487D7FC60473}"/>
              </a:ext>
            </a:extLst>
          </p:cNvPr>
          <p:cNvSpPr txBox="1"/>
          <p:nvPr/>
        </p:nvSpPr>
        <p:spPr>
          <a:xfrm>
            <a:off x="8637318" y="2273537"/>
            <a:ext cx="18147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WEB SCRAPPING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69B0E1-C4C4-F814-6F26-EC0ABD35BC25}"/>
              </a:ext>
            </a:extLst>
          </p:cNvPr>
          <p:cNvSpPr txBox="1"/>
          <p:nvPr/>
        </p:nvSpPr>
        <p:spPr>
          <a:xfrm>
            <a:off x="8879338" y="3528439"/>
            <a:ext cx="417444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A7AFC0-01A4-78FA-C36E-79D598D64ABD}"/>
              </a:ext>
            </a:extLst>
          </p:cNvPr>
          <p:cNvSpPr txBox="1"/>
          <p:nvPr/>
        </p:nvSpPr>
        <p:spPr>
          <a:xfrm>
            <a:off x="9453147" y="3779390"/>
            <a:ext cx="2230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EXPL. DATA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54ECAB-A643-2621-EBAC-DD77E07F3A5B}"/>
              </a:ext>
            </a:extLst>
          </p:cNvPr>
          <p:cNvSpPr txBox="1"/>
          <p:nvPr/>
        </p:nvSpPr>
        <p:spPr>
          <a:xfrm>
            <a:off x="9195005" y="5025419"/>
            <a:ext cx="335362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Eras Demi ITC" panose="020B08050305040208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BB7113-4277-F342-4D78-A6F2A72A47F1}"/>
              </a:ext>
            </a:extLst>
          </p:cNvPr>
          <p:cNvSpPr txBox="1"/>
          <p:nvPr/>
        </p:nvSpPr>
        <p:spPr>
          <a:xfrm>
            <a:off x="9808874" y="5268852"/>
            <a:ext cx="1481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CONCLUSION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0F7ABC-5438-C4AC-7335-FDE0CA8070CF}"/>
              </a:ext>
            </a:extLst>
          </p:cNvPr>
          <p:cNvSpPr txBox="1"/>
          <p:nvPr/>
        </p:nvSpPr>
        <p:spPr>
          <a:xfrm>
            <a:off x="186898" y="5572654"/>
            <a:ext cx="19716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i="1" dirty="0"/>
              <a:t>Brief overview of the healthcare consultation market and project context.</a:t>
            </a:r>
            <a:endParaRPr lang="en-US" sz="1100" b="1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69BA0-F961-4419-D005-4A6D95285423}"/>
              </a:ext>
            </a:extLst>
          </p:cNvPr>
          <p:cNvSpPr txBox="1"/>
          <p:nvPr/>
        </p:nvSpPr>
        <p:spPr>
          <a:xfrm>
            <a:off x="311943" y="3958559"/>
            <a:ext cx="19716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i="1" dirty="0"/>
              <a:t>Understanding variations in doctor consultation fees across different factors.</a:t>
            </a:r>
            <a:endParaRPr lang="en-US" sz="1100" b="1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8FB021-9FCC-E1F6-0BF5-E778A3D4A39E}"/>
              </a:ext>
            </a:extLst>
          </p:cNvPr>
          <p:cNvSpPr txBox="1"/>
          <p:nvPr/>
        </p:nvSpPr>
        <p:spPr>
          <a:xfrm>
            <a:off x="1100572" y="2563541"/>
            <a:ext cx="19716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i="1" dirty="0"/>
              <a:t>Key goals defined to guide the analysis and insights.</a:t>
            </a:r>
            <a:endParaRPr lang="en-US" sz="1100" b="1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6A1912-643D-6548-F3EE-C02115E69B68}"/>
              </a:ext>
            </a:extLst>
          </p:cNvPr>
          <p:cNvSpPr txBox="1"/>
          <p:nvPr/>
        </p:nvSpPr>
        <p:spPr>
          <a:xfrm>
            <a:off x="4776932" y="1670297"/>
            <a:ext cx="22128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Technologies and Python libraries used for data extraction and analysis.</a:t>
            </a:r>
            <a:endParaRPr lang="en-US" sz="1100" b="1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CEDB39-2D08-2130-5975-08DE4411EB36}"/>
              </a:ext>
            </a:extLst>
          </p:cNvPr>
          <p:cNvSpPr txBox="1"/>
          <p:nvPr/>
        </p:nvSpPr>
        <p:spPr>
          <a:xfrm>
            <a:off x="8702466" y="2559887"/>
            <a:ext cx="22128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Collecting doctor-level consultation fee, specialization, experience, and patient-rating data from an online healthcare platform.</a:t>
            </a:r>
            <a:endParaRPr lang="en-US" sz="1100" b="1" i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744CBD-B8A9-6B4F-A48F-BD605479FBE5}"/>
              </a:ext>
            </a:extLst>
          </p:cNvPr>
          <p:cNvSpPr txBox="1"/>
          <p:nvPr/>
        </p:nvSpPr>
        <p:spPr>
          <a:xfrm>
            <a:off x="9506552" y="4066153"/>
            <a:ext cx="23332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Analyzing patterns, relationships, and pricing trends within the cleaned dataset.</a:t>
            </a:r>
            <a:endParaRPr lang="en-US" sz="1100" b="1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9D6F76-0F62-02CE-57A9-F4596BD49DBC}"/>
              </a:ext>
            </a:extLst>
          </p:cNvPr>
          <p:cNvSpPr txBox="1"/>
          <p:nvPr/>
        </p:nvSpPr>
        <p:spPr>
          <a:xfrm>
            <a:off x="9808874" y="5557985"/>
            <a:ext cx="22128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Final insights and key takeaways derived from the analysis</a:t>
            </a:r>
            <a:endParaRPr lang="en-US" sz="1100" b="1" i="1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B2BE01-074D-14C8-5DA9-E8702D1773D1}"/>
              </a:ext>
            </a:extLst>
          </p:cNvPr>
          <p:cNvGrpSpPr/>
          <p:nvPr/>
        </p:nvGrpSpPr>
        <p:grpSpPr>
          <a:xfrm rot="18900000">
            <a:off x="-3288808" y="1447243"/>
            <a:ext cx="3657600" cy="3657600"/>
            <a:chOff x="2438399" y="1600199"/>
            <a:chExt cx="3657600" cy="3657600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56FA7FF-4513-39AC-D9F7-3D3AAEF33007}"/>
                </a:ext>
              </a:extLst>
            </p:cNvPr>
            <p:cNvSpPr/>
            <p:nvPr/>
          </p:nvSpPr>
          <p:spPr>
            <a:xfrm>
              <a:off x="2438399" y="1600199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D13CA86-0647-9228-1C25-F9B02A93D3A0}"/>
                </a:ext>
              </a:extLst>
            </p:cNvPr>
            <p:cNvSpPr/>
            <p:nvPr/>
          </p:nvSpPr>
          <p:spPr>
            <a:xfrm rot="2700000">
              <a:off x="4431146" y="173614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7ED86FC-161A-41B2-A967-34F0FA269E89}"/>
                </a:ext>
              </a:extLst>
            </p:cNvPr>
            <p:cNvSpPr/>
            <p:nvPr/>
          </p:nvSpPr>
          <p:spPr>
            <a:xfrm rot="2700000">
              <a:off x="2584417" y="3603021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C48F716-C4DF-B877-E5D4-E4F0AB39181F}"/>
              </a:ext>
            </a:extLst>
          </p:cNvPr>
          <p:cNvGrpSpPr/>
          <p:nvPr/>
        </p:nvGrpSpPr>
        <p:grpSpPr>
          <a:xfrm rot="18900000">
            <a:off x="-3317904" y="1447243"/>
            <a:ext cx="3657600" cy="3657600"/>
            <a:chOff x="6095999" y="1600199"/>
            <a:chExt cx="3657600" cy="3657600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1CA70EE-A77F-2BBB-088E-5B97700452C3}"/>
                </a:ext>
              </a:extLst>
            </p:cNvPr>
            <p:cNvSpPr/>
            <p:nvPr/>
          </p:nvSpPr>
          <p:spPr>
            <a:xfrm>
              <a:off x="6095999" y="1600199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4321B74-911F-26E6-47A2-C2E0164512D9}"/>
                </a:ext>
              </a:extLst>
            </p:cNvPr>
            <p:cNvSpPr/>
            <p:nvPr/>
          </p:nvSpPr>
          <p:spPr>
            <a:xfrm rot="18900000">
              <a:off x="6270022" y="3603022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10D9819-32BC-4F1C-AE15-21B8C2CFC042}"/>
                </a:ext>
              </a:extLst>
            </p:cNvPr>
            <p:cNvSpPr/>
            <p:nvPr/>
          </p:nvSpPr>
          <p:spPr>
            <a:xfrm rot="2700000">
              <a:off x="8088746" y="173614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A4666E2-AC9A-39CF-932C-ADD261C0E33B}"/>
              </a:ext>
            </a:extLst>
          </p:cNvPr>
          <p:cNvGrpSpPr/>
          <p:nvPr/>
        </p:nvGrpSpPr>
        <p:grpSpPr>
          <a:xfrm rot="2700000">
            <a:off x="-3303181" y="1447242"/>
            <a:ext cx="3657600" cy="3657600"/>
            <a:chOff x="4267200" y="1600200"/>
            <a:chExt cx="3657600" cy="3657600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71AFF1D-FDC0-CAE3-7A4E-C1BCA930E362}"/>
                </a:ext>
              </a:extLst>
            </p:cNvPr>
            <p:cNvSpPr/>
            <p:nvPr/>
          </p:nvSpPr>
          <p:spPr>
            <a:xfrm rot="16200000">
              <a:off x="4267200" y="1600200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8000">
                  <a:schemeClr val="accent4">
                    <a:lumMod val="97000"/>
                    <a:lumOff val="3000"/>
                  </a:schemeClr>
                </a:gs>
                <a:gs pos="100000">
                  <a:schemeClr val="accent4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4BDD86E-F3C5-2A45-9B4C-2460771580E0}"/>
                </a:ext>
              </a:extLst>
            </p:cNvPr>
            <p:cNvSpPr/>
            <p:nvPr/>
          </p:nvSpPr>
          <p:spPr>
            <a:xfrm rot="18900000">
              <a:off x="4403144" y="175629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018B164-CF77-B162-0D88-C8CC4BFB4BEF}"/>
                </a:ext>
              </a:extLst>
            </p:cNvPr>
            <p:cNvSpPr/>
            <p:nvPr/>
          </p:nvSpPr>
          <p:spPr>
            <a:xfrm rot="2700000">
              <a:off x="6242017" y="3603021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43" name="Rectangle 42">
            <a:extLst>
              <a:ext uri="{FF2B5EF4-FFF2-40B4-BE49-F238E27FC236}">
                <a16:creationId xmlns:a16="http://schemas.microsoft.com/office/drawing/2014/main" id="{15A0DB70-ABF3-FA5F-2359-FC4C3F7EDBAD}"/>
              </a:ext>
            </a:extLst>
          </p:cNvPr>
          <p:cNvSpPr/>
          <p:nvPr/>
        </p:nvSpPr>
        <p:spPr>
          <a:xfrm>
            <a:off x="2179715" y="440870"/>
            <a:ext cx="73152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933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14948 0.0011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74" y="4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12" grpId="0"/>
      <p:bldP spid="2" grpId="0"/>
      <p:bldP spid="3" grpId="0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43" grpId="0" animBg="1"/>
      <p:bldP spid="4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5C2D2-F6C0-A505-13A8-8DD1E30B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911FBBE-EC57-714F-F66C-958CC12AFF74}"/>
              </a:ext>
            </a:extLst>
          </p:cNvPr>
          <p:cNvGrpSpPr/>
          <p:nvPr/>
        </p:nvGrpSpPr>
        <p:grpSpPr>
          <a:xfrm>
            <a:off x="6096000" y="1858613"/>
            <a:ext cx="3657600" cy="3657600"/>
            <a:chOff x="6096000" y="1600199"/>
            <a:chExt cx="3657600" cy="3657600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2F8AECE-014A-EA28-91CF-0645C6A495E8}"/>
                </a:ext>
              </a:extLst>
            </p:cNvPr>
            <p:cNvSpPr/>
            <p:nvPr/>
          </p:nvSpPr>
          <p:spPr>
            <a:xfrm>
              <a:off x="6096000" y="1600199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67000"/>
                  </a:schemeClr>
                </a:gs>
                <a:gs pos="42000">
                  <a:schemeClr val="accent4">
                    <a:lumMod val="97000"/>
                    <a:lumOff val="3000"/>
                  </a:schemeClr>
                </a:gs>
                <a:gs pos="75000">
                  <a:srgbClr val="997300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BB43F2-83B1-E83D-2699-C45FB0EA89AA}"/>
                </a:ext>
              </a:extLst>
            </p:cNvPr>
            <p:cNvSpPr/>
            <p:nvPr/>
          </p:nvSpPr>
          <p:spPr>
            <a:xfrm rot="18900000">
              <a:off x="6270023" y="3603022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03C1F6C-EBE7-502D-0B2F-91D12577F8A4}"/>
                </a:ext>
              </a:extLst>
            </p:cNvPr>
            <p:cNvSpPr/>
            <p:nvPr/>
          </p:nvSpPr>
          <p:spPr>
            <a:xfrm rot="2700000">
              <a:off x="8088747" y="173614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CD81FC8-B8B3-999A-5FA0-52866F54D694}"/>
              </a:ext>
            </a:extLst>
          </p:cNvPr>
          <p:cNvGrpSpPr/>
          <p:nvPr/>
        </p:nvGrpSpPr>
        <p:grpSpPr>
          <a:xfrm>
            <a:off x="4267201" y="1858614"/>
            <a:ext cx="3657600" cy="3657600"/>
            <a:chOff x="4267201" y="1600200"/>
            <a:chExt cx="3657600" cy="3657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F8D7FD-FD5B-FA11-528F-5D2B2FA5ACDC}"/>
                </a:ext>
              </a:extLst>
            </p:cNvPr>
            <p:cNvSpPr/>
            <p:nvPr/>
          </p:nvSpPr>
          <p:spPr>
            <a:xfrm rot="16200000">
              <a:off x="4267201" y="1600200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C410"/>
                </a:gs>
                <a:gs pos="46000">
                  <a:schemeClr val="accent4">
                    <a:lumMod val="95000"/>
                    <a:lumOff val="5000"/>
                  </a:schemeClr>
                </a:gs>
                <a:gs pos="60000">
                  <a:srgbClr val="8C6B02"/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D27D055-3866-F0E8-E2A0-956AF288E7B5}"/>
                </a:ext>
              </a:extLst>
            </p:cNvPr>
            <p:cNvSpPr/>
            <p:nvPr/>
          </p:nvSpPr>
          <p:spPr>
            <a:xfrm rot="18900000">
              <a:off x="4403145" y="175629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905EF1A-B242-5720-52EB-5ED14FDD4D39}"/>
                </a:ext>
              </a:extLst>
            </p:cNvPr>
            <p:cNvSpPr/>
            <p:nvPr/>
          </p:nvSpPr>
          <p:spPr>
            <a:xfrm rot="2700000">
              <a:off x="6242018" y="3603021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D53D49F-153D-CE10-5F2F-2F8C15AAA200}"/>
              </a:ext>
            </a:extLst>
          </p:cNvPr>
          <p:cNvGrpSpPr/>
          <p:nvPr/>
        </p:nvGrpSpPr>
        <p:grpSpPr>
          <a:xfrm>
            <a:off x="2438400" y="1858613"/>
            <a:ext cx="3657600" cy="3657600"/>
            <a:chOff x="2438400" y="1600199"/>
            <a:chExt cx="3657600" cy="36576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6935712-CC2E-D8E0-6884-401EEC5628FB}"/>
                </a:ext>
              </a:extLst>
            </p:cNvPr>
            <p:cNvSpPr/>
            <p:nvPr/>
          </p:nvSpPr>
          <p:spPr>
            <a:xfrm>
              <a:off x="2438400" y="1600199"/>
              <a:ext cx="3657600" cy="3657600"/>
            </a:xfrm>
            <a:custGeom>
              <a:avLst/>
              <a:gdLst>
                <a:gd name="csX0" fmla="*/ 2743200 w 3657600"/>
                <a:gd name="csY0" fmla="*/ 0 h 3657600"/>
                <a:gd name="csX1" fmla="*/ 3657600 w 3657600"/>
                <a:gd name="csY1" fmla="*/ 914400 h 3657600"/>
                <a:gd name="csX2" fmla="*/ 2743200 w 3657600"/>
                <a:gd name="csY2" fmla="*/ 1828800 h 3657600"/>
                <a:gd name="csX3" fmla="*/ 2451653 w 3657600"/>
                <a:gd name="csY3" fmla="*/ 1828800 h 3657600"/>
                <a:gd name="csX4" fmla="*/ 1828800 w 3657600"/>
                <a:gd name="csY4" fmla="*/ 2451653 h 3657600"/>
                <a:gd name="csX5" fmla="*/ 1828800 w 3657600"/>
                <a:gd name="csY5" fmla="*/ 2743200 h 3657600"/>
                <a:gd name="csX6" fmla="*/ 914400 w 3657600"/>
                <a:gd name="csY6" fmla="*/ 3657600 h 3657600"/>
                <a:gd name="csX7" fmla="*/ 0 w 3657600"/>
                <a:gd name="csY7" fmla="*/ 2743200 h 3657600"/>
                <a:gd name="csX8" fmla="*/ 914400 w 3657600"/>
                <a:gd name="csY8" fmla="*/ 1828800 h 3657600"/>
                <a:gd name="csX9" fmla="*/ 1205947 w 3657600"/>
                <a:gd name="csY9" fmla="*/ 1828800 h 3657600"/>
                <a:gd name="csX10" fmla="*/ 1828800 w 3657600"/>
                <a:gd name="csY10" fmla="*/ 1205947 h 3657600"/>
                <a:gd name="csX11" fmla="*/ 1828800 w 3657600"/>
                <a:gd name="csY11" fmla="*/ 914400 h 3657600"/>
                <a:gd name="csX12" fmla="*/ 2743200 w 3657600"/>
                <a:gd name="csY12" fmla="*/ 0 h 3657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657600" h="3657600">
                  <a:moveTo>
                    <a:pt x="2743200" y="0"/>
                  </a:moveTo>
                  <a:cubicBezTo>
                    <a:pt x="3248209" y="0"/>
                    <a:pt x="3657600" y="409391"/>
                    <a:pt x="3657600" y="914400"/>
                  </a:cubicBezTo>
                  <a:cubicBezTo>
                    <a:pt x="3657600" y="1419409"/>
                    <a:pt x="3248209" y="1828800"/>
                    <a:pt x="2743200" y="1828800"/>
                  </a:cubicBezTo>
                  <a:lnTo>
                    <a:pt x="2451653" y="1828800"/>
                  </a:lnTo>
                  <a:cubicBezTo>
                    <a:pt x="2107661" y="1828800"/>
                    <a:pt x="1828800" y="2107661"/>
                    <a:pt x="1828800" y="2451653"/>
                  </a:cubicBezTo>
                  <a:lnTo>
                    <a:pt x="1828800" y="2743200"/>
                  </a:lnTo>
                  <a:cubicBezTo>
                    <a:pt x="1828800" y="3248209"/>
                    <a:pt x="1419409" y="3657600"/>
                    <a:pt x="914400" y="3657600"/>
                  </a:cubicBezTo>
                  <a:cubicBezTo>
                    <a:pt x="409391" y="3657600"/>
                    <a:pt x="0" y="3248209"/>
                    <a:pt x="0" y="2743200"/>
                  </a:cubicBezTo>
                  <a:cubicBezTo>
                    <a:pt x="0" y="2238191"/>
                    <a:pt x="409391" y="1828800"/>
                    <a:pt x="914400" y="1828800"/>
                  </a:cubicBezTo>
                  <a:lnTo>
                    <a:pt x="1205947" y="1828800"/>
                  </a:lnTo>
                  <a:cubicBezTo>
                    <a:pt x="1549939" y="1828800"/>
                    <a:pt x="1828800" y="1549939"/>
                    <a:pt x="1828800" y="1205947"/>
                  </a:cubicBezTo>
                  <a:lnTo>
                    <a:pt x="1828800" y="914400"/>
                  </a:lnTo>
                  <a:cubicBezTo>
                    <a:pt x="1828800" y="409391"/>
                    <a:pt x="2238191" y="0"/>
                    <a:pt x="274320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4000">
                  <a:schemeClr val="accent4">
                    <a:lumMod val="95000"/>
                    <a:lumOff val="5000"/>
                  </a:schemeClr>
                </a:gs>
                <a:gs pos="62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53F2B49-CD61-2B6E-7386-0201E948B61F}"/>
                </a:ext>
              </a:extLst>
            </p:cNvPr>
            <p:cNvSpPr/>
            <p:nvPr/>
          </p:nvSpPr>
          <p:spPr>
            <a:xfrm rot="2700000">
              <a:off x="4431147" y="1736143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A4C20DB-3146-583D-ED5B-E5203D7739D0}"/>
                </a:ext>
              </a:extLst>
            </p:cNvPr>
            <p:cNvSpPr/>
            <p:nvPr/>
          </p:nvSpPr>
          <p:spPr>
            <a:xfrm rot="2700000">
              <a:off x="2584418" y="3603021"/>
              <a:ext cx="1508760" cy="150876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D81BAC7-D55B-B6C6-9ECE-0CD6840DCA6D}"/>
              </a:ext>
            </a:extLst>
          </p:cNvPr>
          <p:cNvSpPr txBox="1"/>
          <p:nvPr/>
        </p:nvSpPr>
        <p:spPr>
          <a:xfrm>
            <a:off x="2205859" y="2232789"/>
            <a:ext cx="20512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Healthcare consultation costs vary widely across cities and medical specializations</a:t>
            </a:r>
            <a:r>
              <a:rPr lang="en-US" sz="1200" dirty="0"/>
              <a:t>, making it difficult for patients to understand the pricing structure within urban healthcare markets.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B8C4BA-2A78-2516-A23D-24B3788D8FA4}"/>
              </a:ext>
            </a:extLst>
          </p:cNvPr>
          <p:cNvSpPr txBox="1"/>
          <p:nvPr/>
        </p:nvSpPr>
        <p:spPr>
          <a:xfrm>
            <a:off x="4259949" y="3772390"/>
            <a:ext cx="18155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Digital healthcare platforms have created large volumes of doctor-level data</a:t>
            </a:r>
            <a:r>
              <a:rPr lang="en-US" sz="1200" dirty="0"/>
              <a:t>, enabling systematic analysis of consultation fee patterns across different regions and medical domains.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130E8A-CE5A-B196-43D2-2A3D346F68E7}"/>
              </a:ext>
            </a:extLst>
          </p:cNvPr>
          <p:cNvSpPr txBox="1"/>
          <p:nvPr/>
        </p:nvSpPr>
        <p:spPr>
          <a:xfrm>
            <a:off x="6077466" y="2132004"/>
            <a:ext cx="18467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Understanding these pricing variations is important for </a:t>
            </a:r>
            <a:r>
              <a:rPr lang="en-US" sz="1200" b="1" dirty="0"/>
              <a:t>identifying market trends, affordability patterns, and premium healthcare </a:t>
            </a:r>
            <a:r>
              <a:rPr lang="en-US" sz="1200" dirty="0"/>
              <a:t>segments.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E810B2-1B9E-C7D4-ED54-3D4E38E1583B}"/>
              </a:ext>
            </a:extLst>
          </p:cNvPr>
          <p:cNvSpPr txBox="1"/>
          <p:nvPr/>
        </p:nvSpPr>
        <p:spPr>
          <a:xfrm>
            <a:off x="8063253" y="3843315"/>
            <a:ext cx="18155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This project applies data-driven analysis to examine consultation fee patterns across multiple cities and specializations</a:t>
            </a:r>
            <a:r>
              <a:rPr lang="en-US" sz="1200" dirty="0"/>
              <a:t>, providing insights into how urban healthcare pricing structures evolve.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26C003-A72E-5636-4F96-A03460BDD332}"/>
              </a:ext>
            </a:extLst>
          </p:cNvPr>
          <p:cNvSpPr txBox="1"/>
          <p:nvPr/>
        </p:nvSpPr>
        <p:spPr>
          <a:xfrm>
            <a:off x="2999556" y="4008111"/>
            <a:ext cx="230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7DB595-0325-ECBB-6CFE-0E001F94B9E9}"/>
              </a:ext>
            </a:extLst>
          </p:cNvPr>
          <p:cNvSpPr txBox="1"/>
          <p:nvPr/>
        </p:nvSpPr>
        <p:spPr>
          <a:xfrm>
            <a:off x="4802411" y="2143997"/>
            <a:ext cx="230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01B54-E09E-5255-F832-DE5E042DE95B}"/>
              </a:ext>
            </a:extLst>
          </p:cNvPr>
          <p:cNvSpPr txBox="1"/>
          <p:nvPr/>
        </p:nvSpPr>
        <p:spPr>
          <a:xfrm>
            <a:off x="6664406" y="4008111"/>
            <a:ext cx="230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46F04-A14B-1B9B-87B6-F08A776AC8F2}"/>
              </a:ext>
            </a:extLst>
          </p:cNvPr>
          <p:cNvSpPr txBox="1"/>
          <p:nvPr/>
        </p:nvSpPr>
        <p:spPr>
          <a:xfrm>
            <a:off x="8493207" y="2143997"/>
            <a:ext cx="230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Eras Bold ITC" panose="020B0907030504020204" pitchFamily="34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86AB9D-B085-DBA8-B988-415D8B1365FD}"/>
              </a:ext>
            </a:extLst>
          </p:cNvPr>
          <p:cNvSpPr txBox="1"/>
          <p:nvPr/>
        </p:nvSpPr>
        <p:spPr>
          <a:xfrm>
            <a:off x="2207071" y="277147"/>
            <a:ext cx="7777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u="sng" dirty="0"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784826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  <p:bldP spid="17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99015-C237-D52E-BFE2-2FF094E9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8E9E3E3-1D7E-28F5-FAC4-85D521A95E77}"/>
              </a:ext>
            </a:extLst>
          </p:cNvPr>
          <p:cNvGrpSpPr/>
          <p:nvPr/>
        </p:nvGrpSpPr>
        <p:grpSpPr>
          <a:xfrm>
            <a:off x="2435323" y="3170423"/>
            <a:ext cx="1876877" cy="2974671"/>
            <a:chOff x="2435323" y="3170423"/>
            <a:chExt cx="1876877" cy="2974671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3F35031-6479-5230-C3E4-403D56934A32}"/>
                </a:ext>
              </a:extLst>
            </p:cNvPr>
            <p:cNvSpPr/>
            <p:nvPr/>
          </p:nvSpPr>
          <p:spPr>
            <a:xfrm>
              <a:off x="2435323" y="3170423"/>
              <a:ext cx="1876877" cy="2974671"/>
            </a:xfrm>
            <a:custGeom>
              <a:avLst/>
              <a:gdLst>
                <a:gd name="csX0" fmla="*/ 1490133 w 1876877"/>
                <a:gd name="csY0" fmla="*/ 0 h 2974671"/>
                <a:gd name="csX1" fmla="*/ 1490133 w 1876877"/>
                <a:gd name="csY1" fmla="*/ 2342 h 2974671"/>
                <a:gd name="csX2" fmla="*/ 1551975 w 1876877"/>
                <a:gd name="csY2" fmla="*/ 8573 h 2974671"/>
                <a:gd name="csX3" fmla="*/ 1876877 w 1876877"/>
                <a:gd name="csY3" fmla="*/ 407018 h 2974671"/>
                <a:gd name="csX4" fmla="*/ 1551975 w 1876877"/>
                <a:gd name="csY4" fmla="*/ 805463 h 2974671"/>
                <a:gd name="csX5" fmla="*/ 1490133 w 1876877"/>
                <a:gd name="csY5" fmla="*/ 811694 h 2974671"/>
                <a:gd name="csX6" fmla="*/ 1490133 w 1876877"/>
                <a:gd name="csY6" fmla="*/ 812800 h 2974671"/>
                <a:gd name="csX7" fmla="*/ 406400 w 1876877"/>
                <a:gd name="csY7" fmla="*/ 1896533 h 2974671"/>
                <a:gd name="csX8" fmla="*/ 1271723 w 1876877"/>
                <a:gd name="csY8" fmla="*/ 2958248 h 2974671"/>
                <a:gd name="csX9" fmla="*/ 1379324 w 1876877"/>
                <a:gd name="csY9" fmla="*/ 2974671 h 2974671"/>
                <a:gd name="csX10" fmla="*/ 1337769 w 1876877"/>
                <a:gd name="csY10" fmla="*/ 2972572 h 2974671"/>
                <a:gd name="csX11" fmla="*/ 1189819 w 1876877"/>
                <a:gd name="csY11" fmla="*/ 2949992 h 2974671"/>
                <a:gd name="csX12" fmla="*/ 0 w 1876877"/>
                <a:gd name="csY12" fmla="*/ 1490133 h 2974671"/>
                <a:gd name="csX13" fmla="*/ 1337776 w 1876877"/>
                <a:gd name="csY13" fmla="*/ 7694 h 2974671"/>
                <a:gd name="csX14" fmla="*/ 1455879 w 1876877"/>
                <a:gd name="csY14" fmla="*/ 1730 h 2974671"/>
                <a:gd name="csX15" fmla="*/ 1469969 w 1876877"/>
                <a:gd name="csY15" fmla="*/ 310 h 2974671"/>
                <a:gd name="csX16" fmla="*/ 1474652 w 1876877"/>
                <a:gd name="csY16" fmla="*/ 782 h 29746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876877" h="2974671">
                  <a:moveTo>
                    <a:pt x="1490133" y="0"/>
                  </a:moveTo>
                  <a:lnTo>
                    <a:pt x="1490133" y="2342"/>
                  </a:lnTo>
                  <a:lnTo>
                    <a:pt x="1551975" y="8573"/>
                  </a:lnTo>
                  <a:cubicBezTo>
                    <a:pt x="1737396" y="46497"/>
                    <a:pt x="1876877" y="210477"/>
                    <a:pt x="1876877" y="407018"/>
                  </a:cubicBezTo>
                  <a:cubicBezTo>
                    <a:pt x="1876877" y="603560"/>
                    <a:pt x="1737396" y="767539"/>
                    <a:pt x="1551975" y="805463"/>
                  </a:cubicBezTo>
                  <a:lnTo>
                    <a:pt x="1490133" y="811694"/>
                  </a:lnTo>
                  <a:lnTo>
                    <a:pt x="1490133" y="812800"/>
                  </a:lnTo>
                  <a:cubicBezTo>
                    <a:pt x="891604" y="812800"/>
                    <a:pt x="406400" y="1298004"/>
                    <a:pt x="406400" y="1896533"/>
                  </a:cubicBezTo>
                  <a:cubicBezTo>
                    <a:pt x="406400" y="2420246"/>
                    <a:pt x="777884" y="2857195"/>
                    <a:pt x="1271723" y="2958248"/>
                  </a:cubicBezTo>
                  <a:lnTo>
                    <a:pt x="1379324" y="2974671"/>
                  </a:lnTo>
                  <a:lnTo>
                    <a:pt x="1337769" y="2972572"/>
                  </a:lnTo>
                  <a:lnTo>
                    <a:pt x="1189819" y="2949992"/>
                  </a:lnTo>
                  <a:cubicBezTo>
                    <a:pt x="510790" y="2811043"/>
                    <a:pt x="0" y="2210239"/>
                    <a:pt x="0" y="1490133"/>
                  </a:cubicBezTo>
                  <a:cubicBezTo>
                    <a:pt x="0" y="718591"/>
                    <a:pt x="586367" y="84003"/>
                    <a:pt x="1337776" y="7694"/>
                  </a:cubicBezTo>
                  <a:lnTo>
                    <a:pt x="1455879" y="1730"/>
                  </a:lnTo>
                  <a:lnTo>
                    <a:pt x="1469969" y="310"/>
                  </a:lnTo>
                  <a:lnTo>
                    <a:pt x="1474652" y="782"/>
                  </a:lnTo>
                  <a:close/>
                </a:path>
              </a:pathLst>
            </a:custGeom>
            <a:gradFill>
              <a:gsLst>
                <a:gs pos="34000">
                  <a:srgbClr val="EC8014"/>
                </a:gs>
                <a:gs pos="0">
                  <a:schemeClr val="bg1">
                    <a:lumMod val="95000"/>
                  </a:schemeClr>
                </a:gs>
                <a:gs pos="100000">
                  <a:srgbClr val="EC8014"/>
                </a:gs>
              </a:gsLst>
              <a:lin ang="5400000" scaled="1"/>
            </a:gradFill>
            <a:ln>
              <a:noFill/>
            </a:ln>
            <a:effectLst>
              <a:outerShdw blurRad="317500" dist="88900" dir="2700000" sx="103000" sy="103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562EC2E-8CB1-FC94-905E-885042F595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371" t="47509" r="47021" b="-1718"/>
            <a:stretch>
              <a:fillRect/>
            </a:stretch>
          </p:blipFill>
          <p:spPr>
            <a:xfrm>
              <a:off x="3473079" y="3210652"/>
              <a:ext cx="682212" cy="81225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FAE08D2-73D5-600E-4911-378248BEDBAD}"/>
              </a:ext>
            </a:extLst>
          </p:cNvPr>
          <p:cNvGrpSpPr/>
          <p:nvPr/>
        </p:nvGrpSpPr>
        <p:grpSpPr>
          <a:xfrm>
            <a:off x="2028923" y="2343317"/>
            <a:ext cx="2293105" cy="3799678"/>
            <a:chOff x="2028923" y="2343317"/>
            <a:chExt cx="2293105" cy="3799678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3A05A85-95A1-F3E6-FF67-9E6585B9FE4C}"/>
                </a:ext>
              </a:extLst>
            </p:cNvPr>
            <p:cNvSpPr/>
            <p:nvPr/>
          </p:nvSpPr>
          <p:spPr>
            <a:xfrm>
              <a:off x="2028923" y="2357623"/>
              <a:ext cx="2293105" cy="3785372"/>
            </a:xfrm>
            <a:custGeom>
              <a:avLst/>
              <a:gdLst>
                <a:gd name="csX0" fmla="*/ 1896533 w 2293105"/>
                <a:gd name="csY0" fmla="*/ 0 h 3785372"/>
                <a:gd name="csX1" fmla="*/ 1896533 w 2293105"/>
                <a:gd name="csY1" fmla="*/ 1043 h 3785372"/>
                <a:gd name="csX2" fmla="*/ 1968203 w 2293105"/>
                <a:gd name="csY2" fmla="*/ 8264 h 3785372"/>
                <a:gd name="csX3" fmla="*/ 2293105 w 2293105"/>
                <a:gd name="csY3" fmla="*/ 406709 h 3785372"/>
                <a:gd name="csX4" fmla="*/ 1968203 w 2293105"/>
                <a:gd name="csY4" fmla="*/ 805154 h 3785372"/>
                <a:gd name="csX5" fmla="*/ 1896533 w 2293105"/>
                <a:gd name="csY5" fmla="*/ 812376 h 3785372"/>
                <a:gd name="csX6" fmla="*/ 1896533 w 2293105"/>
                <a:gd name="csY6" fmla="*/ 812800 h 3785372"/>
                <a:gd name="csX7" fmla="*/ 1888088 w 2293105"/>
                <a:gd name="csY7" fmla="*/ 813227 h 3785372"/>
                <a:gd name="csX8" fmla="*/ 1886197 w 2293105"/>
                <a:gd name="csY8" fmla="*/ 813417 h 3785372"/>
                <a:gd name="csX9" fmla="*/ 1885569 w 2293105"/>
                <a:gd name="csY9" fmla="*/ 813354 h 3785372"/>
                <a:gd name="csX10" fmla="*/ 1744176 w 2293105"/>
                <a:gd name="csY10" fmla="*/ 820494 h 3785372"/>
                <a:gd name="csX11" fmla="*/ 406400 w 2293105"/>
                <a:gd name="csY11" fmla="*/ 2302933 h 3785372"/>
                <a:gd name="csX12" fmla="*/ 1596219 w 2293105"/>
                <a:gd name="csY12" fmla="*/ 3762792 h 3785372"/>
                <a:gd name="csX13" fmla="*/ 1744169 w 2293105"/>
                <a:gd name="csY13" fmla="*/ 3785372 h 3785372"/>
                <a:gd name="csX14" fmla="*/ 1702624 w 2293105"/>
                <a:gd name="csY14" fmla="*/ 3783274 h 3785372"/>
                <a:gd name="csX15" fmla="*/ 0 w 2293105"/>
                <a:gd name="csY15" fmla="*/ 1896533 h 3785372"/>
                <a:gd name="csX16" fmla="*/ 1702624 w 2293105"/>
                <a:gd name="csY16" fmla="*/ 9792 h 3785372"/>
                <a:gd name="csX17" fmla="*/ 1875834 w 2293105"/>
                <a:gd name="csY17" fmla="*/ 1045 h 3785372"/>
                <a:gd name="csX18" fmla="*/ 1886197 w 2293105"/>
                <a:gd name="csY18" fmla="*/ 1 h 3785372"/>
                <a:gd name="csX19" fmla="*/ 1889641 w 2293105"/>
                <a:gd name="csY19" fmla="*/ 348 h 37853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2293105" h="3785372">
                  <a:moveTo>
                    <a:pt x="1896533" y="0"/>
                  </a:moveTo>
                  <a:lnTo>
                    <a:pt x="1896533" y="1043"/>
                  </a:lnTo>
                  <a:lnTo>
                    <a:pt x="1968203" y="8264"/>
                  </a:lnTo>
                  <a:cubicBezTo>
                    <a:pt x="2153624" y="46188"/>
                    <a:pt x="2293105" y="210168"/>
                    <a:pt x="2293105" y="406709"/>
                  </a:cubicBezTo>
                  <a:cubicBezTo>
                    <a:pt x="2293105" y="603251"/>
                    <a:pt x="2153624" y="767230"/>
                    <a:pt x="1968203" y="805154"/>
                  </a:cubicBezTo>
                  <a:lnTo>
                    <a:pt x="1896533" y="812376"/>
                  </a:lnTo>
                  <a:lnTo>
                    <a:pt x="1896533" y="812800"/>
                  </a:lnTo>
                  <a:lnTo>
                    <a:pt x="1888088" y="813227"/>
                  </a:lnTo>
                  <a:lnTo>
                    <a:pt x="1886197" y="813417"/>
                  </a:lnTo>
                  <a:lnTo>
                    <a:pt x="1885569" y="813354"/>
                  </a:lnTo>
                  <a:lnTo>
                    <a:pt x="1744176" y="820494"/>
                  </a:lnTo>
                  <a:cubicBezTo>
                    <a:pt x="992767" y="896803"/>
                    <a:pt x="406400" y="1531391"/>
                    <a:pt x="406400" y="2302933"/>
                  </a:cubicBezTo>
                  <a:cubicBezTo>
                    <a:pt x="406400" y="3023039"/>
                    <a:pt x="917190" y="3623843"/>
                    <a:pt x="1596219" y="3762792"/>
                  </a:cubicBezTo>
                  <a:lnTo>
                    <a:pt x="1744169" y="3785372"/>
                  </a:lnTo>
                  <a:lnTo>
                    <a:pt x="1702624" y="3783274"/>
                  </a:lnTo>
                  <a:cubicBezTo>
                    <a:pt x="746285" y="3686153"/>
                    <a:pt x="0" y="2878495"/>
                    <a:pt x="0" y="1896533"/>
                  </a:cubicBezTo>
                  <a:cubicBezTo>
                    <a:pt x="0" y="914571"/>
                    <a:pt x="746286" y="106913"/>
                    <a:pt x="1702624" y="9792"/>
                  </a:cubicBezTo>
                  <a:lnTo>
                    <a:pt x="1875834" y="1045"/>
                  </a:lnTo>
                  <a:lnTo>
                    <a:pt x="1886197" y="1"/>
                  </a:lnTo>
                  <a:lnTo>
                    <a:pt x="1889641" y="348"/>
                  </a:lnTo>
                  <a:close/>
                </a:path>
              </a:pathLst>
            </a:custGeom>
            <a:gradFill>
              <a:gsLst>
                <a:gs pos="39000">
                  <a:srgbClr val="00B0F0"/>
                </a:gs>
                <a:gs pos="0">
                  <a:schemeClr val="bg1">
                    <a:lumMod val="95000"/>
                  </a:schemeClr>
                </a:gs>
                <a:gs pos="100000">
                  <a:srgbClr val="00B0F0"/>
                </a:gs>
              </a:gsLst>
              <a:lin ang="5400000" scaled="1"/>
            </a:gradFill>
            <a:ln>
              <a:noFill/>
            </a:ln>
            <a:effectLst>
              <a:outerShdw blurRad="317500" dist="88900" dir="2700000" sx="103000" sy="103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E8931487-A6CD-80C0-E3D4-E7D909393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08" t="37164" r="74908" b="26795"/>
            <a:stretch>
              <a:fillRect/>
            </a:stretch>
          </p:blipFill>
          <p:spPr>
            <a:xfrm>
              <a:off x="3403257" y="2343317"/>
              <a:ext cx="746432" cy="738664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34AA49-6229-CB1A-652F-D829BEEFD718}"/>
              </a:ext>
            </a:extLst>
          </p:cNvPr>
          <p:cNvGrpSpPr/>
          <p:nvPr/>
        </p:nvGrpSpPr>
        <p:grpSpPr>
          <a:xfrm>
            <a:off x="1622523" y="1544515"/>
            <a:ext cx="2709333" cy="4598481"/>
            <a:chOff x="1622523" y="1544515"/>
            <a:chExt cx="2709333" cy="4598481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628D1A1-7A51-ACF0-1C96-22B2FD3383EC}"/>
                </a:ext>
              </a:extLst>
            </p:cNvPr>
            <p:cNvSpPr/>
            <p:nvPr/>
          </p:nvSpPr>
          <p:spPr>
            <a:xfrm>
              <a:off x="1622523" y="1544515"/>
              <a:ext cx="2709333" cy="4598481"/>
            </a:xfrm>
            <a:custGeom>
              <a:avLst/>
              <a:gdLst>
                <a:gd name="csX0" fmla="*/ 2302425 w 2709333"/>
                <a:gd name="csY0" fmla="*/ 0 h 4598481"/>
                <a:gd name="csX1" fmla="*/ 2709333 w 2709333"/>
                <a:gd name="csY1" fmla="*/ 406708 h 4598481"/>
                <a:gd name="csX2" fmla="*/ 2302425 w 2709333"/>
                <a:gd name="csY2" fmla="*/ 813416 h 4598481"/>
                <a:gd name="csX3" fmla="*/ 2300558 w 2709333"/>
                <a:gd name="csY3" fmla="*/ 813228 h 4598481"/>
                <a:gd name="csX4" fmla="*/ 2109024 w 2709333"/>
                <a:gd name="csY4" fmla="*/ 822900 h 4598481"/>
                <a:gd name="csX5" fmla="*/ 406400 w 2709333"/>
                <a:gd name="csY5" fmla="*/ 2709641 h 4598481"/>
                <a:gd name="csX6" fmla="*/ 2109024 w 2709333"/>
                <a:gd name="csY6" fmla="*/ 4596382 h 4598481"/>
                <a:gd name="csX7" fmla="*/ 2150569 w 2709333"/>
                <a:gd name="csY7" fmla="*/ 4598480 h 4598481"/>
                <a:gd name="csX8" fmla="*/ 2150571 w 2709333"/>
                <a:gd name="csY8" fmla="*/ 4598481 h 4598481"/>
                <a:gd name="csX9" fmla="*/ 2067471 w 2709333"/>
                <a:gd name="csY9" fmla="*/ 4594284 h 4598481"/>
                <a:gd name="csX10" fmla="*/ 0 w 2709333"/>
                <a:gd name="csY10" fmla="*/ 2303241 h 4598481"/>
                <a:gd name="csX11" fmla="*/ 2067472 w 2709333"/>
                <a:gd name="csY11" fmla="*/ 12198 h 4598481"/>
                <a:gd name="csX12" fmla="*/ 2295787 w 2709333"/>
                <a:gd name="csY12" fmla="*/ 669 h 45984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709333" h="4598481">
                  <a:moveTo>
                    <a:pt x="2302425" y="0"/>
                  </a:moveTo>
                  <a:cubicBezTo>
                    <a:pt x="2527154" y="0"/>
                    <a:pt x="2709333" y="182089"/>
                    <a:pt x="2709333" y="406708"/>
                  </a:cubicBezTo>
                  <a:cubicBezTo>
                    <a:pt x="2709333" y="631327"/>
                    <a:pt x="2527154" y="813416"/>
                    <a:pt x="2302425" y="813416"/>
                  </a:cubicBezTo>
                  <a:lnTo>
                    <a:pt x="2300558" y="813228"/>
                  </a:lnTo>
                  <a:lnTo>
                    <a:pt x="2109024" y="822900"/>
                  </a:lnTo>
                  <a:cubicBezTo>
                    <a:pt x="1152686" y="920021"/>
                    <a:pt x="406400" y="1727679"/>
                    <a:pt x="406400" y="2709641"/>
                  </a:cubicBezTo>
                  <a:cubicBezTo>
                    <a:pt x="406400" y="3691603"/>
                    <a:pt x="1152685" y="4499261"/>
                    <a:pt x="2109024" y="4596382"/>
                  </a:cubicBezTo>
                  <a:lnTo>
                    <a:pt x="2150569" y="4598480"/>
                  </a:lnTo>
                  <a:lnTo>
                    <a:pt x="2150571" y="4598481"/>
                  </a:lnTo>
                  <a:lnTo>
                    <a:pt x="2067471" y="4594284"/>
                  </a:lnTo>
                  <a:cubicBezTo>
                    <a:pt x="906203" y="4476351"/>
                    <a:pt x="0" y="3495624"/>
                    <a:pt x="0" y="2303241"/>
                  </a:cubicBezTo>
                  <a:cubicBezTo>
                    <a:pt x="0" y="1110858"/>
                    <a:pt x="906204" y="130131"/>
                    <a:pt x="2067472" y="12198"/>
                  </a:cubicBezTo>
                  <a:lnTo>
                    <a:pt x="2295787" y="669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20000">
                  <a:srgbClr val="EA8AA5"/>
                </a:gs>
                <a:gs pos="100000">
                  <a:srgbClr val="F489A7"/>
                </a:gs>
              </a:gsLst>
              <a:lin ang="5400000" scaled="1"/>
            </a:gradFill>
            <a:ln>
              <a:noFill/>
            </a:ln>
            <a:effectLst>
              <a:outerShdw blurRad="317500" dist="88900" dir="2700000" sx="103000" sy="103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DA46056-10EA-6D4F-0916-E68AF544F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661" t="28635" r="38145" b="25717"/>
            <a:stretch>
              <a:fillRect/>
            </a:stretch>
          </p:blipFill>
          <p:spPr>
            <a:xfrm>
              <a:off x="3403257" y="1576149"/>
              <a:ext cx="693041" cy="735534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05581E0-3F99-8CDF-A3A1-1E62EA9241EB}"/>
              </a:ext>
            </a:extLst>
          </p:cNvPr>
          <p:cNvGrpSpPr/>
          <p:nvPr/>
        </p:nvGrpSpPr>
        <p:grpSpPr>
          <a:xfrm>
            <a:off x="4842933" y="3170423"/>
            <a:ext cx="6756400" cy="772954"/>
            <a:chOff x="4842933" y="3170423"/>
            <a:chExt cx="6756400" cy="77295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94E9455-523E-55AE-2BC0-E9C3B810EEDF}"/>
                </a:ext>
              </a:extLst>
            </p:cNvPr>
            <p:cNvSpPr txBox="1"/>
            <p:nvPr/>
          </p:nvSpPr>
          <p:spPr>
            <a:xfrm>
              <a:off x="4842933" y="3420157"/>
              <a:ext cx="67564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/>
                <a:t>Without systematic analysis, it is difficult to understand regional pricing differences, specialization-wise variations, and premium consultation segments.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C6074CE-E370-F0C0-9D35-8EBE090B32C0}"/>
                </a:ext>
              </a:extLst>
            </p:cNvPr>
            <p:cNvSpPr txBox="1"/>
            <p:nvPr/>
          </p:nvSpPr>
          <p:spPr>
            <a:xfrm>
              <a:off x="4842933" y="3170423"/>
              <a:ext cx="19749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i="1" u="sng" dirty="0"/>
                <a:t>BUSINESS PROBLEM </a:t>
              </a:r>
              <a:r>
                <a:rPr lang="en-US" sz="1400" b="1" i="1" dirty="0"/>
                <a:t>-04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0C013F6-7F2B-C58E-F91B-184D2173636B}"/>
              </a:ext>
            </a:extLst>
          </p:cNvPr>
          <p:cNvGrpSpPr/>
          <p:nvPr/>
        </p:nvGrpSpPr>
        <p:grpSpPr>
          <a:xfrm>
            <a:off x="4842933" y="2343000"/>
            <a:ext cx="6756400" cy="744438"/>
            <a:chOff x="4842933" y="2363420"/>
            <a:chExt cx="6756400" cy="74443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CD4AFC9-19CE-EFCD-4285-AA2F9F5AAE4B}"/>
                </a:ext>
              </a:extLst>
            </p:cNvPr>
            <p:cNvSpPr txBox="1"/>
            <p:nvPr/>
          </p:nvSpPr>
          <p:spPr>
            <a:xfrm>
              <a:off x="4842933" y="2584638"/>
              <a:ext cx="67564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/>
                <a:t>The growing availability of doctor-level data on digital healthcare platforms creates an opportunity to identify meaningful patterns in consultation pricing.</a:t>
              </a:r>
              <a:endParaRPr lang="en-US" sz="1400" b="1" i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EAC02EA-ACF6-9873-4C6C-CBDBA46DA3CA}"/>
                </a:ext>
              </a:extLst>
            </p:cNvPr>
            <p:cNvSpPr txBox="1"/>
            <p:nvPr/>
          </p:nvSpPr>
          <p:spPr>
            <a:xfrm>
              <a:off x="4858152" y="2363420"/>
              <a:ext cx="19749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i="1" u="sng" dirty="0"/>
                <a:t>BUSINESS PROBLEM </a:t>
              </a:r>
              <a:r>
                <a:rPr lang="en-US" sz="1400" b="1" i="1" dirty="0"/>
                <a:t>-03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9B5819A-3303-778A-D142-2BE59C0C9ED4}"/>
              </a:ext>
            </a:extLst>
          </p:cNvPr>
          <p:cNvGrpSpPr/>
          <p:nvPr/>
        </p:nvGrpSpPr>
        <p:grpSpPr>
          <a:xfrm>
            <a:off x="4842933" y="1536741"/>
            <a:ext cx="6756400" cy="723275"/>
            <a:chOff x="4842933" y="1455931"/>
            <a:chExt cx="6756400" cy="723275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C43AB0A-4571-6A6F-C453-F2B01AE29797}"/>
                </a:ext>
              </a:extLst>
            </p:cNvPr>
            <p:cNvSpPr txBox="1"/>
            <p:nvPr/>
          </p:nvSpPr>
          <p:spPr>
            <a:xfrm>
              <a:off x="4842933" y="1655986"/>
              <a:ext cx="675640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/>
                <a:t>Patients may face uncertainty when choosing healthcare providers because consultation fees can differ significantly across doctors, cities, and specializations.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F8F061-F3B3-5417-CE2E-6D9D113B9501}"/>
                </a:ext>
              </a:extLst>
            </p:cNvPr>
            <p:cNvSpPr txBox="1"/>
            <p:nvPr/>
          </p:nvSpPr>
          <p:spPr>
            <a:xfrm>
              <a:off x="4858152" y="1455931"/>
              <a:ext cx="19749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i="1" u="sng" dirty="0"/>
                <a:t>BUSINESS PROBLEM </a:t>
              </a:r>
              <a:r>
                <a:rPr lang="en-US" sz="1400" b="1" i="1" dirty="0"/>
                <a:t>-02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CC69B73-8C2C-1A07-F29A-2F47A017B394}"/>
              </a:ext>
            </a:extLst>
          </p:cNvPr>
          <p:cNvGrpSpPr/>
          <p:nvPr/>
        </p:nvGrpSpPr>
        <p:grpSpPr>
          <a:xfrm>
            <a:off x="4842933" y="728306"/>
            <a:ext cx="6519334" cy="725451"/>
            <a:chOff x="4842933" y="728306"/>
            <a:chExt cx="6519334" cy="725451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C7316B3-9819-0938-6970-387137736043}"/>
                </a:ext>
              </a:extLst>
            </p:cNvPr>
            <p:cNvSpPr txBox="1"/>
            <p:nvPr/>
          </p:nvSpPr>
          <p:spPr>
            <a:xfrm>
              <a:off x="4842933" y="930537"/>
              <a:ext cx="651933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i="1" dirty="0"/>
                <a:t>Consultation fee structures across cities and medical specializations vary considerably, making healthcare pricing difficult to compare and interpret.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67CC9D-4FD4-4B4E-1DD7-C74A38D1AC1B}"/>
                </a:ext>
              </a:extLst>
            </p:cNvPr>
            <p:cNvSpPr txBox="1"/>
            <p:nvPr/>
          </p:nvSpPr>
          <p:spPr>
            <a:xfrm>
              <a:off x="4858152" y="728306"/>
              <a:ext cx="19749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i="1" u="sng" dirty="0"/>
                <a:t>BUSINESS PROBLEM </a:t>
              </a:r>
              <a:r>
                <a:rPr lang="en-US" sz="1400" b="1" i="1" dirty="0"/>
                <a:t>-01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8757500-09E4-81BB-3427-10D2DA524918}"/>
              </a:ext>
            </a:extLst>
          </p:cNvPr>
          <p:cNvGrpSpPr/>
          <p:nvPr/>
        </p:nvGrpSpPr>
        <p:grpSpPr>
          <a:xfrm>
            <a:off x="1216123" y="731406"/>
            <a:ext cx="3125561" cy="5419285"/>
            <a:chOff x="1216123" y="731406"/>
            <a:chExt cx="3125561" cy="5419285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C642225-68C0-5FAD-B565-1774EE2A6DB1}"/>
                </a:ext>
              </a:extLst>
            </p:cNvPr>
            <p:cNvSpPr/>
            <p:nvPr/>
          </p:nvSpPr>
          <p:spPr>
            <a:xfrm>
              <a:off x="1216123" y="731406"/>
              <a:ext cx="3125561" cy="5419285"/>
            </a:xfrm>
            <a:custGeom>
              <a:avLst/>
              <a:gdLst>
                <a:gd name="csX0" fmla="*/ 2718653 w 3125561"/>
                <a:gd name="csY0" fmla="*/ 0 h 5419285"/>
                <a:gd name="csX1" fmla="*/ 3125561 w 3125561"/>
                <a:gd name="csY1" fmla="*/ 406708 h 5419285"/>
                <a:gd name="csX2" fmla="*/ 2718653 w 3125561"/>
                <a:gd name="csY2" fmla="*/ 813416 h 5419285"/>
                <a:gd name="csX3" fmla="*/ 2709333 w 3125561"/>
                <a:gd name="csY3" fmla="*/ 812477 h 5419285"/>
                <a:gd name="csX4" fmla="*/ 2709333 w 3125561"/>
                <a:gd name="csY4" fmla="*/ 813417 h 5419285"/>
                <a:gd name="csX5" fmla="*/ 406400 w 3125561"/>
                <a:gd name="csY5" fmla="*/ 3116350 h 5419285"/>
                <a:gd name="csX6" fmla="*/ 2473871 w 3125561"/>
                <a:gd name="csY6" fmla="*/ 5407393 h 5419285"/>
                <a:gd name="csX7" fmla="*/ 2556971 w 3125561"/>
                <a:gd name="csY7" fmla="*/ 5411590 h 5419285"/>
                <a:gd name="csX8" fmla="*/ 2556976 w 3125561"/>
                <a:gd name="csY8" fmla="*/ 5411590 h 5419285"/>
                <a:gd name="csX9" fmla="*/ 2709333 w 3125561"/>
                <a:gd name="csY9" fmla="*/ 5419283 h 5419285"/>
                <a:gd name="csX10" fmla="*/ 2709333 w 3125561"/>
                <a:gd name="csY10" fmla="*/ 5419285 h 5419285"/>
                <a:gd name="csX11" fmla="*/ 2432320 w 3125561"/>
                <a:gd name="csY11" fmla="*/ 5405297 h 5419285"/>
                <a:gd name="csX12" fmla="*/ 0 w 3125561"/>
                <a:gd name="csY12" fmla="*/ 2709951 h 5419285"/>
                <a:gd name="csX13" fmla="*/ 2432320 w 3125561"/>
                <a:gd name="csY13" fmla="*/ 14605 h 5419285"/>
                <a:gd name="csX14" fmla="*/ 2709333 w 3125561"/>
                <a:gd name="csY14" fmla="*/ 617 h 5419285"/>
                <a:gd name="csX15" fmla="*/ 2709333 w 3125561"/>
                <a:gd name="csY15" fmla="*/ 939 h 54192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3125561" h="5419285">
                  <a:moveTo>
                    <a:pt x="2718653" y="0"/>
                  </a:moveTo>
                  <a:cubicBezTo>
                    <a:pt x="2943382" y="0"/>
                    <a:pt x="3125561" y="182089"/>
                    <a:pt x="3125561" y="406708"/>
                  </a:cubicBezTo>
                  <a:cubicBezTo>
                    <a:pt x="3125561" y="631327"/>
                    <a:pt x="2943382" y="813416"/>
                    <a:pt x="2718653" y="813416"/>
                  </a:cubicBezTo>
                  <a:lnTo>
                    <a:pt x="2709333" y="812477"/>
                  </a:lnTo>
                  <a:lnTo>
                    <a:pt x="2709333" y="813417"/>
                  </a:lnTo>
                  <a:cubicBezTo>
                    <a:pt x="1437458" y="813417"/>
                    <a:pt x="406400" y="1844475"/>
                    <a:pt x="406400" y="3116350"/>
                  </a:cubicBezTo>
                  <a:cubicBezTo>
                    <a:pt x="406400" y="4308733"/>
                    <a:pt x="1312603" y="5289460"/>
                    <a:pt x="2473871" y="5407393"/>
                  </a:cubicBezTo>
                  <a:lnTo>
                    <a:pt x="2556971" y="5411590"/>
                  </a:lnTo>
                  <a:lnTo>
                    <a:pt x="2556976" y="5411590"/>
                  </a:lnTo>
                  <a:cubicBezTo>
                    <a:pt x="2607069" y="5416677"/>
                    <a:pt x="2657897" y="5419283"/>
                    <a:pt x="2709333" y="5419283"/>
                  </a:cubicBezTo>
                  <a:lnTo>
                    <a:pt x="2709333" y="5419285"/>
                  </a:lnTo>
                  <a:lnTo>
                    <a:pt x="2432320" y="5405297"/>
                  </a:lnTo>
                  <a:cubicBezTo>
                    <a:pt x="1066122" y="5266552"/>
                    <a:pt x="0" y="4112755"/>
                    <a:pt x="0" y="2709951"/>
                  </a:cubicBezTo>
                  <a:cubicBezTo>
                    <a:pt x="0" y="1307147"/>
                    <a:pt x="1066122" y="153350"/>
                    <a:pt x="2432320" y="14605"/>
                  </a:cubicBezTo>
                  <a:lnTo>
                    <a:pt x="2709333" y="617"/>
                  </a:lnTo>
                  <a:lnTo>
                    <a:pt x="2709333" y="939"/>
                  </a:lnTo>
                  <a:close/>
                </a:path>
              </a:pathLst>
            </a:custGeom>
            <a:gradFill>
              <a:gsLst>
                <a:gs pos="5000">
                  <a:schemeClr val="bg1">
                    <a:lumMod val="95000"/>
                  </a:schemeClr>
                </a:gs>
                <a:gs pos="36000">
                  <a:srgbClr val="00B050"/>
                </a:gs>
                <a:gs pos="100000">
                  <a:srgbClr val="00B050"/>
                </a:gs>
              </a:gsLst>
              <a:lin ang="5400000" scaled="1"/>
            </a:gradFill>
            <a:ln>
              <a:noFill/>
            </a:ln>
            <a:effectLst>
              <a:outerShdw blurRad="317500" dist="88900" dir="2700000" sx="103000" sy="103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9EA5E8C-18C3-68F5-049F-C151291D0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03" t="10314" r="48290" b="65082"/>
            <a:stretch>
              <a:fillRect/>
            </a:stretch>
          </p:blipFill>
          <p:spPr>
            <a:xfrm>
              <a:off x="3313123" y="839558"/>
              <a:ext cx="783175" cy="576286"/>
            </a:xfrm>
            <a:prstGeom prst="rect">
              <a:avLst/>
            </a:prstGeom>
          </p:spPr>
        </p:pic>
      </p:grpSp>
      <p:pic>
        <p:nvPicPr>
          <p:cNvPr id="7" name="Graphic 6" descr="Connections with solid fill">
            <a:extLst>
              <a:ext uri="{FF2B5EF4-FFF2-40B4-BE49-F238E27FC236}">
                <a16:creationId xmlns:a16="http://schemas.microsoft.com/office/drawing/2014/main" id="{CF14D4DA-6381-C45D-C931-D725E88FC9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2542" y="4516821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7CF4DB-17DD-4487-1C46-A396AF2EDC57}"/>
              </a:ext>
            </a:extLst>
          </p:cNvPr>
          <p:cNvSpPr txBox="1"/>
          <p:nvPr/>
        </p:nvSpPr>
        <p:spPr>
          <a:xfrm>
            <a:off x="4748084" y="4463351"/>
            <a:ext cx="692890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100" u="sng" dirty="0"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BUSINESS</a:t>
            </a:r>
            <a:r>
              <a:rPr lang="en-US" sz="5100" dirty="0"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5100" u="sng" dirty="0"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PROBLEM</a:t>
            </a:r>
          </a:p>
        </p:txBody>
      </p:sp>
    </p:spTree>
    <p:extLst>
      <p:ext uri="{BB962C8B-B14F-4D97-AF65-F5344CB8AC3E}">
        <p14:creationId xmlns:p14="http://schemas.microsoft.com/office/powerpoint/2010/main" val="147327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accel="20000" fill="hold" nodeType="withEffect" p14:presetBounceEnd="6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7" dur="3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8" dur="3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20000" fill="hold" nodeType="withEffect" p14:presetBounceEnd="6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1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12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accel="20000" fill="hold" nodeType="withEffect" p14:presetBounceEnd="6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5" dur="3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16" dur="3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20000" fill="hold" nodeType="withEffect" p14:presetBounceEnd="69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9000">
                                          <p:cBhvr additive="base">
                                            <p:cTn id="19" dur="3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9000">
                                          <p:cBhvr additive="base">
                                            <p:cTn id="20" dur="3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accel="26667" fill="hold" nodeType="withEffect" p14:presetBounceEnd="46667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667">
                                          <p:cBhvr additive="base">
                                            <p:cTn id="23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667">
                                          <p:cBhvr additive="base">
                                            <p:cTn id="24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26667" fill="hold" nodeType="withEffect" p14:presetBounceEnd="46667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667">
                                          <p:cBhvr additive="base">
                                            <p:cTn id="2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667">
                                          <p:cBhvr additive="base">
                                            <p:cTn id="2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6667" fill="hold" nodeType="withEffect" p14:presetBounceEnd="46667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667">
                                          <p:cBhvr additive="base">
                                            <p:cTn id="31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667">
                                          <p:cBhvr additive="base">
                                            <p:cTn id="32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accel="26667" fill="hold" nodeType="withEffect" p14:presetBounceEnd="46667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6667">
                                          <p:cBhvr additive="base">
                                            <p:cTn id="35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6667">
                                          <p:cBhvr additive="base">
                                            <p:cTn id="36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7" presetClass="entr" presetSubtype="10" fill="hold" grpId="0" nodeType="withEffect">
                                      <p:stCondLst>
                                        <p:cond delay="2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6" accel="2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25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6" accel="2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32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accel="2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3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325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6" accel="2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3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325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2" accel="26667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12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accel="26667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12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2" accel="26667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1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accel="26667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12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53" presetClass="entr" presetSubtype="16" fill="hold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1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1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7" presetClass="entr" presetSubtype="10" fill="hold" grpId="0" nodeType="withEffect">
                                      <p:stCondLst>
                                        <p:cond delay="20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4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4271-FD4C-2D2A-1703-A98DBB5FF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oid 6">
            <a:extLst>
              <a:ext uri="{FF2B5EF4-FFF2-40B4-BE49-F238E27FC236}">
                <a16:creationId xmlns:a16="http://schemas.microsoft.com/office/drawing/2014/main" id="{19368B58-FB00-F87A-6F3B-B1E49ADB2499}"/>
              </a:ext>
            </a:extLst>
          </p:cNvPr>
          <p:cNvSpPr/>
          <p:nvPr/>
        </p:nvSpPr>
        <p:spPr>
          <a:xfrm>
            <a:off x="8595937" y="3552842"/>
            <a:ext cx="2308969" cy="328706"/>
          </a:xfrm>
          <a:prstGeom prst="trapezoid">
            <a:avLst>
              <a:gd name="adj" fmla="val 100000"/>
            </a:avLst>
          </a:prstGeom>
          <a:solidFill>
            <a:srgbClr val="B4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Trapezoid 7">
            <a:extLst>
              <a:ext uri="{FF2B5EF4-FFF2-40B4-BE49-F238E27FC236}">
                <a16:creationId xmlns:a16="http://schemas.microsoft.com/office/drawing/2014/main" id="{24DFA083-A362-9B01-2653-00BA29CD5A06}"/>
              </a:ext>
            </a:extLst>
          </p:cNvPr>
          <p:cNvSpPr/>
          <p:nvPr/>
        </p:nvSpPr>
        <p:spPr>
          <a:xfrm rot="10800000">
            <a:off x="8552143" y="2162054"/>
            <a:ext cx="2308969" cy="1831366"/>
          </a:xfrm>
          <a:prstGeom prst="trapezoid">
            <a:avLst>
              <a:gd name="adj" fmla="val 18109"/>
            </a:avLst>
          </a:prstGeom>
          <a:solidFill>
            <a:schemeClr val="bg1"/>
          </a:solidFill>
          <a:ln>
            <a:noFill/>
          </a:ln>
          <a:effectLst>
            <a:outerShdw blurRad="279400" dir="16200000" sx="103000" sy="103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C2519B75-1FC2-7A6D-EEB5-B0569E440023}"/>
              </a:ext>
            </a:extLst>
          </p:cNvPr>
          <p:cNvSpPr/>
          <p:nvPr/>
        </p:nvSpPr>
        <p:spPr>
          <a:xfrm rot="10800000">
            <a:off x="6052205" y="4532219"/>
            <a:ext cx="2308969" cy="328706"/>
          </a:xfrm>
          <a:prstGeom prst="trapezoid">
            <a:avLst>
              <a:gd name="adj" fmla="val 100000"/>
            </a:avLst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5DA73DE9-A65D-EE08-3D8C-CA91974A3320}"/>
              </a:ext>
            </a:extLst>
          </p:cNvPr>
          <p:cNvSpPr/>
          <p:nvPr/>
        </p:nvSpPr>
        <p:spPr>
          <a:xfrm>
            <a:off x="6095999" y="4420346"/>
            <a:ext cx="2308969" cy="1831366"/>
          </a:xfrm>
          <a:prstGeom prst="trapezoid">
            <a:avLst>
              <a:gd name="adj" fmla="val 18109"/>
            </a:avLst>
          </a:prstGeom>
          <a:solidFill>
            <a:schemeClr val="bg1"/>
          </a:solidFill>
          <a:ln>
            <a:noFill/>
          </a:ln>
          <a:effectLst>
            <a:outerShdw blurRad="279400" dir="16200000" sx="103000" sy="103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8E1A88DB-D5AB-065C-719F-5F2180D3F038}"/>
              </a:ext>
            </a:extLst>
          </p:cNvPr>
          <p:cNvSpPr/>
          <p:nvPr/>
        </p:nvSpPr>
        <p:spPr>
          <a:xfrm rot="10800000">
            <a:off x="1477166" y="4529049"/>
            <a:ext cx="2308969" cy="328706"/>
          </a:xfrm>
          <a:prstGeom prst="trapezoid">
            <a:avLst>
              <a:gd name="adj" fmla="val 100000"/>
            </a:avLst>
          </a:prstGeom>
          <a:solidFill>
            <a:srgbClr val="006C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rapezoid 19">
            <a:extLst>
              <a:ext uri="{FF2B5EF4-FFF2-40B4-BE49-F238E27FC236}">
                <a16:creationId xmlns:a16="http://schemas.microsoft.com/office/drawing/2014/main" id="{1599FEB7-0CAA-BBA2-E165-43386E786F6D}"/>
              </a:ext>
            </a:extLst>
          </p:cNvPr>
          <p:cNvSpPr/>
          <p:nvPr/>
        </p:nvSpPr>
        <p:spPr>
          <a:xfrm>
            <a:off x="1516147" y="4420346"/>
            <a:ext cx="2308969" cy="1831366"/>
          </a:xfrm>
          <a:prstGeom prst="trapezoid">
            <a:avLst>
              <a:gd name="adj" fmla="val 18109"/>
            </a:avLst>
          </a:prstGeom>
          <a:solidFill>
            <a:schemeClr val="bg1"/>
          </a:solidFill>
          <a:ln>
            <a:noFill/>
          </a:ln>
          <a:effectLst>
            <a:outerShdw blurRad="279400" dir="16200000" sx="103000" sy="103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rapezoid 1">
            <a:extLst>
              <a:ext uri="{FF2B5EF4-FFF2-40B4-BE49-F238E27FC236}">
                <a16:creationId xmlns:a16="http://schemas.microsoft.com/office/drawing/2014/main" id="{FFB49AF3-6979-90E4-CC0E-8D109BA4FA5E}"/>
              </a:ext>
            </a:extLst>
          </p:cNvPr>
          <p:cNvSpPr/>
          <p:nvPr/>
        </p:nvSpPr>
        <p:spPr>
          <a:xfrm>
            <a:off x="3787030" y="3521698"/>
            <a:ext cx="2308969" cy="328706"/>
          </a:xfrm>
          <a:prstGeom prst="trapezoid">
            <a:avLst>
              <a:gd name="adj" fmla="val 100000"/>
            </a:avLst>
          </a:prstGeom>
          <a:solidFill>
            <a:srgbClr val="7A5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FAC72AA3-F4AC-3DCA-1DDE-0894DC8AC4D5}"/>
              </a:ext>
            </a:extLst>
          </p:cNvPr>
          <p:cNvSpPr/>
          <p:nvPr/>
        </p:nvSpPr>
        <p:spPr>
          <a:xfrm rot="10800000">
            <a:off x="3743236" y="2134187"/>
            <a:ext cx="2308969" cy="1831366"/>
          </a:xfrm>
          <a:prstGeom prst="trapezoid">
            <a:avLst>
              <a:gd name="adj" fmla="val 18109"/>
            </a:avLst>
          </a:prstGeom>
          <a:solidFill>
            <a:schemeClr val="bg1"/>
          </a:solidFill>
          <a:ln>
            <a:noFill/>
          </a:ln>
          <a:effectLst>
            <a:outerShdw blurRad="279400" dir="16200000" sx="103000" sy="103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34E5F-DBEE-ACAD-DA1D-AAE9AAC3B56C}"/>
              </a:ext>
            </a:extLst>
          </p:cNvPr>
          <p:cNvSpPr txBox="1"/>
          <p:nvPr/>
        </p:nvSpPr>
        <p:spPr>
          <a:xfrm>
            <a:off x="1751459" y="5124341"/>
            <a:ext cx="1838344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Examine how consultation </a:t>
            </a:r>
            <a:r>
              <a:rPr lang="en-US" sz="1100" b="1" i="1" dirty="0"/>
              <a:t>fees vary across multiple urban healthcare</a:t>
            </a:r>
            <a:r>
              <a:rPr lang="en-US" sz="1100" i="1" dirty="0"/>
              <a:t> markets.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0BE6C5-10CB-F8BB-C90E-DECA461DF902}"/>
              </a:ext>
            </a:extLst>
          </p:cNvPr>
          <p:cNvSpPr txBox="1"/>
          <p:nvPr/>
        </p:nvSpPr>
        <p:spPr>
          <a:xfrm>
            <a:off x="3939634" y="2476677"/>
            <a:ext cx="19161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i="1" dirty="0"/>
              <a:t>Examine the relationship between </a:t>
            </a:r>
            <a:r>
              <a:rPr lang="en-US" sz="1100" i="1" dirty="0"/>
              <a:t>medical specialization, doctor experience, patient ratings, and consultation pricing.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F14A6F-1F38-9DAD-91C4-DC336760A666}"/>
              </a:ext>
            </a:extLst>
          </p:cNvPr>
          <p:cNvSpPr txBox="1"/>
          <p:nvPr/>
        </p:nvSpPr>
        <p:spPr>
          <a:xfrm>
            <a:off x="6251704" y="5039703"/>
            <a:ext cx="19975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Identify patterns that distinguish </a:t>
            </a:r>
            <a:r>
              <a:rPr lang="en-US" sz="1100" b="1" i="1" dirty="0"/>
              <a:t>budget, mid-range, and premium consultation segments</a:t>
            </a:r>
            <a:r>
              <a:rPr lang="en-US" sz="1100" i="1" dirty="0"/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EDD959-C143-552F-E4CE-4BA1372F8C3A}"/>
              </a:ext>
            </a:extLst>
          </p:cNvPr>
          <p:cNvSpPr txBox="1"/>
          <p:nvPr/>
        </p:nvSpPr>
        <p:spPr>
          <a:xfrm>
            <a:off x="8689049" y="2523812"/>
            <a:ext cx="20351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/>
              <a:t>Identify relationships between consultation fees, experience, and patient ratings.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7261AF8-7F58-E525-6B4F-259B439AC29A}"/>
              </a:ext>
            </a:extLst>
          </p:cNvPr>
          <p:cNvGrpSpPr/>
          <p:nvPr/>
        </p:nvGrpSpPr>
        <p:grpSpPr>
          <a:xfrm>
            <a:off x="1472353" y="3856849"/>
            <a:ext cx="2308969" cy="674231"/>
            <a:chOff x="1472353" y="3856849"/>
            <a:chExt cx="2308969" cy="674231"/>
          </a:xfrm>
        </p:grpSpPr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8D058496-81D7-9F79-3C32-4CE2967890FB}"/>
                </a:ext>
              </a:extLst>
            </p:cNvPr>
            <p:cNvSpPr/>
            <p:nvPr/>
          </p:nvSpPr>
          <p:spPr>
            <a:xfrm>
              <a:off x="1472353" y="3856849"/>
              <a:ext cx="2308969" cy="674231"/>
            </a:xfrm>
            <a:prstGeom prst="trapezoid">
              <a:avLst>
                <a:gd name="adj" fmla="val 47276"/>
              </a:avLst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41300" dist="203200" dir="5400000" sx="102000" sy="102000" algn="t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D427451-C5DB-7ABD-E21E-31C9C80AE1EB}"/>
                </a:ext>
              </a:extLst>
            </p:cNvPr>
            <p:cNvSpPr txBox="1"/>
            <p:nvPr/>
          </p:nvSpPr>
          <p:spPr>
            <a:xfrm>
              <a:off x="1713464" y="3984531"/>
              <a:ext cx="1822617" cy="369332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Objective - 01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E2E7AB3-078C-14EC-345C-3CD5B57CD731}"/>
              </a:ext>
            </a:extLst>
          </p:cNvPr>
          <p:cNvGrpSpPr/>
          <p:nvPr/>
        </p:nvGrpSpPr>
        <p:grpSpPr>
          <a:xfrm>
            <a:off x="3787031" y="3852390"/>
            <a:ext cx="2308969" cy="676656"/>
            <a:chOff x="3787031" y="3852390"/>
            <a:chExt cx="2308969" cy="676656"/>
          </a:xfrm>
        </p:grpSpPr>
        <p:sp>
          <p:nvSpPr>
            <p:cNvPr id="10" name="Trapezoid 9">
              <a:extLst>
                <a:ext uri="{FF2B5EF4-FFF2-40B4-BE49-F238E27FC236}">
                  <a16:creationId xmlns:a16="http://schemas.microsoft.com/office/drawing/2014/main" id="{5EE0EBA7-9E0B-0F67-3C1E-860EDBFAC984}"/>
                </a:ext>
              </a:extLst>
            </p:cNvPr>
            <p:cNvSpPr/>
            <p:nvPr/>
          </p:nvSpPr>
          <p:spPr>
            <a:xfrm rot="10800000">
              <a:off x="3787031" y="3852390"/>
              <a:ext cx="2308969" cy="676656"/>
            </a:xfrm>
            <a:prstGeom prst="trapezoid">
              <a:avLst>
                <a:gd name="adj" fmla="val 47276"/>
              </a:avLst>
            </a:prstGeom>
            <a:gradFill flip="none" rotWithShape="1">
              <a:gsLst>
                <a:gs pos="0">
                  <a:schemeClr val="accent4">
                    <a:shade val="30000"/>
                    <a:satMod val="115000"/>
                  </a:schemeClr>
                </a:gs>
                <a:gs pos="50000">
                  <a:schemeClr val="accent4">
                    <a:shade val="67500"/>
                    <a:satMod val="115000"/>
                  </a:schemeClr>
                </a:gs>
                <a:gs pos="100000">
                  <a:schemeClr val="accent4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41300" dist="203200" dir="16200000" sx="102000" sy="102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B51742E-96DB-B406-D97A-58C8FF4BA03E}"/>
                </a:ext>
              </a:extLst>
            </p:cNvPr>
            <p:cNvSpPr txBox="1"/>
            <p:nvPr/>
          </p:nvSpPr>
          <p:spPr>
            <a:xfrm>
              <a:off x="4033188" y="3965483"/>
              <a:ext cx="1822617" cy="369332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Objective - 02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7D90269-6DE8-75E6-9428-73A3F0AE7E08}"/>
              </a:ext>
            </a:extLst>
          </p:cNvPr>
          <p:cNvGrpSpPr/>
          <p:nvPr/>
        </p:nvGrpSpPr>
        <p:grpSpPr>
          <a:xfrm>
            <a:off x="6052204" y="3856848"/>
            <a:ext cx="2308969" cy="676656"/>
            <a:chOff x="6052204" y="3856848"/>
            <a:chExt cx="2308969" cy="676656"/>
          </a:xfrm>
        </p:grpSpPr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1F3E342E-AEB1-F65C-DC5D-8524337039B8}"/>
                </a:ext>
              </a:extLst>
            </p:cNvPr>
            <p:cNvSpPr/>
            <p:nvPr/>
          </p:nvSpPr>
          <p:spPr>
            <a:xfrm>
              <a:off x="6052204" y="3856848"/>
              <a:ext cx="2308969" cy="676656"/>
            </a:xfrm>
            <a:prstGeom prst="trapezoid">
              <a:avLst>
                <a:gd name="adj" fmla="val 47276"/>
              </a:avLst>
            </a:prstGeom>
            <a:gradFill flip="none" rotWithShape="1">
              <a:gsLst>
                <a:gs pos="0">
                  <a:srgbClr val="009BD2">
                    <a:shade val="30000"/>
                    <a:satMod val="115000"/>
                  </a:srgbClr>
                </a:gs>
                <a:gs pos="50000">
                  <a:srgbClr val="009BD2">
                    <a:shade val="67500"/>
                    <a:satMod val="115000"/>
                  </a:srgbClr>
                </a:gs>
                <a:gs pos="100000">
                  <a:srgbClr val="009BD2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241300" dist="203200" dir="5400000" sx="102000" sy="102000" algn="t" rotWithShape="0">
                <a:schemeClr val="tx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B0F0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625A88-9B49-7ECA-A2B5-A3DFC38654EA}"/>
                </a:ext>
              </a:extLst>
            </p:cNvPr>
            <p:cNvSpPr txBox="1"/>
            <p:nvPr/>
          </p:nvSpPr>
          <p:spPr>
            <a:xfrm>
              <a:off x="6342158" y="3984531"/>
              <a:ext cx="1822617" cy="369332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Objective - 03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6E40E71-1EFA-BC1A-87FC-0FD19AC91B7A}"/>
              </a:ext>
            </a:extLst>
          </p:cNvPr>
          <p:cNvGrpSpPr/>
          <p:nvPr/>
        </p:nvGrpSpPr>
        <p:grpSpPr>
          <a:xfrm>
            <a:off x="8595938" y="3880257"/>
            <a:ext cx="2308969" cy="676656"/>
            <a:chOff x="8595938" y="3880257"/>
            <a:chExt cx="2308969" cy="676656"/>
          </a:xfrm>
        </p:grpSpPr>
        <p:sp>
          <p:nvSpPr>
            <p:cNvPr id="11" name="Trapezoid 10">
              <a:extLst>
                <a:ext uri="{FF2B5EF4-FFF2-40B4-BE49-F238E27FC236}">
                  <a16:creationId xmlns:a16="http://schemas.microsoft.com/office/drawing/2014/main" id="{F552D1F9-B0AE-CD02-EEC0-E851EBF304F7}"/>
                </a:ext>
              </a:extLst>
            </p:cNvPr>
            <p:cNvSpPr/>
            <p:nvPr/>
          </p:nvSpPr>
          <p:spPr>
            <a:xfrm rot="10800000">
              <a:off x="8595938" y="3880257"/>
              <a:ext cx="2308969" cy="676656"/>
            </a:xfrm>
            <a:prstGeom prst="trapezoid">
              <a:avLst>
                <a:gd name="adj" fmla="val 47276"/>
              </a:avLst>
            </a:prstGeom>
            <a:solidFill>
              <a:srgbClr val="FF0000"/>
            </a:solidFill>
            <a:ln>
              <a:noFill/>
            </a:ln>
            <a:effectLst>
              <a:outerShdw blurRad="241300" dist="203200" dir="16200000" sx="102000" sy="102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1FACFA0-2E07-D5B3-DF7A-234E0921EC1B}"/>
                </a:ext>
              </a:extLst>
            </p:cNvPr>
            <p:cNvSpPr txBox="1"/>
            <p:nvPr/>
          </p:nvSpPr>
          <p:spPr>
            <a:xfrm>
              <a:off x="8842096" y="3965483"/>
              <a:ext cx="1822617" cy="369332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b="1" i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Objective - 04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F2A6AA50-4305-9AF4-A94B-17A756AC7B35}"/>
              </a:ext>
            </a:extLst>
          </p:cNvPr>
          <p:cNvSpPr txBox="1"/>
          <p:nvPr/>
        </p:nvSpPr>
        <p:spPr>
          <a:xfrm>
            <a:off x="3155612" y="277147"/>
            <a:ext cx="6373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u="sng" dirty="0">
                <a:gradFill flip="none" rotWithShape="1">
                  <a:gsLst>
                    <a:gs pos="0">
                      <a:schemeClr val="accent4">
                        <a:lumMod val="89000"/>
                      </a:schemeClr>
                    </a:gs>
                    <a:gs pos="23000">
                      <a:schemeClr val="accent4">
                        <a:lumMod val="89000"/>
                      </a:schemeClr>
                    </a:gs>
                    <a:gs pos="69000">
                      <a:schemeClr val="accent4">
                        <a:lumMod val="75000"/>
                      </a:schemeClr>
                    </a:gs>
                    <a:gs pos="97000">
                      <a:schemeClr val="accent4">
                        <a:lumMod val="7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43892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accel="55000" fill="hold" nodeType="withEffect" p14:presetBounceEnd="59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9000">
                                          <p:cBhvr additive="base">
                                            <p:cTn id="12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9000">
                                          <p:cBhvr additive="base">
                                            <p:cTn id="13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accel="55000" fill="hold" nodeType="withEffect" p14:presetBounceEnd="45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5000">
                                          <p:cBhvr additive="base">
                                            <p:cTn id="16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5000">
                                          <p:cBhvr additive="base">
                                            <p:cTn id="17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accel="73000" fill="hold" nodeType="withEffect" p14:presetBounceEnd="6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20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1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8" accel="60000" fill="hold" nodeType="withEffect" p14:presetBounceEnd="67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7000">
                                          <p:cBhvr additive="base">
                                            <p:cTn id="24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7000">
                                          <p:cBhvr additive="base">
                                            <p:cTn id="25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8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4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3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8" grpId="0" animBg="1"/>
          <p:bldP spid="12" grpId="0" animBg="1"/>
          <p:bldP spid="13" grpId="0" animBg="1"/>
          <p:bldP spid="19" grpId="0" animBg="1"/>
          <p:bldP spid="20" grpId="0" animBg="1"/>
          <p:bldP spid="2" grpId="0" animBg="1"/>
          <p:bldP spid="3" grpId="0" animBg="1"/>
          <p:bldP spid="16" grpId="0"/>
          <p:bldP spid="18" grpId="0"/>
          <p:bldP spid="23" grpId="0"/>
          <p:bldP spid="25" grpId="0"/>
          <p:bldP spid="39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8" accel="5500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0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2" presetClass="entr" presetSubtype="8" accel="55000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1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8" presetID="2" presetClass="entr" presetSubtype="8" accel="73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0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1" dur="10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2" presetID="2" presetClass="entr" presetSubtype="8" accel="6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28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9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4" dur="10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22" presetClass="entr" presetSubtype="4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7" dur="10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0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3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22" presetClass="entr" presetSubtype="1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4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8" grpId="0" animBg="1"/>
          <p:bldP spid="12" grpId="0" animBg="1"/>
          <p:bldP spid="13" grpId="0" animBg="1"/>
          <p:bldP spid="19" grpId="0" animBg="1"/>
          <p:bldP spid="20" grpId="0" animBg="1"/>
          <p:bldP spid="2" grpId="0" animBg="1"/>
          <p:bldP spid="3" grpId="0" animBg="1"/>
          <p:bldP spid="16" grpId="0"/>
          <p:bldP spid="18" grpId="0"/>
          <p:bldP spid="23" grpId="0"/>
          <p:bldP spid="25" grpId="0"/>
          <p:bldP spid="39" grpId="0"/>
        </p:bld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001A5B3-5D45-1525-F414-5CA630288370}"/>
              </a:ext>
            </a:extLst>
          </p:cNvPr>
          <p:cNvSpPr/>
          <p:nvPr/>
        </p:nvSpPr>
        <p:spPr>
          <a:xfrm>
            <a:off x="4994830" y="1836130"/>
            <a:ext cx="2857928" cy="2985928"/>
          </a:xfrm>
          <a:prstGeom prst="roundRect">
            <a:avLst>
              <a:gd name="adj" fmla="val 10809"/>
            </a:avLst>
          </a:prstGeom>
          <a:solidFill>
            <a:schemeClr val="accent1">
              <a:lumMod val="50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D4603B0-BCAC-18D2-9CCB-909E5D74700F}"/>
              </a:ext>
            </a:extLst>
          </p:cNvPr>
          <p:cNvSpPr/>
          <p:nvPr/>
        </p:nvSpPr>
        <p:spPr>
          <a:xfrm>
            <a:off x="5872415" y="2765086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76FE7D5-8C1D-3026-47D6-2996799F98F6}"/>
              </a:ext>
            </a:extLst>
          </p:cNvPr>
          <p:cNvSpPr/>
          <p:nvPr/>
        </p:nvSpPr>
        <p:spPr>
          <a:xfrm>
            <a:off x="5846729" y="2693165"/>
            <a:ext cx="1154130" cy="1271859"/>
          </a:xfrm>
          <a:prstGeom prst="roundRect">
            <a:avLst>
              <a:gd name="adj" fmla="val 10809"/>
            </a:avLst>
          </a:prstGeom>
          <a:solidFill>
            <a:srgbClr val="00091A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77F4044-C5F4-37A4-F941-A2092A861B15}"/>
              </a:ext>
            </a:extLst>
          </p:cNvPr>
          <p:cNvSpPr/>
          <p:nvPr/>
        </p:nvSpPr>
        <p:spPr>
          <a:xfrm>
            <a:off x="5872415" y="2765086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92FC3B5-078F-CBFC-C218-F0FB0DF117A8}"/>
              </a:ext>
            </a:extLst>
          </p:cNvPr>
          <p:cNvSpPr/>
          <p:nvPr/>
        </p:nvSpPr>
        <p:spPr>
          <a:xfrm>
            <a:off x="5872415" y="2765086"/>
            <a:ext cx="1102758" cy="1128017"/>
          </a:xfrm>
          <a:prstGeom prst="roundRect">
            <a:avLst>
              <a:gd name="adj" fmla="val 10809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FAF444F-38EC-C6BD-824E-1EA7BFEA1621}"/>
              </a:ext>
            </a:extLst>
          </p:cNvPr>
          <p:cNvSpPr/>
          <p:nvPr/>
        </p:nvSpPr>
        <p:spPr>
          <a:xfrm>
            <a:off x="5410933" y="2291511"/>
            <a:ext cx="2025722" cy="2075167"/>
          </a:xfrm>
          <a:prstGeom prst="roundRect">
            <a:avLst>
              <a:gd name="adj" fmla="val 10809"/>
            </a:avLst>
          </a:prstGeom>
          <a:solidFill>
            <a:srgbClr val="422A7E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E55CC75-6229-70B5-1378-088AA77B5E94}"/>
              </a:ext>
            </a:extLst>
          </p:cNvPr>
          <p:cNvSpPr/>
          <p:nvPr/>
        </p:nvSpPr>
        <p:spPr>
          <a:xfrm>
            <a:off x="5859145" y="2803828"/>
            <a:ext cx="1129299" cy="1050533"/>
          </a:xfrm>
          <a:prstGeom prst="roundRect">
            <a:avLst>
              <a:gd name="adj" fmla="val 1080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7C3BC37-181C-6972-5BDE-5F4298146BBD}"/>
              </a:ext>
            </a:extLst>
          </p:cNvPr>
          <p:cNvSpPr/>
          <p:nvPr/>
        </p:nvSpPr>
        <p:spPr>
          <a:xfrm>
            <a:off x="5872415" y="2765085"/>
            <a:ext cx="1102758" cy="1128018"/>
          </a:xfrm>
          <a:prstGeom prst="roundRect">
            <a:avLst>
              <a:gd name="adj" fmla="val 1080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CA3D1F-1A50-3893-C489-3E4AFE5979EF}"/>
              </a:ext>
            </a:extLst>
          </p:cNvPr>
          <p:cNvGrpSpPr/>
          <p:nvPr/>
        </p:nvGrpSpPr>
        <p:grpSpPr>
          <a:xfrm>
            <a:off x="5495908" y="2353794"/>
            <a:ext cx="1855772" cy="1950600"/>
            <a:chOff x="6139663" y="619868"/>
            <a:chExt cx="1855772" cy="19506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C7BD29E-58F2-B735-08BE-231917E75D52}"/>
                </a:ext>
              </a:extLst>
            </p:cNvPr>
            <p:cNvSpPr/>
            <p:nvPr/>
          </p:nvSpPr>
          <p:spPr>
            <a:xfrm>
              <a:off x="6139663" y="619868"/>
              <a:ext cx="1855772" cy="1950600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C0A4F10-31E6-7477-6FFC-88F3C7BB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3" t="41982" r="30899" b="43099"/>
            <a:stretch>
              <a:fillRect/>
            </a:stretch>
          </p:blipFill>
          <p:spPr>
            <a:xfrm>
              <a:off x="6192744" y="1405494"/>
              <a:ext cx="1710645" cy="371442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CB4F54D-555D-4DAB-A3B9-1AEBFCA4A32A}"/>
              </a:ext>
            </a:extLst>
          </p:cNvPr>
          <p:cNvGrpSpPr/>
          <p:nvPr/>
        </p:nvGrpSpPr>
        <p:grpSpPr>
          <a:xfrm>
            <a:off x="5410933" y="2291511"/>
            <a:ext cx="2025722" cy="2075167"/>
            <a:chOff x="1774004" y="4381716"/>
            <a:chExt cx="2025722" cy="207516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7C9880B1-56C6-18E1-BA73-4CCAE23707F4}"/>
                </a:ext>
              </a:extLst>
            </p:cNvPr>
            <p:cNvSpPr/>
            <p:nvPr/>
          </p:nvSpPr>
          <p:spPr>
            <a:xfrm>
              <a:off x="1774004" y="4381716"/>
              <a:ext cx="2025722" cy="2075167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D1A44A6-C413-3FBB-17FE-FB3EE92FA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8" t="39838" r="65393" b="10778"/>
            <a:stretch>
              <a:fillRect/>
            </a:stretch>
          </p:blipFill>
          <p:spPr>
            <a:xfrm>
              <a:off x="2210737" y="4522130"/>
              <a:ext cx="1206190" cy="158436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61869A3-EB1F-2A07-18CC-5F3005C11449}"/>
              </a:ext>
            </a:extLst>
          </p:cNvPr>
          <p:cNvGrpSpPr/>
          <p:nvPr/>
        </p:nvGrpSpPr>
        <p:grpSpPr>
          <a:xfrm>
            <a:off x="5761541" y="2682735"/>
            <a:ext cx="1324506" cy="1292718"/>
            <a:chOff x="4381502" y="1061453"/>
            <a:chExt cx="1324506" cy="1292718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BB8940FB-18A5-BF75-EB3B-92A337A7DC5B}"/>
                </a:ext>
              </a:extLst>
            </p:cNvPr>
            <p:cNvSpPr/>
            <p:nvPr/>
          </p:nvSpPr>
          <p:spPr>
            <a:xfrm>
              <a:off x="4381502" y="1061453"/>
              <a:ext cx="1324506" cy="1292718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6E23D1-27FF-6A09-1B63-5A7B0E71EF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480" t="43404" r="8345" b="14184"/>
            <a:stretch>
              <a:fillRect/>
            </a:stretch>
          </p:blipFill>
          <p:spPr>
            <a:xfrm>
              <a:off x="4579703" y="1229021"/>
              <a:ext cx="930162" cy="957581"/>
            </a:xfrm>
            <a:prstGeom prst="rect">
              <a:avLst/>
            </a:prstGeom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FD337C-C95B-8A39-AD46-0E0B3382676B}"/>
              </a:ext>
            </a:extLst>
          </p:cNvPr>
          <p:cNvSpPr/>
          <p:nvPr/>
        </p:nvSpPr>
        <p:spPr>
          <a:xfrm>
            <a:off x="5872415" y="2765086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5A454F9-A9A9-D613-6C52-57BC7836E6AF}"/>
              </a:ext>
            </a:extLst>
          </p:cNvPr>
          <p:cNvGrpSpPr/>
          <p:nvPr/>
        </p:nvGrpSpPr>
        <p:grpSpPr>
          <a:xfrm>
            <a:off x="5554321" y="2485863"/>
            <a:ext cx="1738947" cy="1686463"/>
            <a:chOff x="5560247" y="4864163"/>
            <a:chExt cx="1738947" cy="168646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043C89-3968-54D0-E8C6-44EE97C2ABED}"/>
                </a:ext>
              </a:extLst>
            </p:cNvPr>
            <p:cNvSpPr/>
            <p:nvPr/>
          </p:nvSpPr>
          <p:spPr>
            <a:xfrm>
              <a:off x="5560247" y="4864163"/>
              <a:ext cx="1710645" cy="1686463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57FC24-DAEF-E7FD-5CD3-75C63DD20A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01" t="4373" r="8345" b="63937"/>
            <a:stretch>
              <a:fillRect/>
            </a:stretch>
          </p:blipFill>
          <p:spPr>
            <a:xfrm>
              <a:off x="5585935" y="5320300"/>
              <a:ext cx="1713259" cy="66460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E3E08BD-5A0E-6B59-53BA-F122BA467648}"/>
              </a:ext>
            </a:extLst>
          </p:cNvPr>
          <p:cNvGrpSpPr/>
          <p:nvPr/>
        </p:nvGrpSpPr>
        <p:grpSpPr>
          <a:xfrm>
            <a:off x="5301343" y="2215881"/>
            <a:ext cx="2244902" cy="2226427"/>
            <a:chOff x="3625492" y="2560687"/>
            <a:chExt cx="2244902" cy="222642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03869637-7FC1-9769-7F6D-4C72291589F7}"/>
                </a:ext>
              </a:extLst>
            </p:cNvPr>
            <p:cNvSpPr/>
            <p:nvPr/>
          </p:nvSpPr>
          <p:spPr>
            <a:xfrm>
              <a:off x="3625492" y="2569172"/>
              <a:ext cx="2244902" cy="2217942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C484554-9E2B-DA97-0D8D-D7E5E45A6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440" t="20494" r="6699" b="29073"/>
            <a:stretch>
              <a:fillRect/>
            </a:stretch>
          </p:blipFill>
          <p:spPr>
            <a:xfrm>
              <a:off x="3953786" y="2560687"/>
              <a:ext cx="1540369" cy="1998895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FC81E1-965B-7CE9-F9FA-79E2AD21554B}"/>
              </a:ext>
            </a:extLst>
          </p:cNvPr>
          <p:cNvGrpSpPr/>
          <p:nvPr/>
        </p:nvGrpSpPr>
        <p:grpSpPr>
          <a:xfrm>
            <a:off x="5568472" y="2485863"/>
            <a:ext cx="1710645" cy="1686463"/>
            <a:chOff x="5942957" y="2695253"/>
            <a:chExt cx="1710645" cy="168646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243741AD-89EF-0D3A-1B8B-EB1C931FA063}"/>
                </a:ext>
              </a:extLst>
            </p:cNvPr>
            <p:cNvSpPr/>
            <p:nvPr/>
          </p:nvSpPr>
          <p:spPr>
            <a:xfrm>
              <a:off x="5942957" y="2695253"/>
              <a:ext cx="1710645" cy="1686463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A7F2547-B837-1A51-A455-707006852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62" t="31884" r="33863" b="34061"/>
            <a:stretch>
              <a:fillRect/>
            </a:stretch>
          </p:blipFill>
          <p:spPr>
            <a:xfrm>
              <a:off x="6024454" y="2831410"/>
              <a:ext cx="1581456" cy="120333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352320F-5524-22B0-7554-2B5AC4185659}"/>
              </a:ext>
            </a:extLst>
          </p:cNvPr>
          <p:cNvGrpSpPr/>
          <p:nvPr/>
        </p:nvGrpSpPr>
        <p:grpSpPr>
          <a:xfrm>
            <a:off x="5301343" y="2220123"/>
            <a:ext cx="2244902" cy="2217942"/>
            <a:chOff x="959780" y="547946"/>
            <a:chExt cx="2244902" cy="221794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FDD2FA3-F811-56A9-F5AA-48ECBC170320}"/>
                </a:ext>
              </a:extLst>
            </p:cNvPr>
            <p:cNvSpPr/>
            <p:nvPr/>
          </p:nvSpPr>
          <p:spPr>
            <a:xfrm>
              <a:off x="959780" y="547946"/>
              <a:ext cx="2244902" cy="2217942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56C190A-BF57-2A49-2746-EF2C91B30B24}"/>
                </a:ext>
              </a:extLst>
            </p:cNvPr>
            <p:cNvSpPr txBox="1"/>
            <p:nvPr/>
          </p:nvSpPr>
          <p:spPr>
            <a:xfrm>
              <a:off x="1252063" y="1775156"/>
              <a:ext cx="16200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ras Bold ITC" panose="020B0907030504020204" pitchFamily="34" charset="0"/>
                </a:rPr>
                <a:t>TOOLS AND LIBRARIES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3AB5C76-CE62-9098-C551-3E586EA44DC7}"/>
                </a:ext>
              </a:extLst>
            </p:cNvPr>
            <p:cNvGrpSpPr/>
            <p:nvPr/>
          </p:nvGrpSpPr>
          <p:grpSpPr>
            <a:xfrm>
              <a:off x="1575687" y="823295"/>
              <a:ext cx="829323" cy="947852"/>
              <a:chOff x="1492717" y="725273"/>
              <a:chExt cx="829323" cy="947852"/>
            </a:xfrm>
          </p:grpSpPr>
          <p:pic>
            <p:nvPicPr>
              <p:cNvPr id="21" name="Graphic 20" descr="Gears with solid fill">
                <a:extLst>
                  <a:ext uri="{FF2B5EF4-FFF2-40B4-BE49-F238E27FC236}">
                    <a16:creationId xmlns:a16="http://schemas.microsoft.com/office/drawing/2014/main" id="{B6FE3432-67FC-45D5-66D9-B2E490933A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92717" y="725273"/>
                <a:ext cx="668325" cy="668325"/>
              </a:xfrm>
              <a:prstGeom prst="rect">
                <a:avLst/>
              </a:prstGeom>
            </p:spPr>
          </p:pic>
          <p:pic>
            <p:nvPicPr>
              <p:cNvPr id="22" name="Graphic 21" descr="Gears with solid fill">
                <a:extLst>
                  <a:ext uri="{FF2B5EF4-FFF2-40B4-BE49-F238E27FC236}">
                    <a16:creationId xmlns:a16="http://schemas.microsoft.com/office/drawing/2014/main" id="{C0EBDBC5-59F5-76A3-4F92-8BA11675B9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53715" y="1004800"/>
                <a:ext cx="668325" cy="66832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05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CD7EF-E8FD-112A-3B60-AEFE5E3E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3B33B2C-9DF8-A0E7-85A7-2DCEC93F4777}"/>
              </a:ext>
            </a:extLst>
          </p:cNvPr>
          <p:cNvSpPr/>
          <p:nvPr/>
        </p:nvSpPr>
        <p:spPr>
          <a:xfrm>
            <a:off x="6296341" y="928523"/>
            <a:ext cx="2857928" cy="2985928"/>
          </a:xfrm>
          <a:prstGeom prst="roundRect">
            <a:avLst>
              <a:gd name="adj" fmla="val 10809"/>
            </a:avLst>
          </a:prstGeom>
          <a:solidFill>
            <a:schemeClr val="accent1">
              <a:lumMod val="50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7037DC-AE19-05A1-CD2F-FC0AF3F6A2BF}"/>
              </a:ext>
            </a:extLst>
          </p:cNvPr>
          <p:cNvSpPr/>
          <p:nvPr/>
        </p:nvSpPr>
        <p:spPr>
          <a:xfrm>
            <a:off x="8585768" y="187075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C5957D2-C8C9-7F25-C72F-B2CD25EF1101}"/>
              </a:ext>
            </a:extLst>
          </p:cNvPr>
          <p:cNvSpPr/>
          <p:nvPr/>
        </p:nvSpPr>
        <p:spPr>
          <a:xfrm>
            <a:off x="3582251" y="2157141"/>
            <a:ext cx="1154130" cy="1271859"/>
          </a:xfrm>
          <a:prstGeom prst="roundRect">
            <a:avLst>
              <a:gd name="adj" fmla="val 10809"/>
            </a:avLst>
          </a:prstGeom>
          <a:solidFill>
            <a:srgbClr val="00091A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7CB1AA-8AD9-9853-83BB-262D44F92B70}"/>
              </a:ext>
            </a:extLst>
          </p:cNvPr>
          <p:cNvSpPr/>
          <p:nvPr/>
        </p:nvSpPr>
        <p:spPr>
          <a:xfrm>
            <a:off x="2244898" y="3817707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09BFBB7-1249-DA4F-A3C5-72C42E35B5AB}"/>
              </a:ext>
            </a:extLst>
          </p:cNvPr>
          <p:cNvSpPr/>
          <p:nvPr/>
        </p:nvSpPr>
        <p:spPr>
          <a:xfrm>
            <a:off x="8388847" y="4223106"/>
            <a:ext cx="1102758" cy="1128017"/>
          </a:xfrm>
          <a:prstGeom prst="roundRect">
            <a:avLst>
              <a:gd name="adj" fmla="val 10809"/>
            </a:avLst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EF195F3-FF9A-ACAE-E9C0-41883F083104}"/>
              </a:ext>
            </a:extLst>
          </p:cNvPr>
          <p:cNvSpPr/>
          <p:nvPr/>
        </p:nvSpPr>
        <p:spPr>
          <a:xfrm>
            <a:off x="4159316" y="3049925"/>
            <a:ext cx="2025722" cy="2075167"/>
          </a:xfrm>
          <a:prstGeom prst="roundRect">
            <a:avLst>
              <a:gd name="adj" fmla="val 10809"/>
            </a:avLst>
          </a:prstGeom>
          <a:solidFill>
            <a:srgbClr val="422A7E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B3D1DB1-C627-F667-563E-23D20596E854}"/>
              </a:ext>
            </a:extLst>
          </p:cNvPr>
          <p:cNvSpPr/>
          <p:nvPr/>
        </p:nvSpPr>
        <p:spPr>
          <a:xfrm>
            <a:off x="3679645" y="3240856"/>
            <a:ext cx="1129299" cy="1050533"/>
          </a:xfrm>
          <a:prstGeom prst="roundRect">
            <a:avLst>
              <a:gd name="adj" fmla="val 1080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3BB103D-6A6E-E82A-7B1C-E3170E32C65B}"/>
              </a:ext>
            </a:extLst>
          </p:cNvPr>
          <p:cNvSpPr/>
          <p:nvPr/>
        </p:nvSpPr>
        <p:spPr>
          <a:xfrm>
            <a:off x="9135861" y="4561083"/>
            <a:ext cx="1102758" cy="1128018"/>
          </a:xfrm>
          <a:prstGeom prst="roundRect">
            <a:avLst>
              <a:gd name="adj" fmla="val 10809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36FF612-ED81-AB7E-0C72-C8D9E884EFA2}"/>
              </a:ext>
            </a:extLst>
          </p:cNvPr>
          <p:cNvGrpSpPr/>
          <p:nvPr/>
        </p:nvGrpSpPr>
        <p:grpSpPr>
          <a:xfrm>
            <a:off x="7567766" y="619868"/>
            <a:ext cx="1855772" cy="1950600"/>
            <a:chOff x="6139663" y="619868"/>
            <a:chExt cx="1855772" cy="1950600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7D00DD5-B072-7B82-279F-8599DD5BA019}"/>
                </a:ext>
              </a:extLst>
            </p:cNvPr>
            <p:cNvSpPr/>
            <p:nvPr/>
          </p:nvSpPr>
          <p:spPr>
            <a:xfrm>
              <a:off x="6139663" y="619868"/>
              <a:ext cx="1855772" cy="1950600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785FCD-5007-1FFE-327A-57302E86A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53" t="41982" r="30899" b="43099"/>
            <a:stretch>
              <a:fillRect/>
            </a:stretch>
          </p:blipFill>
          <p:spPr>
            <a:xfrm>
              <a:off x="6192744" y="1405494"/>
              <a:ext cx="1710645" cy="371442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5599A5-6DA8-7D4B-2ED9-31F33BD37212}"/>
              </a:ext>
            </a:extLst>
          </p:cNvPr>
          <p:cNvGrpSpPr/>
          <p:nvPr/>
        </p:nvGrpSpPr>
        <p:grpSpPr>
          <a:xfrm>
            <a:off x="3202107" y="4381716"/>
            <a:ext cx="2025722" cy="2075167"/>
            <a:chOff x="1774004" y="4381716"/>
            <a:chExt cx="2025722" cy="2075167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4669F41-76CE-6D13-E7F8-6ED30495C4EC}"/>
                </a:ext>
              </a:extLst>
            </p:cNvPr>
            <p:cNvSpPr/>
            <p:nvPr/>
          </p:nvSpPr>
          <p:spPr>
            <a:xfrm>
              <a:off x="1774004" y="4381716"/>
              <a:ext cx="2025722" cy="2075167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10B9551-8F0C-BFC4-1739-1B92E39F5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458" t="39838" r="65393" b="10778"/>
            <a:stretch>
              <a:fillRect/>
            </a:stretch>
          </p:blipFill>
          <p:spPr>
            <a:xfrm>
              <a:off x="2210737" y="4522130"/>
              <a:ext cx="1206190" cy="1584364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585ECA-F3CA-92FC-6E4B-90985966837F}"/>
              </a:ext>
            </a:extLst>
          </p:cNvPr>
          <p:cNvGrpSpPr/>
          <p:nvPr/>
        </p:nvGrpSpPr>
        <p:grpSpPr>
          <a:xfrm>
            <a:off x="5809605" y="1061453"/>
            <a:ext cx="1324506" cy="1292718"/>
            <a:chOff x="4381502" y="1061453"/>
            <a:chExt cx="1324506" cy="1292718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69D0412-9716-F282-12D7-2C8A5A6DD0B3}"/>
                </a:ext>
              </a:extLst>
            </p:cNvPr>
            <p:cNvSpPr/>
            <p:nvPr/>
          </p:nvSpPr>
          <p:spPr>
            <a:xfrm>
              <a:off x="4381502" y="1061453"/>
              <a:ext cx="1324506" cy="1292718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1C28DC5-79A8-C79C-B0BA-D63C36B3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480" t="43404" r="8345" b="14184"/>
            <a:stretch>
              <a:fillRect/>
            </a:stretch>
          </p:blipFill>
          <p:spPr>
            <a:xfrm>
              <a:off x="4579703" y="1229021"/>
              <a:ext cx="930162" cy="957581"/>
            </a:xfrm>
            <a:prstGeom prst="rect">
              <a:avLst/>
            </a:prstGeom>
          </p:spPr>
        </p:pic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0ED703-1229-43D6-D3A7-A7FF8F09ECC9}"/>
              </a:ext>
            </a:extLst>
          </p:cNvPr>
          <p:cNvSpPr/>
          <p:nvPr/>
        </p:nvSpPr>
        <p:spPr>
          <a:xfrm>
            <a:off x="6493054" y="4668530"/>
            <a:ext cx="1102758" cy="1128017"/>
          </a:xfrm>
          <a:prstGeom prst="roundRect">
            <a:avLst>
              <a:gd name="adj" fmla="val 10809"/>
            </a:avLst>
          </a:prstGeom>
          <a:solidFill>
            <a:srgbClr val="20DECC"/>
          </a:solidFill>
          <a:ln w="19050">
            <a:solidFill>
              <a:schemeClr val="bg1"/>
            </a:solidFill>
          </a:ln>
          <a:effectLst>
            <a:outerShdw blurRad="3175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5C814F8-1972-C923-2BD9-69B7DF87D392}"/>
              </a:ext>
            </a:extLst>
          </p:cNvPr>
          <p:cNvGrpSpPr/>
          <p:nvPr/>
        </p:nvGrpSpPr>
        <p:grpSpPr>
          <a:xfrm>
            <a:off x="6988350" y="4864163"/>
            <a:ext cx="1738947" cy="1686463"/>
            <a:chOff x="5560247" y="4864163"/>
            <a:chExt cx="1738947" cy="168646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565B055-00E4-443B-BFD8-C60135A31E36}"/>
                </a:ext>
              </a:extLst>
            </p:cNvPr>
            <p:cNvSpPr/>
            <p:nvPr/>
          </p:nvSpPr>
          <p:spPr>
            <a:xfrm>
              <a:off x="5560247" y="4864163"/>
              <a:ext cx="1710645" cy="1686463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E47DF3-E4AC-C950-668E-BFA807CE5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701" t="4373" r="8345" b="63937"/>
            <a:stretch>
              <a:fillRect/>
            </a:stretch>
          </p:blipFill>
          <p:spPr>
            <a:xfrm>
              <a:off x="5585935" y="5320300"/>
              <a:ext cx="1713259" cy="66460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94F0976-8EB6-7A87-7697-A87E9DC582FC}"/>
              </a:ext>
            </a:extLst>
          </p:cNvPr>
          <p:cNvGrpSpPr/>
          <p:nvPr/>
        </p:nvGrpSpPr>
        <p:grpSpPr>
          <a:xfrm>
            <a:off x="5053595" y="2560687"/>
            <a:ext cx="2244902" cy="2226427"/>
            <a:chOff x="3625492" y="2560687"/>
            <a:chExt cx="2244902" cy="222642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AD18BFB-F888-3A52-BD64-C0228015ADE0}"/>
                </a:ext>
              </a:extLst>
            </p:cNvPr>
            <p:cNvSpPr/>
            <p:nvPr/>
          </p:nvSpPr>
          <p:spPr>
            <a:xfrm>
              <a:off x="3625492" y="2569172"/>
              <a:ext cx="2244902" cy="2217942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1354FAC-0B47-07AA-CC93-11E0B5B01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440" t="20494" r="6699" b="29073"/>
            <a:stretch>
              <a:fillRect/>
            </a:stretch>
          </p:blipFill>
          <p:spPr>
            <a:xfrm>
              <a:off x="3953786" y="2560687"/>
              <a:ext cx="1540369" cy="1998895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EA0FF2C-FCF6-FA31-FD4D-BA772DDC79B4}"/>
              </a:ext>
            </a:extLst>
          </p:cNvPr>
          <p:cNvGrpSpPr/>
          <p:nvPr/>
        </p:nvGrpSpPr>
        <p:grpSpPr>
          <a:xfrm>
            <a:off x="7371060" y="2695253"/>
            <a:ext cx="1710645" cy="1686463"/>
            <a:chOff x="5942957" y="2695253"/>
            <a:chExt cx="1710645" cy="1686463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A2EE167C-AFD6-7EF9-409D-3559A3287F91}"/>
                </a:ext>
              </a:extLst>
            </p:cNvPr>
            <p:cNvSpPr/>
            <p:nvPr/>
          </p:nvSpPr>
          <p:spPr>
            <a:xfrm>
              <a:off x="5942957" y="2695253"/>
              <a:ext cx="1710645" cy="1686463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6B91B9D8-428B-88EA-1C96-248D07213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962" t="31884" r="33863" b="34061"/>
            <a:stretch>
              <a:fillRect/>
            </a:stretch>
          </p:blipFill>
          <p:spPr>
            <a:xfrm>
              <a:off x="6024454" y="2831410"/>
              <a:ext cx="1581456" cy="1203338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EE50310-C3F2-2CD9-4069-6278D27C8AFC}"/>
              </a:ext>
            </a:extLst>
          </p:cNvPr>
          <p:cNvGrpSpPr/>
          <p:nvPr/>
        </p:nvGrpSpPr>
        <p:grpSpPr>
          <a:xfrm>
            <a:off x="2387883" y="547946"/>
            <a:ext cx="2244902" cy="2217942"/>
            <a:chOff x="959780" y="547946"/>
            <a:chExt cx="2244902" cy="221794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B4E4662-5951-E4C3-3BF9-3070624DEF56}"/>
                </a:ext>
              </a:extLst>
            </p:cNvPr>
            <p:cNvSpPr/>
            <p:nvPr/>
          </p:nvSpPr>
          <p:spPr>
            <a:xfrm>
              <a:off x="959780" y="547946"/>
              <a:ext cx="2244902" cy="2217942"/>
            </a:xfrm>
            <a:prstGeom prst="roundRect">
              <a:avLst>
                <a:gd name="adj" fmla="val 10809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/>
              </a:solidFill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40262A9-1C9C-ABF7-CF17-B7536E8A2D4B}"/>
                </a:ext>
              </a:extLst>
            </p:cNvPr>
            <p:cNvSpPr txBox="1"/>
            <p:nvPr/>
          </p:nvSpPr>
          <p:spPr>
            <a:xfrm>
              <a:off x="1252063" y="1775156"/>
              <a:ext cx="16200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Eras Bold ITC" panose="020B0907030504020204" pitchFamily="34" charset="0"/>
                </a:rPr>
                <a:t>TOOLS AND LIBRARIES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867D30EB-FF55-6E7C-12BB-8340B6714E4A}"/>
                </a:ext>
              </a:extLst>
            </p:cNvPr>
            <p:cNvGrpSpPr/>
            <p:nvPr/>
          </p:nvGrpSpPr>
          <p:grpSpPr>
            <a:xfrm>
              <a:off x="1575687" y="823295"/>
              <a:ext cx="829323" cy="947852"/>
              <a:chOff x="1492717" y="725273"/>
              <a:chExt cx="829323" cy="947852"/>
            </a:xfrm>
          </p:grpSpPr>
          <p:pic>
            <p:nvPicPr>
              <p:cNvPr id="21" name="Graphic 20" descr="Gears with solid fill">
                <a:extLst>
                  <a:ext uri="{FF2B5EF4-FFF2-40B4-BE49-F238E27FC236}">
                    <a16:creationId xmlns:a16="http://schemas.microsoft.com/office/drawing/2014/main" id="{1041837C-60C8-22EE-A80B-D38235FD4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492717" y="725273"/>
                <a:ext cx="668325" cy="668325"/>
              </a:xfrm>
              <a:prstGeom prst="rect">
                <a:avLst/>
              </a:prstGeom>
            </p:spPr>
          </p:pic>
          <p:pic>
            <p:nvPicPr>
              <p:cNvPr id="22" name="Graphic 21" descr="Gears with solid fill">
                <a:extLst>
                  <a:ext uri="{FF2B5EF4-FFF2-40B4-BE49-F238E27FC236}">
                    <a16:creationId xmlns:a16="http://schemas.microsoft.com/office/drawing/2014/main" id="{C2CEE084-1AE2-5EB4-69E4-01565668AC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653715" y="1004800"/>
                <a:ext cx="668325" cy="668325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94507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076C4-0CE1-7E44-174A-148FC27D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00B391-AC57-4840-8165-20C36E173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22" t="31366" r="18684" b="29507"/>
          <a:stretch>
            <a:fillRect/>
          </a:stretch>
        </p:blipFill>
        <p:spPr>
          <a:xfrm>
            <a:off x="4962144" y="1506350"/>
            <a:ext cx="2482785" cy="789611"/>
          </a:xfrm>
          <a:custGeom>
            <a:avLst/>
            <a:gdLst>
              <a:gd name="csX0" fmla="*/ 0 w 2482785"/>
              <a:gd name="csY0" fmla="*/ 0 h 789611"/>
              <a:gd name="csX1" fmla="*/ 422073 w 2482785"/>
              <a:gd name="csY1" fmla="*/ 0 h 789611"/>
              <a:gd name="csX2" fmla="*/ 968286 w 2482785"/>
              <a:gd name="csY2" fmla="*/ 0 h 789611"/>
              <a:gd name="csX3" fmla="*/ 1440015 w 2482785"/>
              <a:gd name="csY3" fmla="*/ 0 h 789611"/>
              <a:gd name="csX4" fmla="*/ 1911744 w 2482785"/>
              <a:gd name="csY4" fmla="*/ 0 h 789611"/>
              <a:gd name="csX5" fmla="*/ 2482785 w 2482785"/>
              <a:gd name="csY5" fmla="*/ 0 h 789611"/>
              <a:gd name="csX6" fmla="*/ 2482785 w 2482785"/>
              <a:gd name="csY6" fmla="*/ 379013 h 789611"/>
              <a:gd name="csX7" fmla="*/ 2482785 w 2482785"/>
              <a:gd name="csY7" fmla="*/ 789611 h 789611"/>
              <a:gd name="csX8" fmla="*/ 1986228 w 2482785"/>
              <a:gd name="csY8" fmla="*/ 789611 h 789611"/>
              <a:gd name="csX9" fmla="*/ 1464843 w 2482785"/>
              <a:gd name="csY9" fmla="*/ 789611 h 789611"/>
              <a:gd name="csX10" fmla="*/ 1042770 w 2482785"/>
              <a:gd name="csY10" fmla="*/ 789611 h 789611"/>
              <a:gd name="csX11" fmla="*/ 496557 w 2482785"/>
              <a:gd name="csY11" fmla="*/ 789611 h 789611"/>
              <a:gd name="csX12" fmla="*/ 0 w 2482785"/>
              <a:gd name="csY12" fmla="*/ 789611 h 789611"/>
              <a:gd name="csX13" fmla="*/ 0 w 2482785"/>
              <a:gd name="csY13" fmla="*/ 379013 h 789611"/>
              <a:gd name="csX14" fmla="*/ 0 w 2482785"/>
              <a:gd name="csY14" fmla="*/ 0 h 789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482785" h="789611" fill="none" extrusionOk="0">
                <a:moveTo>
                  <a:pt x="0" y="0"/>
                </a:moveTo>
                <a:cubicBezTo>
                  <a:pt x="199756" y="-17759"/>
                  <a:pt x="274312" y="40871"/>
                  <a:pt x="422073" y="0"/>
                </a:cubicBezTo>
                <a:cubicBezTo>
                  <a:pt x="569834" y="-40871"/>
                  <a:pt x="753676" y="32266"/>
                  <a:pt x="968286" y="0"/>
                </a:cubicBezTo>
                <a:cubicBezTo>
                  <a:pt x="1182896" y="-32266"/>
                  <a:pt x="1275234" y="44048"/>
                  <a:pt x="1440015" y="0"/>
                </a:cubicBezTo>
                <a:cubicBezTo>
                  <a:pt x="1604796" y="-44048"/>
                  <a:pt x="1746210" y="9162"/>
                  <a:pt x="1911744" y="0"/>
                </a:cubicBezTo>
                <a:cubicBezTo>
                  <a:pt x="2077278" y="-9162"/>
                  <a:pt x="2262432" y="12650"/>
                  <a:pt x="2482785" y="0"/>
                </a:cubicBezTo>
                <a:cubicBezTo>
                  <a:pt x="2513298" y="188915"/>
                  <a:pt x="2470516" y="225292"/>
                  <a:pt x="2482785" y="379013"/>
                </a:cubicBezTo>
                <a:cubicBezTo>
                  <a:pt x="2495054" y="532734"/>
                  <a:pt x="2440382" y="610614"/>
                  <a:pt x="2482785" y="789611"/>
                </a:cubicBezTo>
                <a:cubicBezTo>
                  <a:pt x="2381379" y="798750"/>
                  <a:pt x="2120714" y="768462"/>
                  <a:pt x="1986228" y="789611"/>
                </a:cubicBezTo>
                <a:cubicBezTo>
                  <a:pt x="1851742" y="810760"/>
                  <a:pt x="1662654" y="761785"/>
                  <a:pt x="1464843" y="789611"/>
                </a:cubicBezTo>
                <a:cubicBezTo>
                  <a:pt x="1267032" y="817437"/>
                  <a:pt x="1168912" y="764668"/>
                  <a:pt x="1042770" y="789611"/>
                </a:cubicBezTo>
                <a:cubicBezTo>
                  <a:pt x="916628" y="814554"/>
                  <a:pt x="646389" y="739320"/>
                  <a:pt x="496557" y="789611"/>
                </a:cubicBezTo>
                <a:cubicBezTo>
                  <a:pt x="346725" y="839902"/>
                  <a:pt x="247490" y="759814"/>
                  <a:pt x="0" y="789611"/>
                </a:cubicBezTo>
                <a:cubicBezTo>
                  <a:pt x="-17200" y="639771"/>
                  <a:pt x="10828" y="520473"/>
                  <a:pt x="0" y="379013"/>
                </a:cubicBezTo>
                <a:cubicBezTo>
                  <a:pt x="-10828" y="237553"/>
                  <a:pt x="17213" y="86313"/>
                  <a:pt x="0" y="0"/>
                </a:cubicBezTo>
                <a:close/>
              </a:path>
              <a:path w="2482785" h="789611" stroke="0" extrusionOk="0">
                <a:moveTo>
                  <a:pt x="0" y="0"/>
                </a:moveTo>
                <a:cubicBezTo>
                  <a:pt x="251599" y="-42550"/>
                  <a:pt x="279267" y="52070"/>
                  <a:pt x="546213" y="0"/>
                </a:cubicBezTo>
                <a:cubicBezTo>
                  <a:pt x="813159" y="-52070"/>
                  <a:pt x="873503" y="60517"/>
                  <a:pt x="1067598" y="0"/>
                </a:cubicBezTo>
                <a:cubicBezTo>
                  <a:pt x="1261694" y="-60517"/>
                  <a:pt x="1409840" y="21619"/>
                  <a:pt x="1539327" y="0"/>
                </a:cubicBezTo>
                <a:cubicBezTo>
                  <a:pt x="1668814" y="-21619"/>
                  <a:pt x="2021190" y="37339"/>
                  <a:pt x="2482785" y="0"/>
                </a:cubicBezTo>
                <a:cubicBezTo>
                  <a:pt x="2523142" y="182751"/>
                  <a:pt x="2457279" y="239869"/>
                  <a:pt x="2482785" y="394806"/>
                </a:cubicBezTo>
                <a:cubicBezTo>
                  <a:pt x="2508291" y="549743"/>
                  <a:pt x="2455612" y="609675"/>
                  <a:pt x="2482785" y="789611"/>
                </a:cubicBezTo>
                <a:cubicBezTo>
                  <a:pt x="2322090" y="809485"/>
                  <a:pt x="2183206" y="775388"/>
                  <a:pt x="2060712" y="789611"/>
                </a:cubicBezTo>
                <a:cubicBezTo>
                  <a:pt x="1938218" y="803834"/>
                  <a:pt x="1719426" y="777131"/>
                  <a:pt x="1564155" y="789611"/>
                </a:cubicBezTo>
                <a:cubicBezTo>
                  <a:pt x="1408884" y="802091"/>
                  <a:pt x="1224555" y="769045"/>
                  <a:pt x="1092425" y="789611"/>
                </a:cubicBezTo>
                <a:cubicBezTo>
                  <a:pt x="960295" y="810177"/>
                  <a:pt x="698266" y="774007"/>
                  <a:pt x="595868" y="789611"/>
                </a:cubicBezTo>
                <a:cubicBezTo>
                  <a:pt x="493470" y="805215"/>
                  <a:pt x="146840" y="779923"/>
                  <a:pt x="0" y="789611"/>
                </a:cubicBezTo>
                <a:cubicBezTo>
                  <a:pt x="-48003" y="617163"/>
                  <a:pt x="42984" y="561161"/>
                  <a:pt x="0" y="386909"/>
                </a:cubicBezTo>
                <a:cubicBezTo>
                  <a:pt x="-42984" y="212657"/>
                  <a:pt x="33858" y="147521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559321221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CE6FA5B-E2E1-E4C3-6692-BE99CF6998E5}"/>
              </a:ext>
            </a:extLst>
          </p:cNvPr>
          <p:cNvGrpSpPr/>
          <p:nvPr/>
        </p:nvGrpSpPr>
        <p:grpSpPr>
          <a:xfrm>
            <a:off x="3224259" y="2802283"/>
            <a:ext cx="5807608" cy="1908571"/>
            <a:chOff x="2514001" y="2567461"/>
            <a:chExt cx="7159752" cy="228367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F786AD-7DF6-039F-BFB7-47A4E3086A13}"/>
                </a:ext>
              </a:extLst>
            </p:cNvPr>
            <p:cNvGrpSpPr/>
            <p:nvPr/>
          </p:nvGrpSpPr>
          <p:grpSpPr>
            <a:xfrm>
              <a:off x="2518247" y="2584083"/>
              <a:ext cx="7155506" cy="2267050"/>
              <a:chOff x="1689929" y="2227947"/>
              <a:chExt cx="7868503" cy="25328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BEFEB0C-019A-96F9-064A-0ABEE4B86C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576" r="52893"/>
              <a:stretch>
                <a:fillRect/>
              </a:stretch>
            </p:blipFill>
            <p:spPr>
              <a:xfrm>
                <a:off x="1689929" y="2227947"/>
                <a:ext cx="5307774" cy="2532659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DA8299D0-6B22-564D-713D-6FC313082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78036"/>
              <a:stretch>
                <a:fillRect/>
              </a:stretch>
            </p:blipFill>
            <p:spPr>
              <a:xfrm>
                <a:off x="6997703" y="2227947"/>
                <a:ext cx="2560729" cy="2532888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1BB52BB-155D-B2BF-ACF3-6B6A01942241}"/>
                </a:ext>
              </a:extLst>
            </p:cNvPr>
            <p:cNvSpPr/>
            <p:nvPr/>
          </p:nvSpPr>
          <p:spPr>
            <a:xfrm>
              <a:off x="2514001" y="2567461"/>
              <a:ext cx="7159752" cy="2267712"/>
            </a:xfrm>
            <a:prstGeom prst="rect">
              <a:avLst/>
            </a:prstGeom>
            <a:noFill/>
            <a:ln>
              <a:prstDash val="lg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7D2B3D-3F37-D6BE-78CF-59AA1D794B83}"/>
              </a:ext>
            </a:extLst>
          </p:cNvPr>
          <p:cNvSpPr/>
          <p:nvPr/>
        </p:nvSpPr>
        <p:spPr>
          <a:xfrm>
            <a:off x="4480316" y="3019054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53CEC0-779A-2618-39D9-872BD065C5F7}"/>
              </a:ext>
            </a:extLst>
          </p:cNvPr>
          <p:cNvSpPr txBox="1"/>
          <p:nvPr/>
        </p:nvSpPr>
        <p:spPr>
          <a:xfrm>
            <a:off x="1941706" y="1534529"/>
            <a:ext cx="1906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Doctor’s Name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60B0E3-E85A-1C8C-0068-0FA061F2D46A}"/>
              </a:ext>
            </a:extLst>
          </p:cNvPr>
          <p:cNvSpPr txBox="1"/>
          <p:nvPr/>
        </p:nvSpPr>
        <p:spPr>
          <a:xfrm>
            <a:off x="478047" y="3080191"/>
            <a:ext cx="14664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Experience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C511F19-4CF9-016A-A34A-2CAF6BCC622D}"/>
              </a:ext>
            </a:extLst>
          </p:cNvPr>
          <p:cNvSpPr/>
          <p:nvPr/>
        </p:nvSpPr>
        <p:spPr>
          <a:xfrm>
            <a:off x="4485799" y="3395620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0800816-964A-3BB2-A047-82E7DA5A8C7B}"/>
              </a:ext>
            </a:extLst>
          </p:cNvPr>
          <p:cNvSpPr/>
          <p:nvPr/>
        </p:nvSpPr>
        <p:spPr>
          <a:xfrm>
            <a:off x="5643319" y="3615619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C3E2C0-24C6-E6C6-0AE1-6E787EA050C1}"/>
              </a:ext>
            </a:extLst>
          </p:cNvPr>
          <p:cNvSpPr txBox="1"/>
          <p:nvPr/>
        </p:nvSpPr>
        <p:spPr>
          <a:xfrm>
            <a:off x="9780627" y="4103486"/>
            <a:ext cx="143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City Name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F3E6A10-0825-CCEE-F808-7D101139AA0F}"/>
              </a:ext>
            </a:extLst>
          </p:cNvPr>
          <p:cNvSpPr/>
          <p:nvPr/>
        </p:nvSpPr>
        <p:spPr>
          <a:xfrm>
            <a:off x="4489039" y="4043622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FAD56B-1210-A080-C770-3DBFB44FA92D}"/>
              </a:ext>
            </a:extLst>
          </p:cNvPr>
          <p:cNvSpPr txBox="1"/>
          <p:nvPr/>
        </p:nvSpPr>
        <p:spPr>
          <a:xfrm>
            <a:off x="2683363" y="5728001"/>
            <a:ext cx="2467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Consultation Fee(₹)</a:t>
            </a:r>
            <a:endParaRPr lang="en-US" sz="2400" dirty="0">
              <a:latin typeface="Bahnschrift SemiBold SemiConden" panose="020B05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58E9B2-10D8-7EB2-E398-D4D6EAEACB7E}"/>
              </a:ext>
            </a:extLst>
          </p:cNvPr>
          <p:cNvSpPr txBox="1"/>
          <p:nvPr/>
        </p:nvSpPr>
        <p:spPr>
          <a:xfrm>
            <a:off x="513419" y="4774898"/>
            <a:ext cx="1829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Hospital Name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FAB9968-BB3F-703D-E195-0F210E602B75}"/>
              </a:ext>
            </a:extLst>
          </p:cNvPr>
          <p:cNvSpPr/>
          <p:nvPr/>
        </p:nvSpPr>
        <p:spPr>
          <a:xfrm>
            <a:off x="5318420" y="3806645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9022F7-E962-6903-B3EC-FBF7D3A524FB}"/>
              </a:ext>
            </a:extLst>
          </p:cNvPr>
          <p:cNvSpPr txBox="1"/>
          <p:nvPr/>
        </p:nvSpPr>
        <p:spPr>
          <a:xfrm>
            <a:off x="9426934" y="2028126"/>
            <a:ext cx="1693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Specialization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67335516-6959-8882-AF2F-82C646C3A6F6}"/>
              </a:ext>
            </a:extLst>
          </p:cNvPr>
          <p:cNvSpPr/>
          <p:nvPr/>
        </p:nvSpPr>
        <p:spPr>
          <a:xfrm>
            <a:off x="5147796" y="3217328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017B9E-EC12-95B5-E6F1-D200692427F2}"/>
              </a:ext>
            </a:extLst>
          </p:cNvPr>
          <p:cNvSpPr txBox="1"/>
          <p:nvPr/>
        </p:nvSpPr>
        <p:spPr>
          <a:xfrm>
            <a:off x="7171832" y="5689233"/>
            <a:ext cx="2255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Patient Ratings(%)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A70D4DAB-A25A-B8F1-3DD8-23807AA904EE}"/>
              </a:ext>
            </a:extLst>
          </p:cNvPr>
          <p:cNvSpPr/>
          <p:nvPr/>
        </p:nvSpPr>
        <p:spPr>
          <a:xfrm>
            <a:off x="4471599" y="4430424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0E9888-D2E8-8B7F-F034-9AD54D8A8AAD}"/>
              </a:ext>
            </a:extLst>
          </p:cNvPr>
          <p:cNvSpPr txBox="1"/>
          <p:nvPr/>
        </p:nvSpPr>
        <p:spPr>
          <a:xfrm>
            <a:off x="5536898" y="572474"/>
            <a:ext cx="1016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  <a:ea typeface="Segoe UI Black" panose="020B0A02040204020203" pitchFamily="34" charset="0"/>
              </a:rPr>
              <a:t>Source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A0BFB901-C123-F75A-CA8F-81EFDD1E84F1}"/>
              </a:ext>
            </a:extLst>
          </p:cNvPr>
          <p:cNvSpPr/>
          <p:nvPr/>
        </p:nvSpPr>
        <p:spPr>
          <a:xfrm>
            <a:off x="5999906" y="1840015"/>
            <a:ext cx="59337" cy="611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0E47DD14-E93A-65C8-E99A-335742DCB64B}"/>
              </a:ext>
            </a:extLst>
          </p:cNvPr>
          <p:cNvSpPr/>
          <p:nvPr/>
        </p:nvSpPr>
        <p:spPr>
          <a:xfrm>
            <a:off x="6027991" y="971957"/>
            <a:ext cx="0" cy="871195"/>
          </a:xfrm>
          <a:custGeom>
            <a:avLst/>
            <a:gdLst>
              <a:gd name="csX0" fmla="*/ 0 w 29028"/>
              <a:gd name="csY0" fmla="*/ 1059543 h 1059543"/>
              <a:gd name="csX1" fmla="*/ 29028 w 29028"/>
              <a:gd name="csY1" fmla="*/ 0 h 1059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028" h="1059543">
                <a:moveTo>
                  <a:pt x="0" y="1059543"/>
                </a:moveTo>
                <a:lnTo>
                  <a:pt x="29028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1B75096-6D26-8A20-9030-49460D5FDA84}"/>
              </a:ext>
            </a:extLst>
          </p:cNvPr>
          <p:cNvSpPr/>
          <p:nvPr/>
        </p:nvSpPr>
        <p:spPr>
          <a:xfrm>
            <a:off x="5175783" y="2331371"/>
            <a:ext cx="4303264" cy="910910"/>
          </a:xfrm>
          <a:custGeom>
            <a:avLst/>
            <a:gdLst>
              <a:gd name="csX0" fmla="*/ 0 w 4303264"/>
              <a:gd name="csY0" fmla="*/ 910910 h 910910"/>
              <a:gd name="csX1" fmla="*/ 4303264 w 4303264"/>
              <a:gd name="csY1" fmla="*/ 0 h 91091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03264" h="910910">
                <a:moveTo>
                  <a:pt x="0" y="910910"/>
                </a:moveTo>
                <a:lnTo>
                  <a:pt x="4303264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1A9DDEE-C675-5BA5-4374-A95A5D561E08}"/>
              </a:ext>
            </a:extLst>
          </p:cNvPr>
          <p:cNvSpPr/>
          <p:nvPr/>
        </p:nvSpPr>
        <p:spPr>
          <a:xfrm>
            <a:off x="5667111" y="3646757"/>
            <a:ext cx="4145521" cy="632490"/>
          </a:xfrm>
          <a:custGeom>
            <a:avLst/>
            <a:gdLst>
              <a:gd name="csX0" fmla="*/ 0 w 4145521"/>
              <a:gd name="csY0" fmla="*/ 0 h 632490"/>
              <a:gd name="csX1" fmla="*/ 4145521 w 4145521"/>
              <a:gd name="csY1" fmla="*/ 632490 h 632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45521" h="632490">
                <a:moveTo>
                  <a:pt x="0" y="0"/>
                </a:moveTo>
                <a:lnTo>
                  <a:pt x="4145521" y="63249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159A5B-A8F7-C9F5-F5D0-125982A94D60}"/>
              </a:ext>
            </a:extLst>
          </p:cNvPr>
          <p:cNvSpPr/>
          <p:nvPr/>
        </p:nvSpPr>
        <p:spPr>
          <a:xfrm>
            <a:off x="4499715" y="4463573"/>
            <a:ext cx="2739586" cy="1330036"/>
          </a:xfrm>
          <a:custGeom>
            <a:avLst/>
            <a:gdLst>
              <a:gd name="csX0" fmla="*/ 0 w 2739586"/>
              <a:gd name="csY0" fmla="*/ 0 h 1330036"/>
              <a:gd name="csX1" fmla="*/ 2739586 w 2739586"/>
              <a:gd name="csY1" fmla="*/ 1330036 h 13300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739586" h="1330036">
                <a:moveTo>
                  <a:pt x="0" y="0"/>
                </a:moveTo>
                <a:lnTo>
                  <a:pt x="2739586" y="1330036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F8EABD-3666-0BD2-4BAB-50F5569FC3B8}"/>
              </a:ext>
            </a:extLst>
          </p:cNvPr>
          <p:cNvSpPr/>
          <p:nvPr/>
        </p:nvSpPr>
        <p:spPr>
          <a:xfrm>
            <a:off x="3664828" y="4073236"/>
            <a:ext cx="852959" cy="1731216"/>
          </a:xfrm>
          <a:custGeom>
            <a:avLst/>
            <a:gdLst>
              <a:gd name="csX0" fmla="*/ 852959 w 852959"/>
              <a:gd name="csY0" fmla="*/ 0 h 1731216"/>
              <a:gd name="csX1" fmla="*/ 0 w 852959"/>
              <a:gd name="csY1" fmla="*/ 1731216 h 1731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52959" h="1731216">
                <a:moveTo>
                  <a:pt x="852959" y="0"/>
                </a:moveTo>
                <a:lnTo>
                  <a:pt x="0" y="1731216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6EADFAE-52CC-AAC9-80DC-3DECF9BC875D}"/>
              </a:ext>
            </a:extLst>
          </p:cNvPr>
          <p:cNvSpPr/>
          <p:nvPr/>
        </p:nvSpPr>
        <p:spPr>
          <a:xfrm>
            <a:off x="1409549" y="3834697"/>
            <a:ext cx="3939510" cy="993913"/>
          </a:xfrm>
          <a:custGeom>
            <a:avLst/>
            <a:gdLst>
              <a:gd name="csX0" fmla="*/ 3939510 w 3939510"/>
              <a:gd name="csY0" fmla="*/ 0 h 993913"/>
              <a:gd name="csX1" fmla="*/ 0 w 3939510"/>
              <a:gd name="csY1" fmla="*/ 733689 h 993913"/>
              <a:gd name="csX2" fmla="*/ 0 w 3939510"/>
              <a:gd name="csY2" fmla="*/ 993913 h 993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39510" h="993913">
                <a:moveTo>
                  <a:pt x="3939510" y="0"/>
                </a:moveTo>
                <a:lnTo>
                  <a:pt x="0" y="733689"/>
                </a:lnTo>
                <a:lnTo>
                  <a:pt x="0" y="993913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F3BF0E-C326-BD79-A28E-C01E9C015A19}"/>
              </a:ext>
            </a:extLst>
          </p:cNvPr>
          <p:cNvSpPr/>
          <p:nvPr/>
        </p:nvSpPr>
        <p:spPr>
          <a:xfrm>
            <a:off x="1864942" y="3339548"/>
            <a:ext cx="2652845" cy="86741"/>
          </a:xfrm>
          <a:custGeom>
            <a:avLst/>
            <a:gdLst>
              <a:gd name="csX0" fmla="*/ 2652845 w 2652845"/>
              <a:gd name="csY0" fmla="*/ 86741 h 86741"/>
              <a:gd name="csX1" fmla="*/ 0 w 2652845"/>
              <a:gd name="csY1" fmla="*/ 0 h 8674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52845" h="86741">
                <a:moveTo>
                  <a:pt x="2652845" y="86741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AC6B2C-67BB-804A-D502-51DE9CB59845}"/>
              </a:ext>
            </a:extLst>
          </p:cNvPr>
          <p:cNvSpPr/>
          <p:nvPr/>
        </p:nvSpPr>
        <p:spPr>
          <a:xfrm>
            <a:off x="2985353" y="1886628"/>
            <a:ext cx="1521591" cy="1163781"/>
          </a:xfrm>
          <a:custGeom>
            <a:avLst/>
            <a:gdLst>
              <a:gd name="csX0" fmla="*/ 1521591 w 1521591"/>
              <a:gd name="csY0" fmla="*/ 1163781 h 1163781"/>
              <a:gd name="csX1" fmla="*/ 0 w 1521591"/>
              <a:gd name="csY1" fmla="*/ 0 h 116378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21591" h="1163781">
                <a:moveTo>
                  <a:pt x="1521591" y="1163781"/>
                </a:moveTo>
                <a:lnTo>
                  <a:pt x="0" y="0"/>
                </a:lnTo>
              </a:path>
            </a:pathLst>
          </a:custGeom>
          <a:noFill/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B28922E-FDC4-E49E-D01F-C46E1A025BCF}"/>
              </a:ext>
            </a:extLst>
          </p:cNvPr>
          <p:cNvGrpSpPr/>
          <p:nvPr/>
        </p:nvGrpSpPr>
        <p:grpSpPr>
          <a:xfrm>
            <a:off x="612550" y="277142"/>
            <a:ext cx="3605548" cy="584775"/>
            <a:chOff x="612550" y="277142"/>
            <a:chExt cx="3605548" cy="584775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C82EF14C-9AB8-85DE-0743-8DA52E4E12DC}"/>
                </a:ext>
              </a:extLst>
            </p:cNvPr>
            <p:cNvSpPr/>
            <p:nvPr/>
          </p:nvSpPr>
          <p:spPr>
            <a:xfrm>
              <a:off x="612550" y="289853"/>
              <a:ext cx="3570826" cy="57206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C4BDD9A-7261-AA0F-94DE-3B204740DD2F}"/>
                </a:ext>
              </a:extLst>
            </p:cNvPr>
            <p:cNvSpPr txBox="1"/>
            <p:nvPr/>
          </p:nvSpPr>
          <p:spPr>
            <a:xfrm>
              <a:off x="647272" y="277142"/>
              <a:ext cx="357082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WEB SCRAPING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2655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9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25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750"/>
                            </p:stCondLst>
                            <p:childTnLst>
                              <p:par>
                                <p:cTn id="9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25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750"/>
                            </p:stCondLst>
                            <p:childTnLst>
                              <p:par>
                                <p:cTn id="1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2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250"/>
                            </p:stCondLst>
                            <p:childTnLst>
                              <p:par>
                                <p:cTn id="1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2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75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20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100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20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100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20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100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20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100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20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100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0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2000" tmFilter="0, 0; .2, .5; .8, .5; 1, 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100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20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5" dur="100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6" presetID="26" presetClass="emph" presetSubtype="0" repeatCount="3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20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8" dur="100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2" grpId="0"/>
      <p:bldP spid="22" grpId="1"/>
      <p:bldP spid="32" grpId="0"/>
      <p:bldP spid="32" grpId="1"/>
      <p:bldP spid="33" grpId="0" animBg="1"/>
      <p:bldP spid="36" grpId="0" animBg="1"/>
      <p:bldP spid="39" grpId="0"/>
      <p:bldP spid="39" grpId="1"/>
      <p:bldP spid="42" grpId="0" animBg="1"/>
      <p:bldP spid="45" grpId="0"/>
      <p:bldP spid="45" grpId="1"/>
      <p:bldP spid="51" grpId="0"/>
      <p:bldP spid="51" grpId="1"/>
      <p:bldP spid="52" grpId="0" animBg="1"/>
      <p:bldP spid="56" grpId="0"/>
      <p:bldP spid="56" grpId="1"/>
      <p:bldP spid="58" grpId="0" animBg="1"/>
      <p:bldP spid="62" grpId="0"/>
      <p:bldP spid="62" grpId="1"/>
      <p:bldP spid="63" grpId="0" animBg="1"/>
      <p:bldP spid="69" grpId="0"/>
      <p:bldP spid="69" grpId="1"/>
      <p:bldP spid="70" grpId="0" animBg="1"/>
      <p:bldP spid="73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F2D45-C72E-0D1A-6C22-89C1B74F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CBCEFC5-BD8E-0671-479B-A6078128D1A0}"/>
              </a:ext>
            </a:extLst>
          </p:cNvPr>
          <p:cNvGrpSpPr/>
          <p:nvPr/>
        </p:nvGrpSpPr>
        <p:grpSpPr>
          <a:xfrm>
            <a:off x="4770945" y="-3620339"/>
            <a:ext cx="2505227" cy="3069724"/>
            <a:chOff x="8385380" y="1225981"/>
            <a:chExt cx="2505227" cy="306972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59646A5-F70E-0B0E-4BE5-81796FE51134}"/>
                </a:ext>
              </a:extLst>
            </p:cNvPr>
            <p:cNvSpPr/>
            <p:nvPr/>
          </p:nvSpPr>
          <p:spPr>
            <a:xfrm rot="1036298">
              <a:off x="8448189" y="1225981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815BF9-30D5-2FEB-8EE6-C7815F07B878}"/>
                </a:ext>
              </a:extLst>
            </p:cNvPr>
            <p:cNvSpPr txBox="1"/>
            <p:nvPr/>
          </p:nvSpPr>
          <p:spPr>
            <a:xfrm rot="1036298">
              <a:off x="9359447" y="185704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DAE4CA-1C78-2A48-E219-A821D5E2F689}"/>
                </a:ext>
              </a:extLst>
            </p:cNvPr>
            <p:cNvSpPr txBox="1"/>
            <p:nvPr/>
          </p:nvSpPr>
          <p:spPr>
            <a:xfrm rot="1036298">
              <a:off x="9423096" y="1661684"/>
              <a:ext cx="1117378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FD612A-6405-DDBF-518F-1F061F2DAE56}"/>
                </a:ext>
              </a:extLst>
            </p:cNvPr>
            <p:cNvSpPr txBox="1"/>
            <p:nvPr/>
          </p:nvSpPr>
          <p:spPr>
            <a:xfrm rot="1036298">
              <a:off x="8385380" y="3036674"/>
              <a:ext cx="2237524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ANALYSIS/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INSIGHTS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740EBB83-417E-1C32-1D9C-BFF675056D7C}"/>
              </a:ext>
            </a:extLst>
          </p:cNvPr>
          <p:cNvGrpSpPr/>
          <p:nvPr/>
        </p:nvGrpSpPr>
        <p:grpSpPr>
          <a:xfrm>
            <a:off x="4802349" y="-4087627"/>
            <a:ext cx="2442418" cy="3069724"/>
            <a:chOff x="5972261" y="758693"/>
            <a:chExt cx="2442418" cy="30697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1A7A9C0-0FD7-31FD-58E3-1567CF0206AC}"/>
                </a:ext>
              </a:extLst>
            </p:cNvPr>
            <p:cNvSpPr/>
            <p:nvPr/>
          </p:nvSpPr>
          <p:spPr>
            <a:xfrm rot="423613">
              <a:off x="5972261" y="758693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077C562-0A1A-8495-E4F7-8704DA630DB7}"/>
                </a:ext>
              </a:extLst>
            </p:cNvPr>
            <p:cNvSpPr txBox="1"/>
            <p:nvPr/>
          </p:nvSpPr>
          <p:spPr>
            <a:xfrm rot="423613">
              <a:off x="6848672" y="133027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550ACC7-895F-C559-FE04-1EB147AB02D4}"/>
                </a:ext>
              </a:extLst>
            </p:cNvPr>
            <p:cNvSpPr txBox="1"/>
            <p:nvPr/>
          </p:nvSpPr>
          <p:spPr>
            <a:xfrm rot="423613">
              <a:off x="6791733" y="1103757"/>
              <a:ext cx="1154217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8A8B762-8508-84E8-2BBE-19F2457A6C25}"/>
                </a:ext>
              </a:extLst>
            </p:cNvPr>
            <p:cNvSpPr txBox="1"/>
            <p:nvPr/>
          </p:nvSpPr>
          <p:spPr>
            <a:xfrm rot="423613">
              <a:off x="6034788" y="2453304"/>
              <a:ext cx="2133437" cy="1255728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VISUALIZATION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833DE60-CB90-6ABF-EF71-CD1252932ECD}"/>
              </a:ext>
            </a:extLst>
          </p:cNvPr>
          <p:cNvGrpSpPr/>
          <p:nvPr/>
        </p:nvGrpSpPr>
        <p:grpSpPr>
          <a:xfrm>
            <a:off x="4802349" y="-4081925"/>
            <a:ext cx="2442418" cy="3069724"/>
            <a:chOff x="3548276" y="764395"/>
            <a:chExt cx="2442418" cy="306972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118F546C-AAC5-99C6-7777-0756ABB04095}"/>
                </a:ext>
              </a:extLst>
            </p:cNvPr>
            <p:cNvSpPr/>
            <p:nvPr/>
          </p:nvSpPr>
          <p:spPr>
            <a:xfrm rot="21255727">
              <a:off x="3548276" y="764395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F5E241-959F-4005-236D-ACA5AB8DE09F}"/>
                </a:ext>
              </a:extLst>
            </p:cNvPr>
            <p:cNvSpPr txBox="1"/>
            <p:nvPr/>
          </p:nvSpPr>
          <p:spPr>
            <a:xfrm rot="21255727">
              <a:off x="4352571" y="138276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5A9A44-1D2B-A393-E08A-8D5126977056}"/>
                </a:ext>
              </a:extLst>
            </p:cNvPr>
            <p:cNvSpPr txBox="1"/>
            <p:nvPr/>
          </p:nvSpPr>
          <p:spPr>
            <a:xfrm rot="21255727">
              <a:off x="4166666" y="1101478"/>
              <a:ext cx="1184050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93CBA7C-FF71-ACB2-3DA7-E9272AFE364C}"/>
                </a:ext>
              </a:extLst>
            </p:cNvPr>
            <p:cNvSpPr txBox="1"/>
            <p:nvPr/>
          </p:nvSpPr>
          <p:spPr>
            <a:xfrm rot="21255727">
              <a:off x="3770314" y="2528534"/>
              <a:ext cx="2165944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CLEANING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B6FBA6-37A7-50CA-96C0-AB16656C676E}"/>
              </a:ext>
            </a:extLst>
          </p:cNvPr>
          <p:cNvGrpSpPr/>
          <p:nvPr/>
        </p:nvGrpSpPr>
        <p:grpSpPr>
          <a:xfrm>
            <a:off x="4679720" y="-3514018"/>
            <a:ext cx="2687676" cy="3069724"/>
            <a:chOff x="1156509" y="1332302"/>
            <a:chExt cx="2687676" cy="30697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0F241A7-2164-7884-8E25-7242F81674D4}"/>
                </a:ext>
              </a:extLst>
            </p:cNvPr>
            <p:cNvSpPr/>
            <p:nvPr/>
          </p:nvSpPr>
          <p:spPr>
            <a:xfrm rot="20309291">
              <a:off x="1156509" y="1332302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B9DDD9-4E17-0E4A-9592-F48A9CE68D44}"/>
                </a:ext>
              </a:extLst>
            </p:cNvPr>
            <p:cNvSpPr txBox="1"/>
            <p:nvPr/>
          </p:nvSpPr>
          <p:spPr>
            <a:xfrm rot="20309291">
              <a:off x="1935907" y="207336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4ED84B7-F687-78DA-B428-B9858F270AC3}"/>
                </a:ext>
              </a:extLst>
            </p:cNvPr>
            <p:cNvSpPr txBox="1"/>
            <p:nvPr/>
          </p:nvSpPr>
          <p:spPr>
            <a:xfrm rot="20309291">
              <a:off x="1529455" y="1749196"/>
              <a:ext cx="1171101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A53372E-5C13-47F7-7E63-4D8B6F2B9887}"/>
                </a:ext>
              </a:extLst>
            </p:cNvPr>
            <p:cNvSpPr txBox="1"/>
            <p:nvPr/>
          </p:nvSpPr>
          <p:spPr>
            <a:xfrm rot="20309291">
              <a:off x="1469059" y="3191954"/>
              <a:ext cx="2375126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DATASET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OVERVIEW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9716921-9FC0-0DAA-B994-E35DD678AD06}"/>
              </a:ext>
            </a:extLst>
          </p:cNvPr>
          <p:cNvSpPr txBox="1"/>
          <p:nvPr/>
        </p:nvSpPr>
        <p:spPr>
          <a:xfrm>
            <a:off x="2034589" y="6949015"/>
            <a:ext cx="8558366" cy="1051489"/>
          </a:xfrm>
          <a:prstGeom prst="rect">
            <a:avLst/>
          </a:prstGeom>
          <a:noFill/>
        </p:spPr>
        <p:txBody>
          <a:bodyPr wrap="square" rtlCol="0">
            <a:prstTxWarp prst="textInflateTop">
              <a:avLst/>
            </a:prstTxWarp>
            <a:spAutoFit/>
          </a:bodyPr>
          <a:lstStyle/>
          <a:p>
            <a:pPr algn="ctr"/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EXPLORATORY</a:t>
            </a:r>
            <a:r>
              <a:rPr lang="en-US" sz="4000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DATA</a:t>
            </a:r>
            <a:r>
              <a:rPr lang="en-US" sz="4000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ANALYSIS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E51F2F-02A0-D64F-E604-D8CF461462F8}"/>
              </a:ext>
            </a:extLst>
          </p:cNvPr>
          <p:cNvGrpSpPr/>
          <p:nvPr/>
        </p:nvGrpSpPr>
        <p:grpSpPr>
          <a:xfrm>
            <a:off x="4510355" y="3195140"/>
            <a:ext cx="3621334" cy="3226674"/>
            <a:chOff x="4510355" y="3195140"/>
            <a:chExt cx="3621334" cy="32266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AEC70F2-D01F-6DCB-840E-DBE65C82C378}"/>
                </a:ext>
              </a:extLst>
            </p:cNvPr>
            <p:cNvSpPr/>
            <p:nvPr/>
          </p:nvSpPr>
          <p:spPr>
            <a:xfrm>
              <a:off x="4510355" y="3195140"/>
              <a:ext cx="3621334" cy="3226674"/>
            </a:xfrm>
            <a:custGeom>
              <a:avLst/>
              <a:gdLst>
                <a:gd name="csX0" fmla="*/ 1082874 w 3949728"/>
                <a:gd name="csY0" fmla="*/ 0 h 3480180"/>
                <a:gd name="csX1" fmla="*/ 2866854 w 3949728"/>
                <a:gd name="csY1" fmla="*/ 0 h 3480180"/>
                <a:gd name="csX2" fmla="*/ 3949728 w 3949728"/>
                <a:gd name="csY2" fmla="*/ 1082874 h 3480180"/>
                <a:gd name="csX3" fmla="*/ 3949728 w 3949728"/>
                <a:gd name="csY3" fmla="*/ 1648896 h 3480180"/>
                <a:gd name="csX4" fmla="*/ 3555663 w 3949728"/>
                <a:gd name="csY4" fmla="*/ 2484494 h 3480180"/>
                <a:gd name="csX5" fmla="*/ 3509012 w 3949728"/>
                <a:gd name="csY5" fmla="*/ 2519378 h 3480180"/>
                <a:gd name="csX6" fmla="*/ 2699222 w 3949728"/>
                <a:gd name="csY6" fmla="*/ 3386120 h 3480180"/>
                <a:gd name="csX7" fmla="*/ 2676328 w 3949728"/>
                <a:gd name="csY7" fmla="*/ 3419920 h 3480180"/>
                <a:gd name="csX8" fmla="*/ 2653040 w 3949728"/>
                <a:gd name="csY8" fmla="*/ 3435550 h 3480180"/>
                <a:gd name="csX9" fmla="*/ 2610631 w 3949728"/>
                <a:gd name="csY9" fmla="*/ 3464012 h 3480180"/>
                <a:gd name="csX10" fmla="*/ 2530179 w 3949728"/>
                <a:gd name="csY10" fmla="*/ 3480180 h 3480180"/>
                <a:gd name="csX11" fmla="*/ 2339735 w 3949728"/>
                <a:gd name="csY11" fmla="*/ 3354523 h 3480180"/>
                <a:gd name="csX12" fmla="*/ 2328111 w 3949728"/>
                <a:gd name="csY12" fmla="*/ 3317248 h 3480180"/>
                <a:gd name="csX13" fmla="*/ 2328111 w 3949728"/>
                <a:gd name="csY13" fmla="*/ 3317249 h 3480180"/>
                <a:gd name="csX14" fmla="*/ 2327692 w 3949728"/>
                <a:gd name="csY14" fmla="*/ 3315905 h 3480180"/>
                <a:gd name="csX15" fmla="*/ 2323493 w 3949728"/>
                <a:gd name="csY15" fmla="*/ 3274441 h 3480180"/>
                <a:gd name="csX16" fmla="*/ 2327692 w 3949728"/>
                <a:gd name="csY16" fmla="*/ 3232977 h 3480180"/>
                <a:gd name="csX17" fmla="*/ 2328111 w 3949728"/>
                <a:gd name="csY17" fmla="*/ 3231634 h 3480180"/>
                <a:gd name="csX18" fmla="*/ 2328111 w 3949728"/>
                <a:gd name="csY18" fmla="*/ 3231633 h 3480180"/>
                <a:gd name="csX19" fmla="*/ 2328111 w 3949728"/>
                <a:gd name="csY19" fmla="*/ 2731770 h 3480180"/>
                <a:gd name="csX20" fmla="*/ 1082874 w 3949728"/>
                <a:gd name="csY20" fmla="*/ 2731770 h 3480180"/>
                <a:gd name="csX21" fmla="*/ 0 w 3949728"/>
                <a:gd name="csY21" fmla="*/ 1648896 h 3480180"/>
                <a:gd name="csX22" fmla="*/ 0 w 3949728"/>
                <a:gd name="csY22" fmla="*/ 1082874 h 3480180"/>
                <a:gd name="csX23" fmla="*/ 1082874 w 3949728"/>
                <a:gd name="csY23" fmla="*/ 0 h 34801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</a:cxnLst>
              <a:rect l="l" t="t" r="r" b="b"/>
              <a:pathLst>
                <a:path w="3949728" h="3480180">
                  <a:moveTo>
                    <a:pt x="1082874" y="0"/>
                  </a:moveTo>
                  <a:lnTo>
                    <a:pt x="2866854" y="0"/>
                  </a:lnTo>
                  <a:cubicBezTo>
                    <a:pt x="3464909" y="0"/>
                    <a:pt x="3949728" y="484819"/>
                    <a:pt x="3949728" y="1082874"/>
                  </a:cubicBezTo>
                  <a:lnTo>
                    <a:pt x="3949728" y="1648896"/>
                  </a:lnTo>
                  <a:cubicBezTo>
                    <a:pt x="3949728" y="1985302"/>
                    <a:pt x="3796328" y="2285879"/>
                    <a:pt x="3555663" y="2484494"/>
                  </a:cubicBezTo>
                  <a:lnTo>
                    <a:pt x="3509012" y="2519378"/>
                  </a:lnTo>
                  <a:lnTo>
                    <a:pt x="2699222" y="3386120"/>
                  </a:lnTo>
                  <a:lnTo>
                    <a:pt x="2676328" y="3419920"/>
                  </a:lnTo>
                  <a:lnTo>
                    <a:pt x="2653040" y="3435550"/>
                  </a:lnTo>
                  <a:lnTo>
                    <a:pt x="2610631" y="3464012"/>
                  </a:lnTo>
                  <a:cubicBezTo>
                    <a:pt x="2585903" y="3474423"/>
                    <a:pt x="2558717" y="3480180"/>
                    <a:pt x="2530179" y="3480180"/>
                  </a:cubicBezTo>
                  <a:cubicBezTo>
                    <a:pt x="2444567" y="3480180"/>
                    <a:pt x="2371112" y="3428367"/>
                    <a:pt x="2339735" y="3354523"/>
                  </a:cubicBezTo>
                  <a:lnTo>
                    <a:pt x="2328111" y="3317248"/>
                  </a:lnTo>
                  <a:lnTo>
                    <a:pt x="2328111" y="3317249"/>
                  </a:lnTo>
                  <a:lnTo>
                    <a:pt x="2327692" y="3315905"/>
                  </a:lnTo>
                  <a:cubicBezTo>
                    <a:pt x="2324939" y="3302512"/>
                    <a:pt x="2323493" y="3288645"/>
                    <a:pt x="2323493" y="3274441"/>
                  </a:cubicBezTo>
                  <a:cubicBezTo>
                    <a:pt x="2323493" y="3260238"/>
                    <a:pt x="2324939" y="3246371"/>
                    <a:pt x="2327692" y="3232977"/>
                  </a:cubicBezTo>
                  <a:lnTo>
                    <a:pt x="2328111" y="3231634"/>
                  </a:lnTo>
                  <a:lnTo>
                    <a:pt x="2328111" y="3231633"/>
                  </a:lnTo>
                  <a:lnTo>
                    <a:pt x="2328111" y="2731770"/>
                  </a:lnTo>
                  <a:lnTo>
                    <a:pt x="1082874" y="2731770"/>
                  </a:lnTo>
                  <a:cubicBezTo>
                    <a:pt x="484819" y="2731770"/>
                    <a:pt x="0" y="2246951"/>
                    <a:pt x="0" y="1648896"/>
                  </a:cubicBezTo>
                  <a:lnTo>
                    <a:pt x="0" y="1082874"/>
                  </a:lnTo>
                  <a:cubicBezTo>
                    <a:pt x="0" y="484819"/>
                    <a:pt x="484819" y="0"/>
                    <a:pt x="108287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D00903-656E-9CF7-DDD4-9505B79E914D}"/>
                </a:ext>
              </a:extLst>
            </p:cNvPr>
            <p:cNvSpPr txBox="1"/>
            <p:nvPr/>
          </p:nvSpPr>
          <p:spPr>
            <a:xfrm>
              <a:off x="5040019" y="4376025"/>
              <a:ext cx="247778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Target Website Identification</a:t>
              </a:r>
            </a:p>
            <a:p>
              <a:r>
                <a:rPr lang="en-US" sz="1100" i="1" dirty="0"/>
                <a:t>The Practo platform was selected as the data source to collect doctor-related information such as consultation fees, specialization, experience, and patient ratings across multiple cities.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5AC3C83-F117-8C6E-1BF9-B51AC0D6A6F3}"/>
                </a:ext>
              </a:extLst>
            </p:cNvPr>
            <p:cNvSpPr txBox="1"/>
            <p:nvPr/>
          </p:nvSpPr>
          <p:spPr>
            <a:xfrm>
              <a:off x="5093853" y="3969603"/>
              <a:ext cx="544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01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93C933-90B7-8CFB-F541-C59E549899C7}"/>
              </a:ext>
            </a:extLst>
          </p:cNvPr>
          <p:cNvGrpSpPr/>
          <p:nvPr/>
        </p:nvGrpSpPr>
        <p:grpSpPr>
          <a:xfrm>
            <a:off x="309173" y="423798"/>
            <a:ext cx="2969710" cy="2867351"/>
            <a:chOff x="309173" y="423798"/>
            <a:chExt cx="2969710" cy="2867351"/>
          </a:xfrm>
          <a:effectLst>
            <a:outerShdw blurRad="2921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00E25E49-E4AA-D764-7DB5-4F8150978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269" t="4780" r="23821" b="6117"/>
            <a:stretch>
              <a:fillRect/>
            </a:stretch>
          </p:blipFill>
          <p:spPr>
            <a:xfrm rot="21035291">
              <a:off x="309173" y="423798"/>
              <a:ext cx="2969710" cy="2867351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A7ACDFE-29FB-F41C-6BEE-EA0085D9182E}"/>
                </a:ext>
              </a:extLst>
            </p:cNvPr>
            <p:cNvSpPr txBox="1"/>
            <p:nvPr/>
          </p:nvSpPr>
          <p:spPr>
            <a:xfrm rot="20055873">
              <a:off x="767760" y="1532149"/>
              <a:ext cx="216731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>
                      <a:lumMod val="75000"/>
                    </a:schemeClr>
                  </a:solidFill>
                  <a:latin typeface="Algerian" panose="04020705040A02060702" pitchFamily="82" charset="0"/>
                </a:rPr>
                <a:t>Web Scrapping Process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928F4F-5959-A7C6-7700-443862419C89}"/>
              </a:ext>
            </a:extLst>
          </p:cNvPr>
          <p:cNvGrpSpPr/>
          <p:nvPr/>
        </p:nvGrpSpPr>
        <p:grpSpPr>
          <a:xfrm>
            <a:off x="6729962" y="2323732"/>
            <a:ext cx="3133229" cy="2227237"/>
            <a:chOff x="6729962" y="2323732"/>
            <a:chExt cx="3133229" cy="2227237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E8CA0CAE-14FE-F147-07CE-D2D96341534F}"/>
                </a:ext>
              </a:extLst>
            </p:cNvPr>
            <p:cNvSpPr/>
            <p:nvPr/>
          </p:nvSpPr>
          <p:spPr>
            <a:xfrm>
              <a:off x="6729962" y="2323732"/>
              <a:ext cx="3133229" cy="2227237"/>
            </a:xfrm>
            <a:prstGeom prst="roundRect">
              <a:avLst>
                <a:gd name="adj" fmla="val 3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26000">
                  <a:srgbClr val="7BCFA7"/>
                </a:gs>
                <a:gs pos="95000">
                  <a:srgbClr val="00A651"/>
                </a:gs>
              </a:gsLst>
              <a:lin ang="6000000" scaled="0"/>
            </a:gradFill>
            <a:ln>
              <a:noFill/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5282D7-C899-1ECB-E3EC-582F9E21AA23}"/>
                </a:ext>
              </a:extLst>
            </p:cNvPr>
            <p:cNvSpPr txBox="1"/>
            <p:nvPr/>
          </p:nvSpPr>
          <p:spPr>
            <a:xfrm>
              <a:off x="7067397" y="3142683"/>
              <a:ext cx="2477782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Sending Web Requests</a:t>
              </a:r>
            </a:p>
            <a:p>
              <a:r>
                <a:rPr lang="en-US" sz="1100" i="1" dirty="0"/>
                <a:t>Python’s </a:t>
              </a:r>
              <a:r>
                <a:rPr lang="en-US" sz="1100" b="1" i="1" dirty="0"/>
                <a:t>Requests library</a:t>
              </a:r>
              <a:r>
                <a:rPr lang="en-US" sz="1100" i="1" dirty="0"/>
                <a:t> was used to send HTTP requests to Practo webpages and retrieve the HTML content of the doctor listings.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B98DE83-EEEC-F435-A93C-44C14B3F234A}"/>
                </a:ext>
              </a:extLst>
            </p:cNvPr>
            <p:cNvSpPr txBox="1"/>
            <p:nvPr/>
          </p:nvSpPr>
          <p:spPr>
            <a:xfrm>
              <a:off x="8784566" y="2940616"/>
              <a:ext cx="544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02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A403600-157B-D994-0710-B289FA6B35FA}"/>
              </a:ext>
            </a:extLst>
          </p:cNvPr>
          <p:cNvGrpSpPr/>
          <p:nvPr/>
        </p:nvGrpSpPr>
        <p:grpSpPr>
          <a:xfrm>
            <a:off x="4865795" y="1093068"/>
            <a:ext cx="2773191" cy="1974667"/>
            <a:chOff x="4865795" y="1093068"/>
            <a:chExt cx="2773191" cy="1974667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790E4D8A-5CCF-B4AA-79E8-27866BA8C2DC}"/>
                </a:ext>
              </a:extLst>
            </p:cNvPr>
            <p:cNvSpPr/>
            <p:nvPr/>
          </p:nvSpPr>
          <p:spPr>
            <a:xfrm>
              <a:off x="4865795" y="1093068"/>
              <a:ext cx="2773191" cy="1974667"/>
            </a:xfrm>
            <a:prstGeom prst="roundRect">
              <a:avLst>
                <a:gd name="adj" fmla="val 3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5000">
                  <a:srgbClr val="81E9A7"/>
                </a:gs>
                <a:gs pos="100000">
                  <a:srgbClr val="0BDA51"/>
                </a:gs>
              </a:gsLst>
              <a:lin ang="5400000" scaled="1"/>
            </a:gradFill>
            <a:ln>
              <a:noFill/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BDB4FE-3170-DA2B-2CB9-5203E2189DBC}"/>
                </a:ext>
              </a:extLst>
            </p:cNvPr>
            <p:cNvSpPr txBox="1"/>
            <p:nvPr/>
          </p:nvSpPr>
          <p:spPr>
            <a:xfrm>
              <a:off x="5089622" y="1663376"/>
              <a:ext cx="247778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Parsing and Extracting Data</a:t>
              </a:r>
            </a:p>
            <a:p>
              <a:r>
                <a:rPr lang="en-US" sz="1100" i="1" dirty="0"/>
                <a:t>The retrieved HTML content was parsed using BeautifulSoup to locate and extract relevant information such as doctor name, specialization, experience, consultation fee, and patient ratings.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E5F67FA-A31C-FD31-2D6A-DD76C52C0E4F}"/>
                </a:ext>
              </a:extLst>
            </p:cNvPr>
            <p:cNvSpPr txBox="1"/>
            <p:nvPr/>
          </p:nvSpPr>
          <p:spPr>
            <a:xfrm>
              <a:off x="5366034" y="1263998"/>
              <a:ext cx="544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03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8CE7D97-C59A-3F8E-8962-D74530EBEF47}"/>
              </a:ext>
            </a:extLst>
          </p:cNvPr>
          <p:cNvGrpSpPr/>
          <p:nvPr/>
        </p:nvGrpSpPr>
        <p:grpSpPr>
          <a:xfrm>
            <a:off x="6994695" y="318914"/>
            <a:ext cx="2571032" cy="1804378"/>
            <a:chOff x="6974147" y="370284"/>
            <a:chExt cx="2571032" cy="180437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1BC6A14-31F6-8D5C-64C9-CE0D29B7C610}"/>
                </a:ext>
              </a:extLst>
            </p:cNvPr>
            <p:cNvSpPr/>
            <p:nvPr/>
          </p:nvSpPr>
          <p:spPr>
            <a:xfrm>
              <a:off x="6974147" y="370284"/>
              <a:ext cx="2571032" cy="1804378"/>
            </a:xfrm>
            <a:prstGeom prst="roundRect">
              <a:avLst>
                <a:gd name="adj" fmla="val 36667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rgbClr val="EEB500"/>
                </a:gs>
                <a:gs pos="95000">
                  <a:srgbClr val="EEB500"/>
                </a:gs>
              </a:gsLst>
              <a:lin ang="4800000" scaled="0"/>
            </a:gradFill>
            <a:ln>
              <a:noFill/>
            </a:ln>
            <a:effectLst>
              <a:outerShdw blurRad="3175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5BFB7FE-6B96-50B1-F011-12AA5571525D}"/>
                </a:ext>
              </a:extLst>
            </p:cNvPr>
            <p:cNvSpPr txBox="1"/>
            <p:nvPr/>
          </p:nvSpPr>
          <p:spPr>
            <a:xfrm>
              <a:off x="7267965" y="774869"/>
              <a:ext cx="2266155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Data Structuring and Storage</a:t>
              </a:r>
            </a:p>
            <a:p>
              <a:r>
                <a:rPr lang="en-US" sz="1100" i="1" dirty="0"/>
                <a:t>The extracted information was organized into a structured dataset using Pandas and stored for the subsequent data cleaning and analysis stages.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2DBE807-D11B-06EC-BC3E-46A385765F0F}"/>
                </a:ext>
              </a:extLst>
            </p:cNvPr>
            <p:cNvSpPr txBox="1"/>
            <p:nvPr/>
          </p:nvSpPr>
          <p:spPr>
            <a:xfrm>
              <a:off x="8306288" y="425744"/>
              <a:ext cx="5443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i="1" dirty="0"/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8257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6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8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822" tmFilter="0,0; 0.14,0.36; 0.43,0.73; 0.71,0.91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0.2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664" tmFilter="0.0,0.0; 0.25,0.07; 0.50,0.2; 0.75,0.467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3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" dur="664" tmFilter="0, 0; 0.125,0.2665; 0.25,0.4; 0.375,0.465; 0.5,0.5;  0.625,0.535; 0.75,0.6; 0.875,0.7335; 1,1">
                                              <p:stCondLst>
                                                <p:cond delay="66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9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32" tmFilter="0, 0; 0.125,0.2665; 0.25,0.4; 0.375,0.465; 0.5,0.5;  0.625,0.535; 0.75,0.6; 0.875,0.7335; 1,1">
                                              <p:stCondLst>
                                                <p:cond delay="132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27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64" tmFilter="0, 0; 0.125,0.2665; 0.25,0.4; 0.375,0.465; 0.5,0.5;  0.625,0.535; 0.75,0.6; 0.875,0.7335; 1,1">
                                              <p:stCondLst>
                                                <p:cond delay="1656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81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13" dur="26">
                                              <p:stCondLst>
                                                <p:cond delay="65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60000"/>
                                        </p:animScale>
                                        <p:animScale>
                                          <p:cBhvr>
                                            <p:cTn id="14" dur="166" decel="50000">
                                              <p:stCondLst>
                                                <p:cond delay="676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5" dur="26">
                                              <p:stCondLst>
                                                <p:cond delay="1312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80000"/>
                                        </p:animScale>
                                        <p:animScale>
                                          <p:cBhvr>
                                            <p:cTn id="16" dur="166" decel="50000">
                                              <p:stCondLst>
                                                <p:cond delay="133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7" dur="26">
                                              <p:stCondLst>
                                                <p:cond delay="1642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90000"/>
                                        </p:animScale>
                                        <p:animScale>
                                          <p:cBhvr>
                                            <p:cTn id="18" dur="166" decel="50000">
                                              <p:stCondLst>
                                                <p:cond delay="166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9" dur="26">
                                              <p:stCondLst>
                                                <p:cond delay="180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95000"/>
                                        </p:animScale>
                                        <p:animScale>
                                          <p:cBhvr>
                                            <p:cTn id="20" dur="166" decel="50000">
                                              <p:stCondLst>
                                                <p:cond delay="183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accel="25000" fill="hold" nodeType="click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5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6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accel="25000" fill="hold" nodeType="with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9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30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25000" fill="hold" nodeType="with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33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34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accel="25000" fill="hold" nodeType="withEffect" p14:presetBounceEnd="5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37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38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6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7" dur="58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8" dur="1822" tmFilter="0,0; 0.14,0.36; 0.43,0.73; 0.71,0.91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0.2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664" tmFilter="0.0,0.0; 0.25,0.07; 0.50,0.2; 0.75,0.467; 1.0,1.0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3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" dur="664" tmFilter="0, 0; 0.125,0.2665; 0.25,0.4; 0.375,0.465; 0.5,0.5;  0.625,0.535; 0.75,0.6; 0.875,0.7335; 1,1">
                                              <p:stCondLst>
                                                <p:cond delay="66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9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332" tmFilter="0, 0; 0.125,0.2665; 0.25,0.4; 0.375,0.465; 0.5,0.5;  0.625,0.535; 0.75,0.6; 0.875,0.7335; 1,1">
                                              <p:stCondLst>
                                                <p:cond delay="132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27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64" tmFilter="0, 0; 0.125,0.2665; 0.25,0.4; 0.375,0.465; 0.5,0.5;  0.625,0.535; 0.75,0.6; 0.875,0.7335; 1,1">
                                              <p:stCondLst>
                                                <p:cond delay="1656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-sin(pi*$)/81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13" dur="26">
                                              <p:stCondLst>
                                                <p:cond delay="65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60000"/>
                                        </p:animScale>
                                        <p:animScale>
                                          <p:cBhvr>
                                            <p:cTn id="14" dur="166" decel="50000">
                                              <p:stCondLst>
                                                <p:cond delay="676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5" dur="26">
                                              <p:stCondLst>
                                                <p:cond delay="1312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80000"/>
                                        </p:animScale>
                                        <p:animScale>
                                          <p:cBhvr>
                                            <p:cTn id="16" dur="166" decel="50000">
                                              <p:stCondLst>
                                                <p:cond delay="133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7" dur="26">
                                              <p:stCondLst>
                                                <p:cond delay="1642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90000"/>
                                        </p:animScale>
                                        <p:animScale>
                                          <p:cBhvr>
                                            <p:cTn id="18" dur="166" decel="50000">
                                              <p:stCondLst>
                                                <p:cond delay="166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  <p:animScale>
                                          <p:cBhvr>
                                            <p:cTn id="19" dur="26">
                                              <p:stCondLst>
                                                <p:cond delay="1808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95000"/>
                                        </p:animScale>
                                        <p:animScale>
                                          <p:cBhvr>
                                            <p:cTn id="20" dur="166" decel="50000">
                                              <p:stCondLst>
                                                <p:cond delay="1834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</p:cBhvr>
                                          <p:to x="100000" y="1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accel="2500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accel="2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2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accel="2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25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accel="25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2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992E-FD53-EE84-226E-A81E9E152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648901-9694-3E95-A442-AA274FD59B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266803F6-003C-24AD-EC2A-B593219A8D27}"/>
              </a:ext>
            </a:extLst>
          </p:cNvPr>
          <p:cNvGrpSpPr/>
          <p:nvPr/>
        </p:nvGrpSpPr>
        <p:grpSpPr>
          <a:xfrm>
            <a:off x="8385380" y="1225981"/>
            <a:ext cx="2505227" cy="3069724"/>
            <a:chOff x="8385380" y="1225981"/>
            <a:chExt cx="2505227" cy="306972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F344EDD-821B-2C78-5DE7-9D17E4B7020A}"/>
                </a:ext>
              </a:extLst>
            </p:cNvPr>
            <p:cNvSpPr/>
            <p:nvPr/>
          </p:nvSpPr>
          <p:spPr>
            <a:xfrm rot="1036298">
              <a:off x="8448189" y="1225981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016D2CE-4F6E-271C-0511-0BC48274F229}"/>
                </a:ext>
              </a:extLst>
            </p:cNvPr>
            <p:cNvSpPr txBox="1"/>
            <p:nvPr/>
          </p:nvSpPr>
          <p:spPr>
            <a:xfrm rot="1036298">
              <a:off x="9359447" y="185704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BF4971F-44D0-8611-F126-7BAB29A58AEF}"/>
                </a:ext>
              </a:extLst>
            </p:cNvPr>
            <p:cNvSpPr txBox="1"/>
            <p:nvPr/>
          </p:nvSpPr>
          <p:spPr>
            <a:xfrm rot="1036298">
              <a:off x="9423096" y="1661684"/>
              <a:ext cx="1117378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162427-16C3-44D3-B913-81C55CB94587}"/>
                </a:ext>
              </a:extLst>
            </p:cNvPr>
            <p:cNvSpPr txBox="1"/>
            <p:nvPr/>
          </p:nvSpPr>
          <p:spPr>
            <a:xfrm rot="1036298">
              <a:off x="8385380" y="3036674"/>
              <a:ext cx="2237524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ANALYSIS/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INSIGHTS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F5004CD-88D4-0737-A0BE-357C0C80EB2F}"/>
              </a:ext>
            </a:extLst>
          </p:cNvPr>
          <p:cNvGrpSpPr/>
          <p:nvPr/>
        </p:nvGrpSpPr>
        <p:grpSpPr>
          <a:xfrm>
            <a:off x="5972261" y="758693"/>
            <a:ext cx="2442418" cy="3069724"/>
            <a:chOff x="5972261" y="758693"/>
            <a:chExt cx="2442418" cy="30697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C5B77FE-A541-87B4-14F1-6D7E74D48794}"/>
                </a:ext>
              </a:extLst>
            </p:cNvPr>
            <p:cNvSpPr/>
            <p:nvPr/>
          </p:nvSpPr>
          <p:spPr>
            <a:xfrm rot="423613">
              <a:off x="5972261" y="758693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46000">
                  <a:schemeClr val="accent3">
                    <a:lumMod val="95000"/>
                    <a:lumOff val="5000"/>
                  </a:schemeClr>
                </a:gs>
                <a:gs pos="100000">
                  <a:schemeClr val="accent3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3BDF08-4D73-87D9-3128-89FEB9B0AEFF}"/>
                </a:ext>
              </a:extLst>
            </p:cNvPr>
            <p:cNvSpPr txBox="1"/>
            <p:nvPr/>
          </p:nvSpPr>
          <p:spPr>
            <a:xfrm rot="423613">
              <a:off x="6848672" y="133027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8304CF-EAA0-2CA4-76A2-702F8F19B747}"/>
                </a:ext>
              </a:extLst>
            </p:cNvPr>
            <p:cNvSpPr txBox="1"/>
            <p:nvPr/>
          </p:nvSpPr>
          <p:spPr>
            <a:xfrm rot="423613">
              <a:off x="6791733" y="1103757"/>
              <a:ext cx="1154217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62594E2-344D-FDEA-F6B7-696133AFD98C}"/>
                </a:ext>
              </a:extLst>
            </p:cNvPr>
            <p:cNvSpPr txBox="1"/>
            <p:nvPr/>
          </p:nvSpPr>
          <p:spPr>
            <a:xfrm rot="423613">
              <a:off x="6034788" y="2453304"/>
              <a:ext cx="2133437" cy="1255728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VISUALIZATION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F6A7FDA-FAE6-A516-6232-F3A991B08408}"/>
              </a:ext>
            </a:extLst>
          </p:cNvPr>
          <p:cNvGrpSpPr/>
          <p:nvPr/>
        </p:nvGrpSpPr>
        <p:grpSpPr>
          <a:xfrm>
            <a:off x="3548276" y="764395"/>
            <a:ext cx="2442418" cy="3069724"/>
            <a:chOff x="3548276" y="764395"/>
            <a:chExt cx="2442418" cy="3069724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7C1DB95-B31E-D24E-DD85-6645F7A36CB5}"/>
                </a:ext>
              </a:extLst>
            </p:cNvPr>
            <p:cNvSpPr/>
            <p:nvPr/>
          </p:nvSpPr>
          <p:spPr>
            <a:xfrm rot="21255727">
              <a:off x="3548276" y="764395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46000">
                  <a:schemeClr val="accent4">
                    <a:lumMod val="95000"/>
                    <a:lumOff val="5000"/>
                  </a:schemeClr>
                </a:gs>
                <a:gs pos="100000">
                  <a:schemeClr val="accent4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20C707C-0BE9-22EC-C05C-F026DD6882F1}"/>
                </a:ext>
              </a:extLst>
            </p:cNvPr>
            <p:cNvSpPr txBox="1"/>
            <p:nvPr/>
          </p:nvSpPr>
          <p:spPr>
            <a:xfrm rot="21255727">
              <a:off x="4352571" y="138276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2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BA1C42C-AD17-4D54-2BFF-4D73B9E6AAA6}"/>
                </a:ext>
              </a:extLst>
            </p:cNvPr>
            <p:cNvSpPr txBox="1"/>
            <p:nvPr/>
          </p:nvSpPr>
          <p:spPr>
            <a:xfrm rot="21255727">
              <a:off x="4166666" y="1101478"/>
              <a:ext cx="1184050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FF80E4-B23E-8F67-97F7-605AF555F4D6}"/>
                </a:ext>
              </a:extLst>
            </p:cNvPr>
            <p:cNvSpPr txBox="1"/>
            <p:nvPr/>
          </p:nvSpPr>
          <p:spPr>
            <a:xfrm rot="21255727">
              <a:off x="3770314" y="2528534"/>
              <a:ext cx="2165944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CLEANING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A39B989-6C42-8DF9-BE0F-38F007A1F7CD}"/>
              </a:ext>
            </a:extLst>
          </p:cNvPr>
          <p:cNvGrpSpPr/>
          <p:nvPr/>
        </p:nvGrpSpPr>
        <p:grpSpPr>
          <a:xfrm>
            <a:off x="1156509" y="1332302"/>
            <a:ext cx="2687676" cy="3069724"/>
            <a:chOff x="1156509" y="1332302"/>
            <a:chExt cx="2687676" cy="3069724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3C3F184-F4E6-F195-862C-AA7D1583AC2D}"/>
                </a:ext>
              </a:extLst>
            </p:cNvPr>
            <p:cNvSpPr/>
            <p:nvPr/>
          </p:nvSpPr>
          <p:spPr>
            <a:xfrm rot="20309291">
              <a:off x="1156509" y="1332302"/>
              <a:ext cx="2442418" cy="3069724"/>
            </a:xfrm>
            <a:prstGeom prst="roundRect">
              <a:avLst>
                <a:gd name="adj" fmla="val 13334"/>
              </a:avLst>
            </a:prstGeom>
            <a:gradFill flip="none" rotWithShape="1">
              <a:gsLst>
                <a:gs pos="0">
                  <a:schemeClr val="accent6">
                    <a:lumMod val="40000"/>
                    <a:lumOff val="60000"/>
                  </a:schemeClr>
                </a:gs>
                <a:gs pos="46000">
                  <a:schemeClr val="accent6">
                    <a:lumMod val="95000"/>
                    <a:lumOff val="5000"/>
                  </a:schemeClr>
                </a:gs>
                <a:gs pos="100000">
                  <a:schemeClr val="accent6">
                    <a:lumMod val="6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B6E05E-2158-1697-7576-8DE23C2AA6D6}"/>
                </a:ext>
              </a:extLst>
            </p:cNvPr>
            <p:cNvSpPr txBox="1"/>
            <p:nvPr/>
          </p:nvSpPr>
          <p:spPr>
            <a:xfrm rot="20309291">
              <a:off x="1935907" y="2073367"/>
              <a:ext cx="484681" cy="1209231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solidFill>
                    <a:schemeClr val="bg1"/>
                  </a:solidFill>
                  <a:latin typeface="Rockwell Extra Bold" panose="02060903040505020403" pitchFamily="18" charset="0"/>
                </a:rPr>
                <a:t>1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B023CC-992C-006C-64B4-BE53C8462D15}"/>
                </a:ext>
              </a:extLst>
            </p:cNvPr>
            <p:cNvSpPr txBox="1"/>
            <p:nvPr/>
          </p:nvSpPr>
          <p:spPr>
            <a:xfrm rot="20309291">
              <a:off x="1529455" y="1749196"/>
              <a:ext cx="1171101" cy="52322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STEP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D3967BF-AB33-5D33-7C92-596F8FBDB927}"/>
                </a:ext>
              </a:extLst>
            </p:cNvPr>
            <p:cNvSpPr txBox="1"/>
            <p:nvPr/>
          </p:nvSpPr>
          <p:spPr>
            <a:xfrm rot="20309291">
              <a:off x="1469059" y="3191954"/>
              <a:ext cx="2375126" cy="867930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DATASET</a:t>
              </a:r>
            </a:p>
            <a:p>
              <a:pPr algn="ctr">
                <a:lnSpc>
                  <a:spcPct val="90000"/>
                </a:lnSpc>
              </a:pPr>
              <a:r>
                <a:rPr lang="en-US" sz="28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OVERVIEW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13112A1-AFBF-DC23-7288-959EBD49D96A}"/>
              </a:ext>
            </a:extLst>
          </p:cNvPr>
          <p:cNvSpPr txBox="1"/>
          <p:nvPr/>
        </p:nvSpPr>
        <p:spPr>
          <a:xfrm>
            <a:off x="2034589" y="4534999"/>
            <a:ext cx="8558366" cy="1051489"/>
          </a:xfrm>
          <a:prstGeom prst="rect">
            <a:avLst/>
          </a:prstGeom>
          <a:noFill/>
        </p:spPr>
        <p:txBody>
          <a:bodyPr wrap="square" rtlCol="0">
            <a:prstTxWarp prst="textInflateTop">
              <a:avLst/>
            </a:prstTxWarp>
            <a:spAutoFit/>
          </a:bodyPr>
          <a:lstStyle/>
          <a:p>
            <a:pPr algn="ctr"/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EXPLORATORY</a:t>
            </a:r>
            <a:r>
              <a:rPr lang="en-US" sz="4000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DATA</a:t>
            </a:r>
            <a:r>
              <a:rPr lang="en-US" sz="4000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 </a:t>
            </a:r>
            <a:r>
              <a:rPr lang="en-US" sz="4000" u="sng" dirty="0">
                <a:gradFill flip="none" rotWithShape="1">
                  <a:gsLst>
                    <a:gs pos="0">
                      <a:srgbClr val="F1A5A3"/>
                    </a:gs>
                    <a:gs pos="46000">
                      <a:srgbClr val="E8685E"/>
                    </a:gs>
                    <a:gs pos="100000">
                      <a:srgbClr val="FF0000"/>
                    </a:gs>
                  </a:gsLst>
                  <a:lin ang="2700000" scaled="1"/>
                  <a:tileRect/>
                </a:gra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2893226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50F63-6685-6655-7692-0F0C281846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3000"/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7E1F6E-59D2-D40A-2209-121348185A6A}"/>
              </a:ext>
            </a:extLst>
          </p:cNvPr>
          <p:cNvSpPr txBox="1"/>
          <p:nvPr/>
        </p:nvSpPr>
        <p:spPr>
          <a:xfrm>
            <a:off x="2429838" y="2828835"/>
            <a:ext cx="7332323" cy="1200329"/>
          </a:xfrm>
          <a:prstGeom prst="rect">
            <a:avLst/>
          </a:prstGeom>
          <a:noFill/>
        </p:spPr>
        <p:txBody>
          <a:bodyPr wrap="square" rtlCol="0">
            <a:prstTxWarp prst="textStop">
              <a:avLst/>
            </a:prstTxWarp>
            <a:spAutoFit/>
          </a:bodyPr>
          <a:lstStyle/>
          <a:p>
            <a:r>
              <a:rPr lang="en-US" sz="7200" dirty="0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RAW DATASET</a:t>
            </a:r>
          </a:p>
        </p:txBody>
      </p:sp>
    </p:spTree>
    <p:extLst>
      <p:ext uri="{BB962C8B-B14F-4D97-AF65-F5344CB8AC3E}">
        <p14:creationId xmlns:p14="http://schemas.microsoft.com/office/powerpoint/2010/main" val="285504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5B162-920B-F894-4B90-A644983F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912872-91E7-1AB1-4279-500C7CB1E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0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DB3A-836E-98F1-D59E-34FE79FB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6F406B9C-611A-9350-E1FF-BFDCE41C729D}"/>
              </a:ext>
            </a:extLst>
          </p:cNvPr>
          <p:cNvSpPr/>
          <p:nvPr/>
        </p:nvSpPr>
        <p:spPr>
          <a:xfrm>
            <a:off x="5158901" y="2936658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2D7CFA5-48FD-70F7-C5CB-99AD3893B646}"/>
              </a:ext>
            </a:extLst>
          </p:cNvPr>
          <p:cNvSpPr/>
          <p:nvPr/>
        </p:nvSpPr>
        <p:spPr>
          <a:xfrm>
            <a:off x="5180950" y="4564825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1B9C320-6882-E5D2-CA92-A0CCBEB85699}"/>
              </a:ext>
            </a:extLst>
          </p:cNvPr>
          <p:cNvSpPr/>
          <p:nvPr/>
        </p:nvSpPr>
        <p:spPr>
          <a:xfrm>
            <a:off x="4419374" y="3501893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E1EEFD-D016-E347-5D1D-60724CF1B43A}"/>
              </a:ext>
            </a:extLst>
          </p:cNvPr>
          <p:cNvSpPr/>
          <p:nvPr/>
        </p:nvSpPr>
        <p:spPr>
          <a:xfrm>
            <a:off x="4694768" y="3094064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8E0D56-79D7-8970-4E6F-B20057317A3B}"/>
              </a:ext>
            </a:extLst>
          </p:cNvPr>
          <p:cNvSpPr/>
          <p:nvPr/>
        </p:nvSpPr>
        <p:spPr>
          <a:xfrm>
            <a:off x="4741554" y="4453309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892B729-5533-1776-FBDA-5E2D7FBE6D0A}"/>
              </a:ext>
            </a:extLst>
          </p:cNvPr>
          <p:cNvSpPr/>
          <p:nvPr/>
        </p:nvSpPr>
        <p:spPr>
          <a:xfrm>
            <a:off x="4426724" y="4037304"/>
            <a:ext cx="194800" cy="203093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B7C8E3C1-6B99-9F62-D1DE-83A836C631AB}"/>
              </a:ext>
            </a:extLst>
          </p:cNvPr>
          <p:cNvSpPr/>
          <p:nvPr/>
        </p:nvSpPr>
        <p:spPr>
          <a:xfrm>
            <a:off x="5190888" y="2697220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0400631B-95AC-8751-8305-650FC35E54B5}"/>
              </a:ext>
            </a:extLst>
          </p:cNvPr>
          <p:cNvSpPr/>
          <p:nvPr/>
        </p:nvSpPr>
        <p:spPr>
          <a:xfrm>
            <a:off x="4541411" y="2931798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7284A32D-E94D-381D-4628-D95BA13BF0E3}"/>
              </a:ext>
            </a:extLst>
          </p:cNvPr>
          <p:cNvSpPr/>
          <p:nvPr/>
        </p:nvSpPr>
        <p:spPr>
          <a:xfrm>
            <a:off x="4185642" y="3498669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0DCB6F8-D9D4-DF04-12C0-370343998AC5}"/>
              </a:ext>
            </a:extLst>
          </p:cNvPr>
          <p:cNvSpPr/>
          <p:nvPr/>
        </p:nvSpPr>
        <p:spPr>
          <a:xfrm>
            <a:off x="4237291" y="4198089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FFB0B554-22EE-891B-DFA7-A754255F8630}"/>
              </a:ext>
            </a:extLst>
          </p:cNvPr>
          <p:cNvSpPr/>
          <p:nvPr/>
        </p:nvSpPr>
        <p:spPr>
          <a:xfrm>
            <a:off x="4614173" y="4716493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D79F3B63-E115-6C33-5D27-C56B8146FE01}"/>
              </a:ext>
            </a:extLst>
          </p:cNvPr>
          <p:cNvSpPr/>
          <p:nvPr/>
        </p:nvSpPr>
        <p:spPr>
          <a:xfrm>
            <a:off x="5212937" y="4851889"/>
            <a:ext cx="130825" cy="135395"/>
          </a:xfrm>
          <a:prstGeom prst="ellipse">
            <a:avLst/>
          </a:prstGeom>
          <a:gradFill flip="none" rotWithShape="1">
            <a:gsLst>
              <a:gs pos="0">
                <a:srgbClr val="E96F76">
                  <a:alpha val="49000"/>
                </a:srgbClr>
              </a:gs>
              <a:gs pos="100000">
                <a:srgbClr val="E96F7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818A2C8-8BEE-7172-419A-2B020A8EC124}"/>
              </a:ext>
            </a:extLst>
          </p:cNvPr>
          <p:cNvGrpSpPr/>
          <p:nvPr/>
        </p:nvGrpSpPr>
        <p:grpSpPr>
          <a:xfrm>
            <a:off x="5061013" y="2145116"/>
            <a:ext cx="375173" cy="448062"/>
            <a:chOff x="5061013" y="2145116"/>
            <a:chExt cx="375173" cy="448062"/>
          </a:xfrm>
        </p:grpSpPr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34FF3AE-7B23-CE85-E3F6-C2464E4D09DB}"/>
                </a:ext>
              </a:extLst>
            </p:cNvPr>
            <p:cNvSpPr/>
            <p:nvPr/>
          </p:nvSpPr>
          <p:spPr>
            <a:xfrm>
              <a:off x="5076416" y="2220841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3DDC3F3-CF93-2472-5A67-19DEE1A96BA7}"/>
                </a:ext>
              </a:extLst>
            </p:cNvPr>
            <p:cNvSpPr txBox="1"/>
            <p:nvPr/>
          </p:nvSpPr>
          <p:spPr>
            <a:xfrm>
              <a:off x="5061013" y="2145116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E6522E7-1955-49B0-0C32-9EFF4C61A49C}"/>
              </a:ext>
            </a:extLst>
          </p:cNvPr>
          <p:cNvGrpSpPr/>
          <p:nvPr/>
        </p:nvGrpSpPr>
        <p:grpSpPr>
          <a:xfrm>
            <a:off x="4148435" y="2537409"/>
            <a:ext cx="375173" cy="448062"/>
            <a:chOff x="4148435" y="2537409"/>
            <a:chExt cx="375173" cy="448062"/>
          </a:xfrm>
        </p:grpSpPr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37FF0AD7-89D3-EF50-8278-470845464DCA}"/>
                </a:ext>
              </a:extLst>
            </p:cNvPr>
            <p:cNvSpPr/>
            <p:nvPr/>
          </p:nvSpPr>
          <p:spPr>
            <a:xfrm>
              <a:off x="4163838" y="2613134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AC8FA32-6C45-323F-DDBE-3624102751CF}"/>
                </a:ext>
              </a:extLst>
            </p:cNvPr>
            <p:cNvSpPr txBox="1"/>
            <p:nvPr/>
          </p:nvSpPr>
          <p:spPr>
            <a:xfrm>
              <a:off x="4148435" y="2537409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7B8035D-F518-D8C1-6632-E10C6259E9EF}"/>
              </a:ext>
            </a:extLst>
          </p:cNvPr>
          <p:cNvGrpSpPr/>
          <p:nvPr/>
        </p:nvGrpSpPr>
        <p:grpSpPr>
          <a:xfrm>
            <a:off x="3733781" y="3235844"/>
            <a:ext cx="375173" cy="448062"/>
            <a:chOff x="3733781" y="3235844"/>
            <a:chExt cx="375173" cy="448062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104B47BA-0615-328E-4A70-E2A68655E20F}"/>
                </a:ext>
              </a:extLst>
            </p:cNvPr>
            <p:cNvSpPr/>
            <p:nvPr/>
          </p:nvSpPr>
          <p:spPr>
            <a:xfrm>
              <a:off x="3749184" y="3311569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AB184687-B2FB-B0D4-D05A-E096C6B95AB3}"/>
                </a:ext>
              </a:extLst>
            </p:cNvPr>
            <p:cNvSpPr txBox="1"/>
            <p:nvPr/>
          </p:nvSpPr>
          <p:spPr>
            <a:xfrm>
              <a:off x="3733781" y="3235844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D06C93C-BAC9-AAC8-234E-588F935CB92E}"/>
              </a:ext>
            </a:extLst>
          </p:cNvPr>
          <p:cNvGrpSpPr/>
          <p:nvPr/>
        </p:nvGrpSpPr>
        <p:grpSpPr>
          <a:xfrm>
            <a:off x="3801280" y="4150446"/>
            <a:ext cx="375173" cy="448062"/>
            <a:chOff x="3801280" y="4150446"/>
            <a:chExt cx="375173" cy="448062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73D37B9-284B-06F8-BD16-89F0B8FD994F}"/>
                </a:ext>
              </a:extLst>
            </p:cNvPr>
            <p:cNvSpPr/>
            <p:nvPr/>
          </p:nvSpPr>
          <p:spPr>
            <a:xfrm>
              <a:off x="3816683" y="4226171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662C286-EF42-3AFA-D6AF-5AC851FAD9FF}"/>
                </a:ext>
              </a:extLst>
            </p:cNvPr>
            <p:cNvSpPr txBox="1"/>
            <p:nvPr/>
          </p:nvSpPr>
          <p:spPr>
            <a:xfrm>
              <a:off x="3801280" y="4150446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0F12DD1-9FE3-4877-5624-C09B31C17F88}"/>
              </a:ext>
            </a:extLst>
          </p:cNvPr>
          <p:cNvGrpSpPr/>
          <p:nvPr/>
        </p:nvGrpSpPr>
        <p:grpSpPr>
          <a:xfrm>
            <a:off x="4268399" y="4802179"/>
            <a:ext cx="375173" cy="448062"/>
            <a:chOff x="4268399" y="4802179"/>
            <a:chExt cx="375173" cy="448062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39462CC0-5672-8562-ACB2-5EFC4C46341C}"/>
                </a:ext>
              </a:extLst>
            </p:cNvPr>
            <p:cNvSpPr/>
            <p:nvPr/>
          </p:nvSpPr>
          <p:spPr>
            <a:xfrm>
              <a:off x="4283802" y="4877904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7A0297D3-445B-5D6A-2B95-A209D6142A74}"/>
                </a:ext>
              </a:extLst>
            </p:cNvPr>
            <p:cNvSpPr txBox="1"/>
            <p:nvPr/>
          </p:nvSpPr>
          <p:spPr>
            <a:xfrm>
              <a:off x="4268399" y="4802179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5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93C1C74-0F53-A6B0-CD25-17CC1AB32D80}"/>
              </a:ext>
            </a:extLst>
          </p:cNvPr>
          <p:cNvGrpSpPr/>
          <p:nvPr/>
        </p:nvGrpSpPr>
        <p:grpSpPr>
          <a:xfrm>
            <a:off x="5061013" y="5014103"/>
            <a:ext cx="375173" cy="448062"/>
            <a:chOff x="5061013" y="5014103"/>
            <a:chExt cx="375173" cy="448062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35D9B36-3982-8F6D-E685-932227935C48}"/>
                </a:ext>
              </a:extLst>
            </p:cNvPr>
            <p:cNvSpPr/>
            <p:nvPr/>
          </p:nvSpPr>
          <p:spPr>
            <a:xfrm>
              <a:off x="5076416" y="5089828"/>
              <a:ext cx="359770" cy="37233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AE2C92B-8594-ECAB-CC61-4C512757D765}"/>
                </a:ext>
              </a:extLst>
            </p:cNvPr>
            <p:cNvSpPr txBox="1"/>
            <p:nvPr/>
          </p:nvSpPr>
          <p:spPr>
            <a:xfrm>
              <a:off x="5061013" y="5014103"/>
              <a:ext cx="249237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6</a:t>
              </a:r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1F0030B0-B15E-4012-43E7-4AE76BED7B33}"/>
              </a:ext>
            </a:extLst>
          </p:cNvPr>
          <p:cNvSpPr/>
          <p:nvPr/>
        </p:nvSpPr>
        <p:spPr>
          <a:xfrm flipH="1">
            <a:off x="6853089" y="2955232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CD1EAA42-93FD-36E3-8BC3-AE635FC05176}"/>
              </a:ext>
            </a:extLst>
          </p:cNvPr>
          <p:cNvSpPr/>
          <p:nvPr/>
        </p:nvSpPr>
        <p:spPr>
          <a:xfrm flipH="1">
            <a:off x="6831032" y="4583400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7EA85F8-A5AA-BD54-7C6F-21F9E2A4395F}"/>
              </a:ext>
            </a:extLst>
          </p:cNvPr>
          <p:cNvSpPr/>
          <p:nvPr/>
        </p:nvSpPr>
        <p:spPr>
          <a:xfrm flipH="1">
            <a:off x="7592900" y="3520467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8215581-7C49-2882-62F2-D53C4C2812E9}"/>
              </a:ext>
            </a:extLst>
          </p:cNvPr>
          <p:cNvSpPr/>
          <p:nvPr/>
        </p:nvSpPr>
        <p:spPr>
          <a:xfrm flipH="1">
            <a:off x="7317400" y="3112638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560DCF2C-7F19-BB7E-AB6F-3562BE9638B8}"/>
              </a:ext>
            </a:extLst>
          </p:cNvPr>
          <p:cNvSpPr/>
          <p:nvPr/>
        </p:nvSpPr>
        <p:spPr>
          <a:xfrm flipH="1">
            <a:off x="7270595" y="4471883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C4A79C8-76F7-15C6-44E1-5578842984AF}"/>
              </a:ext>
            </a:extLst>
          </p:cNvPr>
          <p:cNvSpPr/>
          <p:nvPr/>
        </p:nvSpPr>
        <p:spPr>
          <a:xfrm flipH="1">
            <a:off x="7585547" y="4055878"/>
            <a:ext cx="194874" cy="203093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6AF227E-1761-DF67-2D8E-F0A35B6519E1}"/>
              </a:ext>
            </a:extLst>
          </p:cNvPr>
          <p:cNvSpPr/>
          <p:nvPr/>
        </p:nvSpPr>
        <p:spPr>
          <a:xfrm flipH="1">
            <a:off x="6885088" y="2715795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E687334E-E192-02C8-C879-CE7FFECD727B}"/>
              </a:ext>
            </a:extLst>
          </p:cNvPr>
          <p:cNvSpPr/>
          <p:nvPr/>
        </p:nvSpPr>
        <p:spPr>
          <a:xfrm flipH="1">
            <a:off x="7534814" y="2950372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DF49AE0B-1F12-0277-8E92-3C5D5FEF6B28}"/>
              </a:ext>
            </a:extLst>
          </p:cNvPr>
          <p:cNvSpPr/>
          <p:nvPr/>
        </p:nvSpPr>
        <p:spPr>
          <a:xfrm flipH="1">
            <a:off x="7890719" y="3500940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CF0E9F8C-D8D5-CF9D-62A0-5975F52AF8B6}"/>
              </a:ext>
            </a:extLst>
          </p:cNvPr>
          <p:cNvSpPr/>
          <p:nvPr/>
        </p:nvSpPr>
        <p:spPr>
          <a:xfrm flipH="1">
            <a:off x="7839051" y="4216663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9C0CA7D0-0443-EDEC-87F5-B8125F5118DE}"/>
              </a:ext>
            </a:extLst>
          </p:cNvPr>
          <p:cNvSpPr/>
          <p:nvPr/>
        </p:nvSpPr>
        <p:spPr>
          <a:xfrm flipH="1">
            <a:off x="7462024" y="4735068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9D133DB-1AD6-EE57-F2C7-73850DE8302C}"/>
              </a:ext>
            </a:extLst>
          </p:cNvPr>
          <p:cNvSpPr/>
          <p:nvPr/>
        </p:nvSpPr>
        <p:spPr>
          <a:xfrm flipH="1">
            <a:off x="6863032" y="4870463"/>
            <a:ext cx="130875" cy="135395"/>
          </a:xfrm>
          <a:prstGeom prst="ellipse">
            <a:avLst/>
          </a:prstGeom>
          <a:gradFill>
            <a:gsLst>
              <a:gs pos="0">
                <a:srgbClr val="ED8CAC">
                  <a:alpha val="39000"/>
                </a:srgbClr>
              </a:gs>
              <a:gs pos="100000">
                <a:srgbClr val="ED8CAC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FABA4E1-A0FB-FF10-71EB-D8A450ADB48C}"/>
              </a:ext>
            </a:extLst>
          </p:cNvPr>
          <p:cNvGrpSpPr/>
          <p:nvPr/>
        </p:nvGrpSpPr>
        <p:grpSpPr>
          <a:xfrm>
            <a:off x="6735993" y="2153104"/>
            <a:ext cx="394486" cy="458648"/>
            <a:chOff x="6735993" y="2153104"/>
            <a:chExt cx="394486" cy="458648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FAF2CDD5-7234-8C13-9647-F8E6A766040B}"/>
                </a:ext>
              </a:extLst>
            </p:cNvPr>
            <p:cNvSpPr/>
            <p:nvPr/>
          </p:nvSpPr>
          <p:spPr>
            <a:xfrm flipH="1">
              <a:off x="6770572" y="2239415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EC5A9DC-C566-1A38-F352-A8023604E94A}"/>
                </a:ext>
              </a:extLst>
            </p:cNvPr>
            <p:cNvSpPr txBox="1"/>
            <p:nvPr/>
          </p:nvSpPr>
          <p:spPr>
            <a:xfrm flipH="1">
              <a:off x="6735993" y="2153104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0646A44-31F5-363F-3931-05F773C473DC}"/>
              </a:ext>
            </a:extLst>
          </p:cNvPr>
          <p:cNvGrpSpPr/>
          <p:nvPr/>
        </p:nvGrpSpPr>
        <p:grpSpPr>
          <a:xfrm>
            <a:off x="7644925" y="2533364"/>
            <a:ext cx="382485" cy="446226"/>
            <a:chOff x="7644925" y="2533364"/>
            <a:chExt cx="382485" cy="44622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90297209-E92F-BBAA-74E0-908FA9EF5D1A}"/>
                </a:ext>
              </a:extLst>
            </p:cNvPr>
            <p:cNvSpPr/>
            <p:nvPr/>
          </p:nvSpPr>
          <p:spPr>
            <a:xfrm flipH="1">
              <a:off x="7667503" y="2607253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69D87F7-D6B2-DBB8-6470-32AC9FE47783}"/>
                </a:ext>
              </a:extLst>
            </p:cNvPr>
            <p:cNvSpPr txBox="1"/>
            <p:nvPr/>
          </p:nvSpPr>
          <p:spPr>
            <a:xfrm flipH="1">
              <a:off x="7644925" y="2533364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D20F6D5-9029-500F-1470-553E4E448A0B}"/>
              </a:ext>
            </a:extLst>
          </p:cNvPr>
          <p:cNvGrpSpPr/>
          <p:nvPr/>
        </p:nvGrpSpPr>
        <p:grpSpPr>
          <a:xfrm>
            <a:off x="8075736" y="3268289"/>
            <a:ext cx="382484" cy="458647"/>
            <a:chOff x="8075736" y="3268289"/>
            <a:chExt cx="382484" cy="458647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F9597F71-A0C4-CAF2-B159-151036A72F3C}"/>
                </a:ext>
              </a:extLst>
            </p:cNvPr>
            <p:cNvSpPr/>
            <p:nvPr/>
          </p:nvSpPr>
          <p:spPr>
            <a:xfrm flipH="1">
              <a:off x="8098313" y="3354599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7B60B97-E476-85B2-526B-9E5AE5FA3419}"/>
                </a:ext>
              </a:extLst>
            </p:cNvPr>
            <p:cNvSpPr txBox="1"/>
            <p:nvPr/>
          </p:nvSpPr>
          <p:spPr>
            <a:xfrm flipH="1">
              <a:off x="8075736" y="3268289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8BF706-C8C0-1A30-3A4A-941EE4E64F52}"/>
              </a:ext>
            </a:extLst>
          </p:cNvPr>
          <p:cNvGrpSpPr/>
          <p:nvPr/>
        </p:nvGrpSpPr>
        <p:grpSpPr>
          <a:xfrm>
            <a:off x="8002210" y="4164646"/>
            <a:ext cx="388485" cy="452437"/>
            <a:chOff x="8002210" y="4164646"/>
            <a:chExt cx="388485" cy="452437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5AA2E7E8-5155-4189-6458-316FEA57A0F8}"/>
                </a:ext>
              </a:extLst>
            </p:cNvPr>
            <p:cNvSpPr/>
            <p:nvPr/>
          </p:nvSpPr>
          <p:spPr>
            <a:xfrm flipH="1">
              <a:off x="8030788" y="4244746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1CAD76F-3187-8585-024A-66FA51B61AED}"/>
                </a:ext>
              </a:extLst>
            </p:cNvPr>
            <p:cNvSpPr txBox="1"/>
            <p:nvPr/>
          </p:nvSpPr>
          <p:spPr>
            <a:xfrm flipH="1">
              <a:off x="8002210" y="4164646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70146E-6ABC-BF52-ECF2-F52C2E4EF3DA}"/>
              </a:ext>
            </a:extLst>
          </p:cNvPr>
          <p:cNvGrpSpPr/>
          <p:nvPr/>
        </p:nvGrpSpPr>
        <p:grpSpPr>
          <a:xfrm>
            <a:off x="7534911" y="4810167"/>
            <a:ext cx="388485" cy="458648"/>
            <a:chOff x="7534911" y="4810167"/>
            <a:chExt cx="388485" cy="458648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EFAACE49-91ED-D372-C5FE-DB16930C9694}"/>
                </a:ext>
              </a:extLst>
            </p:cNvPr>
            <p:cNvSpPr/>
            <p:nvPr/>
          </p:nvSpPr>
          <p:spPr>
            <a:xfrm flipH="1">
              <a:off x="7563489" y="4896478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1CDEF38-277E-E4F4-4120-79016626D2ED}"/>
                </a:ext>
              </a:extLst>
            </p:cNvPr>
            <p:cNvSpPr txBox="1"/>
            <p:nvPr/>
          </p:nvSpPr>
          <p:spPr>
            <a:xfrm flipH="1">
              <a:off x="7534911" y="4810167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5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50E49E7-5F30-33A5-961F-A3492CD1C74D}"/>
              </a:ext>
            </a:extLst>
          </p:cNvPr>
          <p:cNvGrpSpPr/>
          <p:nvPr/>
        </p:nvGrpSpPr>
        <p:grpSpPr>
          <a:xfrm>
            <a:off x="6741994" y="5022092"/>
            <a:ext cx="388485" cy="458648"/>
            <a:chOff x="6741994" y="5022092"/>
            <a:chExt cx="388485" cy="458648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CDD2746C-C789-8EDA-B819-1E8FBD552CC2}"/>
                </a:ext>
              </a:extLst>
            </p:cNvPr>
            <p:cNvSpPr/>
            <p:nvPr/>
          </p:nvSpPr>
          <p:spPr>
            <a:xfrm flipH="1">
              <a:off x="6770572" y="5108403"/>
              <a:ext cx="359907" cy="37233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0688A509-14E5-9F49-A321-1845D76E0993}"/>
                </a:ext>
              </a:extLst>
            </p:cNvPr>
            <p:cNvSpPr txBox="1"/>
            <p:nvPr/>
          </p:nvSpPr>
          <p:spPr>
            <a:xfrm flipH="1">
              <a:off x="6741994" y="5022092"/>
              <a:ext cx="249333" cy="387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6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69DBFB8-21B8-258E-CE4D-5D93FA998096}"/>
              </a:ext>
            </a:extLst>
          </p:cNvPr>
          <p:cNvGrpSpPr/>
          <p:nvPr/>
        </p:nvGrpSpPr>
        <p:grpSpPr>
          <a:xfrm>
            <a:off x="6345389" y="3241297"/>
            <a:ext cx="1210135" cy="1252407"/>
            <a:chOff x="6345389" y="2727731"/>
            <a:chExt cx="1210135" cy="125240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BEF1968-D341-E697-8810-C4105E42EEC4}"/>
                </a:ext>
              </a:extLst>
            </p:cNvPr>
            <p:cNvSpPr/>
            <p:nvPr/>
          </p:nvSpPr>
          <p:spPr>
            <a:xfrm>
              <a:off x="6345389" y="2727731"/>
              <a:ext cx="1210135" cy="1252407"/>
            </a:xfrm>
            <a:prstGeom prst="ellipse">
              <a:avLst/>
            </a:prstGeom>
            <a:gradFill>
              <a:gsLst>
                <a:gs pos="0">
                  <a:srgbClr val="ED8CAC">
                    <a:alpha val="39000"/>
                  </a:srgbClr>
                </a:gs>
                <a:gs pos="100000">
                  <a:srgbClr val="ED8CAC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 descr="Bus with solid fill">
              <a:extLst>
                <a:ext uri="{FF2B5EF4-FFF2-40B4-BE49-F238E27FC236}">
                  <a16:creationId xmlns:a16="http://schemas.microsoft.com/office/drawing/2014/main" id="{D86D1940-029A-E401-5D3D-27F2C80EE3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71097" y="3042212"/>
              <a:ext cx="592087" cy="61277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442D144-387C-FBB3-A7B3-992B047C948F}"/>
                </a:ext>
              </a:extLst>
            </p:cNvPr>
            <p:cNvSpPr txBox="1"/>
            <p:nvPr/>
          </p:nvSpPr>
          <p:spPr>
            <a:xfrm>
              <a:off x="6596378" y="3504449"/>
              <a:ext cx="874072" cy="38920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perspectiveFront"/>
                <a:lightRig rig="threePt" dir="t"/>
              </a:scene3d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Non</a:t>
              </a:r>
            </a:p>
            <a:p>
              <a:pPr algn="ctr">
                <a:lnSpc>
                  <a:spcPct val="80000"/>
                </a:lnSpc>
              </a:pPr>
              <a:r>
                <a:rPr lang="en-US" sz="1200" b="1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Metro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08DCA15-7F37-DEB1-E4AD-F8D5C34F2661}"/>
              </a:ext>
            </a:extLst>
          </p:cNvPr>
          <p:cNvGrpSpPr/>
          <p:nvPr/>
        </p:nvGrpSpPr>
        <p:grpSpPr>
          <a:xfrm>
            <a:off x="4651235" y="3241297"/>
            <a:ext cx="1210135" cy="1252407"/>
            <a:chOff x="4651235" y="2727731"/>
            <a:chExt cx="1210135" cy="125240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099D032-C90E-9445-2193-09AEB2753AB2}"/>
                </a:ext>
              </a:extLst>
            </p:cNvPr>
            <p:cNvSpPr/>
            <p:nvPr/>
          </p:nvSpPr>
          <p:spPr>
            <a:xfrm>
              <a:off x="4651235" y="2727731"/>
              <a:ext cx="1210135" cy="1252407"/>
            </a:xfrm>
            <a:prstGeom prst="ellipse">
              <a:avLst/>
            </a:prstGeom>
            <a:gradFill flip="none" rotWithShape="1">
              <a:gsLst>
                <a:gs pos="0">
                  <a:srgbClr val="E96F76">
                    <a:alpha val="49000"/>
                  </a:srgbClr>
                </a:gs>
                <a:gs pos="100000">
                  <a:srgbClr val="E96F76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4ED0641-1977-F4DE-4838-01DE7847F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42" t="43540" r="61653" b="15985"/>
            <a:stretch>
              <a:fillRect/>
            </a:stretch>
          </p:blipFill>
          <p:spPr>
            <a:xfrm flipH="1">
              <a:off x="4808146" y="3154066"/>
              <a:ext cx="632997" cy="538511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1F855CC-C24B-1DC5-0707-3C4B53EE5329}"/>
                </a:ext>
              </a:extLst>
            </p:cNvPr>
            <p:cNvSpPr txBox="1"/>
            <p:nvPr/>
          </p:nvSpPr>
          <p:spPr>
            <a:xfrm rot="20905559">
              <a:off x="4854937" y="3552990"/>
              <a:ext cx="647372" cy="182290"/>
            </a:xfrm>
            <a:prstGeom prst="rect">
              <a:avLst/>
            </a:prstGeom>
            <a:noFill/>
          </p:spPr>
          <p:txBody>
            <a:bodyPr wrap="square" rtlCol="0">
              <a:prstTxWarp prst="textSlantUp">
                <a:avLst/>
              </a:prstTxWarp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  <a:latin typeface="Arial Black" panose="020B0A04020102020204" pitchFamily="34" charset="0"/>
                </a:rPr>
                <a:t>Metro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CD9FF4A-4E53-D846-6EB2-D0372B5AE0A7}"/>
              </a:ext>
            </a:extLst>
          </p:cNvPr>
          <p:cNvSpPr txBox="1"/>
          <p:nvPr/>
        </p:nvSpPr>
        <p:spPr>
          <a:xfrm>
            <a:off x="1890765" y="3283709"/>
            <a:ext cx="1699035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HYDERABAD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77C80-E234-AD8B-380F-BF8782FB8A63}"/>
              </a:ext>
            </a:extLst>
          </p:cNvPr>
          <p:cNvSpPr txBox="1"/>
          <p:nvPr/>
        </p:nvSpPr>
        <p:spPr>
          <a:xfrm>
            <a:off x="2007042" y="4222732"/>
            <a:ext cx="163783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latin typeface="Perpetua" panose="02020502060401020303" pitchFamily="18" charset="0"/>
              </a:defRPr>
            </a:lvl1pPr>
          </a:lstStyle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BANGALORE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90B934-FDC7-F751-6A2C-E87CE6A0AD1C}"/>
              </a:ext>
            </a:extLst>
          </p:cNvPr>
          <p:cNvSpPr txBox="1"/>
          <p:nvPr/>
        </p:nvSpPr>
        <p:spPr>
          <a:xfrm>
            <a:off x="2723260" y="2487388"/>
            <a:ext cx="126633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KOLKATA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18A7C-65A4-80C1-57BF-7782C85B85DF}"/>
              </a:ext>
            </a:extLst>
          </p:cNvPr>
          <p:cNvSpPr txBox="1"/>
          <p:nvPr/>
        </p:nvSpPr>
        <p:spPr>
          <a:xfrm>
            <a:off x="3775801" y="1726935"/>
            <a:ext cx="126633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MUMBAI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CE4606-DF61-B8C5-B986-2956F580E056}"/>
              </a:ext>
            </a:extLst>
          </p:cNvPr>
          <p:cNvSpPr txBox="1"/>
          <p:nvPr/>
        </p:nvSpPr>
        <p:spPr>
          <a:xfrm>
            <a:off x="2817102" y="4993069"/>
            <a:ext cx="126633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CHENNAI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D6E0F9-F4DB-FF88-F099-D4FCDE1BB870}"/>
              </a:ext>
            </a:extLst>
          </p:cNvPr>
          <p:cNvSpPr txBox="1"/>
          <p:nvPr/>
        </p:nvSpPr>
        <p:spPr>
          <a:xfrm>
            <a:off x="4308239" y="5665056"/>
            <a:ext cx="955349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DELHI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B127EE-3774-A5EA-991F-22EE2292FB51}"/>
              </a:ext>
            </a:extLst>
          </p:cNvPr>
          <p:cNvSpPr txBox="1"/>
          <p:nvPr/>
        </p:nvSpPr>
        <p:spPr>
          <a:xfrm>
            <a:off x="8268551" y="2425583"/>
            <a:ext cx="955349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PATNA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517F2B-9BAD-4652-FFEB-4E029B475C62}"/>
              </a:ext>
            </a:extLst>
          </p:cNvPr>
          <p:cNvSpPr txBox="1"/>
          <p:nvPr/>
        </p:nvSpPr>
        <p:spPr>
          <a:xfrm>
            <a:off x="6918288" y="5742895"/>
            <a:ext cx="856595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PUNE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275C36-8920-A67F-0A67-647E767F730C}"/>
              </a:ext>
            </a:extLst>
          </p:cNvPr>
          <p:cNvSpPr txBox="1"/>
          <p:nvPr/>
        </p:nvSpPr>
        <p:spPr>
          <a:xfrm>
            <a:off x="8635608" y="3349755"/>
            <a:ext cx="2462320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VISHAKHAPATNAM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AFD34C-C215-2B54-1497-DE02863A2B31}"/>
              </a:ext>
            </a:extLst>
          </p:cNvPr>
          <p:cNvSpPr txBox="1"/>
          <p:nvPr/>
        </p:nvSpPr>
        <p:spPr>
          <a:xfrm>
            <a:off x="8060094" y="5234379"/>
            <a:ext cx="1821561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AHMEDABAD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45EA80-3C4B-DC52-8B1E-C0DBF12642D0}"/>
              </a:ext>
            </a:extLst>
          </p:cNvPr>
          <p:cNvSpPr txBox="1"/>
          <p:nvPr/>
        </p:nvSpPr>
        <p:spPr>
          <a:xfrm>
            <a:off x="7169658" y="1726935"/>
            <a:ext cx="1912625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CHANDIGARH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23BE43-A06A-CDB9-FD85-A47B09EE8AC6}"/>
              </a:ext>
            </a:extLst>
          </p:cNvPr>
          <p:cNvSpPr txBox="1"/>
          <p:nvPr/>
        </p:nvSpPr>
        <p:spPr>
          <a:xfrm>
            <a:off x="8651416" y="4272511"/>
            <a:ext cx="1435858" cy="400110"/>
          </a:xfrm>
          <a:prstGeom prst="rect">
            <a:avLst/>
          </a:prstGeom>
          <a:noFill/>
          <a:ln>
            <a:solidFill>
              <a:srgbClr val="7030A0"/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7030A0"/>
                </a:solidFill>
                <a:latin typeface="Perpetua" panose="02020502060401020303" pitchFamily="18" charset="0"/>
              </a:rPr>
              <a:t>LUCKNOW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F1145A8-6930-F27A-C5B3-E8788BF0FE42}"/>
              </a:ext>
            </a:extLst>
          </p:cNvPr>
          <p:cNvGrpSpPr/>
          <p:nvPr/>
        </p:nvGrpSpPr>
        <p:grpSpPr>
          <a:xfrm>
            <a:off x="5498311" y="3241297"/>
            <a:ext cx="1210135" cy="1252407"/>
            <a:chOff x="5498311" y="2727731"/>
            <a:chExt cx="1210135" cy="1252407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2B7470D-2E5B-6E50-0E01-F11F8B192E1A}"/>
                </a:ext>
              </a:extLst>
            </p:cNvPr>
            <p:cNvSpPr/>
            <p:nvPr/>
          </p:nvSpPr>
          <p:spPr>
            <a:xfrm>
              <a:off x="5498311" y="2727731"/>
              <a:ext cx="1210135" cy="1252407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69E0BB2-BF48-1DCD-4193-CBD29A62F495}"/>
                </a:ext>
              </a:extLst>
            </p:cNvPr>
            <p:cNvSpPr txBox="1"/>
            <p:nvPr/>
          </p:nvSpPr>
          <p:spPr>
            <a:xfrm flipH="1">
              <a:off x="5644105" y="3429000"/>
              <a:ext cx="9218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u="sng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CITIES</a:t>
              </a:r>
            </a:p>
          </p:txBody>
        </p:sp>
        <p:pic>
          <p:nvPicPr>
            <p:cNvPr id="25" name="Graphic 24" descr="City with solid fill">
              <a:extLst>
                <a:ext uri="{FF2B5EF4-FFF2-40B4-BE49-F238E27FC236}">
                  <a16:creationId xmlns:a16="http://schemas.microsoft.com/office/drawing/2014/main" id="{3FDF6061-021E-2F4A-B48C-F0DF152ED45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783955" y="2885401"/>
              <a:ext cx="654127" cy="676977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2750BEB-77A3-903D-3E92-724216FEC1BA}"/>
              </a:ext>
            </a:extLst>
          </p:cNvPr>
          <p:cNvGrpSpPr/>
          <p:nvPr/>
        </p:nvGrpSpPr>
        <p:grpSpPr>
          <a:xfrm>
            <a:off x="4304195" y="329609"/>
            <a:ext cx="4154025" cy="649971"/>
            <a:chOff x="4304195" y="329609"/>
            <a:chExt cx="4154025" cy="649971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0BEB4FC9-43DE-0939-C7C9-E139F85F91A5}"/>
                </a:ext>
              </a:extLst>
            </p:cNvPr>
            <p:cNvSpPr/>
            <p:nvPr/>
          </p:nvSpPr>
          <p:spPr>
            <a:xfrm>
              <a:off x="4304195" y="329609"/>
              <a:ext cx="4154025" cy="64997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E3291B6-9862-0670-A24B-576B78D294BE}"/>
                </a:ext>
              </a:extLst>
            </p:cNvPr>
            <p:cNvSpPr txBox="1"/>
            <p:nvPr/>
          </p:nvSpPr>
          <p:spPr>
            <a:xfrm>
              <a:off x="4478113" y="363741"/>
              <a:ext cx="3806188" cy="5847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DATASET 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486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5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25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36" grpId="0" animBg="1"/>
      <p:bldP spid="78" grpId="0" animBg="1"/>
      <p:bldP spid="81" grpId="0" animBg="1"/>
      <p:bldP spid="82" grpId="0" animBg="1"/>
      <p:bldP spid="83" grpId="0" animBg="1"/>
      <p:bldP spid="85" grpId="0" animBg="1"/>
      <p:bldP spid="86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" grpId="0" animBg="1"/>
      <p:bldP spid="13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999F-1356-FD57-21D9-912374B9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D0C802E-AE1F-926F-603C-9383C42B0B9C}"/>
              </a:ext>
            </a:extLst>
          </p:cNvPr>
          <p:cNvSpPr/>
          <p:nvPr/>
        </p:nvSpPr>
        <p:spPr>
          <a:xfrm>
            <a:off x="5472362" y="2574398"/>
            <a:ext cx="1591848" cy="1553173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799F933-F27E-F88C-A173-483CC3F158DD}"/>
              </a:ext>
            </a:extLst>
          </p:cNvPr>
          <p:cNvGrpSpPr/>
          <p:nvPr/>
        </p:nvGrpSpPr>
        <p:grpSpPr>
          <a:xfrm>
            <a:off x="5171216" y="2277051"/>
            <a:ext cx="2226006" cy="2178901"/>
            <a:chOff x="4930156" y="2259324"/>
            <a:chExt cx="2365552" cy="237315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23BBDAB-3865-159E-6257-0BFAA2ED54C1}"/>
                </a:ext>
              </a:extLst>
            </p:cNvPr>
            <p:cNvSpPr/>
            <p:nvPr/>
          </p:nvSpPr>
          <p:spPr>
            <a:xfrm>
              <a:off x="6102652" y="2259324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22944C-D065-BA9A-1520-FE640FC8B740}"/>
                </a:ext>
              </a:extLst>
            </p:cNvPr>
            <p:cNvSpPr/>
            <p:nvPr/>
          </p:nvSpPr>
          <p:spPr>
            <a:xfrm>
              <a:off x="5407203" y="4274820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F2ACE1F-4198-2140-10AE-EF8A1CE09BC2}"/>
                </a:ext>
              </a:extLst>
            </p:cNvPr>
            <p:cNvSpPr/>
            <p:nvPr/>
          </p:nvSpPr>
          <p:spPr>
            <a:xfrm>
              <a:off x="4930156" y="3076420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0E45C9E-5856-E896-6A26-FA9B364EC699}"/>
                </a:ext>
              </a:extLst>
            </p:cNvPr>
            <p:cNvSpPr/>
            <p:nvPr/>
          </p:nvSpPr>
          <p:spPr>
            <a:xfrm>
              <a:off x="7094540" y="3350960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6E7A027-5D03-5065-4E5C-2155DD56C480}"/>
                </a:ext>
              </a:extLst>
            </p:cNvPr>
            <p:cNvSpPr/>
            <p:nvPr/>
          </p:nvSpPr>
          <p:spPr>
            <a:xfrm>
              <a:off x="6801004" y="2617044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2D8B4CF-0164-2B6A-1F94-1B8C5CA14177}"/>
                </a:ext>
              </a:extLst>
            </p:cNvPr>
            <p:cNvSpPr/>
            <p:nvPr/>
          </p:nvSpPr>
          <p:spPr>
            <a:xfrm>
              <a:off x="4981118" y="3796569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336F98-C75B-0C65-2339-E5F8FDFA36FC}"/>
                </a:ext>
              </a:extLst>
            </p:cNvPr>
            <p:cNvSpPr/>
            <p:nvPr/>
          </p:nvSpPr>
          <p:spPr>
            <a:xfrm>
              <a:off x="5335850" y="2476452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438AED-6194-AD05-0E85-F8F28CE7F5FE}"/>
                </a:ext>
              </a:extLst>
            </p:cNvPr>
            <p:cNvSpPr/>
            <p:nvPr/>
          </p:nvSpPr>
          <p:spPr>
            <a:xfrm>
              <a:off x="6174511" y="4431308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C9A11C2-00E9-A683-6852-1AAA4D493757}"/>
                </a:ext>
              </a:extLst>
            </p:cNvPr>
            <p:cNvSpPr/>
            <p:nvPr/>
          </p:nvSpPr>
          <p:spPr>
            <a:xfrm>
              <a:off x="6817012" y="4073652"/>
              <a:ext cx="201168" cy="201168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AAFF789F-6FD6-9036-5C23-5C206A3C7E52}"/>
              </a:ext>
            </a:extLst>
          </p:cNvPr>
          <p:cNvSpPr/>
          <p:nvPr/>
        </p:nvSpPr>
        <p:spPr>
          <a:xfrm>
            <a:off x="6356573" y="2026874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A6506B5-A4D7-36A5-FA88-4346B5C5BE42}"/>
              </a:ext>
            </a:extLst>
          </p:cNvPr>
          <p:cNvSpPr/>
          <p:nvPr/>
        </p:nvSpPr>
        <p:spPr>
          <a:xfrm>
            <a:off x="5494056" y="4414214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B721E7-2D52-EA0A-9DB4-46E0EB6AB9EF}"/>
              </a:ext>
            </a:extLst>
          </p:cNvPr>
          <p:cNvSpPr/>
          <p:nvPr/>
        </p:nvSpPr>
        <p:spPr>
          <a:xfrm>
            <a:off x="4920623" y="2991637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3DE41FE-73CC-C927-5E21-0CD81FFF237F}"/>
              </a:ext>
            </a:extLst>
          </p:cNvPr>
          <p:cNvSpPr/>
          <p:nvPr/>
        </p:nvSpPr>
        <p:spPr>
          <a:xfrm>
            <a:off x="7522314" y="3307169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B5BDAAF-3EDB-F192-20DE-73987E6E3F0F}"/>
              </a:ext>
            </a:extLst>
          </p:cNvPr>
          <p:cNvSpPr/>
          <p:nvPr/>
        </p:nvSpPr>
        <p:spPr>
          <a:xfrm>
            <a:off x="7169470" y="2446328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16E915-5196-0C2F-E6DB-71B87A52DB23}"/>
              </a:ext>
            </a:extLst>
          </p:cNvPr>
          <p:cNvSpPr/>
          <p:nvPr/>
        </p:nvSpPr>
        <p:spPr>
          <a:xfrm>
            <a:off x="4981882" y="3846499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3AF32B6-3406-F4BC-1A7E-7CACA389D07D}"/>
              </a:ext>
            </a:extLst>
          </p:cNvPr>
          <p:cNvSpPr/>
          <p:nvPr/>
        </p:nvSpPr>
        <p:spPr>
          <a:xfrm>
            <a:off x="5408286" y="2279437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D0A9C74-2D18-DF37-E7DB-5C894C1A08DD}"/>
              </a:ext>
            </a:extLst>
          </p:cNvPr>
          <p:cNvSpPr/>
          <p:nvPr/>
        </p:nvSpPr>
        <p:spPr>
          <a:xfrm>
            <a:off x="6405774" y="4599974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BE7E45-9283-1C21-FE25-FAD32056C11E}"/>
              </a:ext>
            </a:extLst>
          </p:cNvPr>
          <p:cNvSpPr/>
          <p:nvPr/>
        </p:nvSpPr>
        <p:spPr>
          <a:xfrm>
            <a:off x="7178090" y="4211688"/>
            <a:ext cx="111860" cy="109142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07E1E1B-1595-EBF7-9FD1-84A50592F97B}"/>
              </a:ext>
            </a:extLst>
          </p:cNvPr>
          <p:cNvSpPr/>
          <p:nvPr/>
        </p:nvSpPr>
        <p:spPr>
          <a:xfrm>
            <a:off x="6245186" y="1421604"/>
            <a:ext cx="473252" cy="461754"/>
          </a:xfrm>
          <a:prstGeom prst="ellipse">
            <a:avLst/>
          </a:prstGeom>
          <a:gradFill flip="none" rotWithShape="1">
            <a:gsLst>
              <a:gs pos="0">
                <a:srgbClr val="F05380">
                  <a:alpha val="67000"/>
                  <a:lumMod val="100000"/>
                </a:srgbClr>
              </a:gs>
              <a:gs pos="100000">
                <a:srgbClr val="F05380"/>
              </a:gs>
            </a:gsLst>
            <a:lin ang="2700000" scaled="1"/>
            <a:tileRect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2C9417-3473-FB72-9F1B-DB07F14B1C64}"/>
              </a:ext>
            </a:extLst>
          </p:cNvPr>
          <p:cNvGrpSpPr/>
          <p:nvPr/>
        </p:nvGrpSpPr>
        <p:grpSpPr>
          <a:xfrm>
            <a:off x="4927134" y="1708519"/>
            <a:ext cx="473252" cy="523220"/>
            <a:chOff x="4629410" y="1612822"/>
            <a:chExt cx="473252" cy="52322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FE7FAE1-DBB8-38C4-BBE4-A2163EAFD080}"/>
                </a:ext>
              </a:extLst>
            </p:cNvPr>
            <p:cNvSpPr/>
            <p:nvPr/>
          </p:nvSpPr>
          <p:spPr>
            <a:xfrm>
              <a:off x="4629410" y="1652833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4E5F358-6EA3-2774-3BBA-DF22F52132B1}"/>
                </a:ext>
              </a:extLst>
            </p:cNvPr>
            <p:cNvSpPr txBox="1"/>
            <p:nvPr/>
          </p:nvSpPr>
          <p:spPr>
            <a:xfrm flipH="1">
              <a:off x="4678648" y="1612822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9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A4780AD-86C6-7625-6532-54B4F3084A83}"/>
              </a:ext>
            </a:extLst>
          </p:cNvPr>
          <p:cNvSpPr txBox="1"/>
          <p:nvPr/>
        </p:nvSpPr>
        <p:spPr>
          <a:xfrm flipH="1">
            <a:off x="6291210" y="1402459"/>
            <a:ext cx="327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Eras Bold ITC" panose="020B0907030504020204" pitchFamily="34" charset="0"/>
              </a:rPr>
              <a:t>1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6C25BE-8F48-41AC-7F4F-5931ACE794F0}"/>
              </a:ext>
            </a:extLst>
          </p:cNvPr>
          <p:cNvGrpSpPr/>
          <p:nvPr/>
        </p:nvGrpSpPr>
        <p:grpSpPr>
          <a:xfrm>
            <a:off x="7327724" y="1911913"/>
            <a:ext cx="473252" cy="523220"/>
            <a:chOff x="7030000" y="1816216"/>
            <a:chExt cx="473252" cy="52322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F13FC37-2718-CF2B-FCE6-A92DE9C80B67}"/>
                </a:ext>
              </a:extLst>
            </p:cNvPr>
            <p:cNvSpPr/>
            <p:nvPr/>
          </p:nvSpPr>
          <p:spPr>
            <a:xfrm>
              <a:off x="7030000" y="1864023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8EDA383-9940-539B-A118-F23F8EF8C0BF}"/>
                </a:ext>
              </a:extLst>
            </p:cNvPr>
            <p:cNvSpPr txBox="1"/>
            <p:nvPr/>
          </p:nvSpPr>
          <p:spPr>
            <a:xfrm flipH="1">
              <a:off x="7076113" y="1816216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9FFF38-2C6D-6AB5-DA61-F7ABAB9EEFFC}"/>
              </a:ext>
            </a:extLst>
          </p:cNvPr>
          <p:cNvGrpSpPr/>
          <p:nvPr/>
        </p:nvGrpSpPr>
        <p:grpSpPr>
          <a:xfrm>
            <a:off x="7787372" y="3136433"/>
            <a:ext cx="473252" cy="523220"/>
            <a:chOff x="7489648" y="3040736"/>
            <a:chExt cx="473252" cy="5232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5AEC8CA-812B-09A3-A13F-600FC7C48BF6}"/>
                </a:ext>
              </a:extLst>
            </p:cNvPr>
            <p:cNvSpPr/>
            <p:nvPr/>
          </p:nvSpPr>
          <p:spPr>
            <a:xfrm>
              <a:off x="7489648" y="3074145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780FD35-4E3F-2AED-2B79-FC5A0370DA84}"/>
                </a:ext>
              </a:extLst>
            </p:cNvPr>
            <p:cNvSpPr txBox="1"/>
            <p:nvPr/>
          </p:nvSpPr>
          <p:spPr>
            <a:xfrm flipH="1">
              <a:off x="7541777" y="3040736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A7BE71-FB52-353E-205A-240D06B3EF3A}"/>
              </a:ext>
            </a:extLst>
          </p:cNvPr>
          <p:cNvGrpSpPr/>
          <p:nvPr/>
        </p:nvGrpSpPr>
        <p:grpSpPr>
          <a:xfrm>
            <a:off x="7309403" y="4349729"/>
            <a:ext cx="473252" cy="523220"/>
            <a:chOff x="7011679" y="4254032"/>
            <a:chExt cx="473252" cy="52322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78886BA-72EC-5BC1-51B9-C4FB67459CF5}"/>
                </a:ext>
              </a:extLst>
            </p:cNvPr>
            <p:cNvSpPr/>
            <p:nvPr/>
          </p:nvSpPr>
          <p:spPr>
            <a:xfrm>
              <a:off x="7011679" y="4274681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C9D3DCB-F37C-C21C-2B78-E4702C4AC179}"/>
                </a:ext>
              </a:extLst>
            </p:cNvPr>
            <p:cNvSpPr txBox="1"/>
            <p:nvPr/>
          </p:nvSpPr>
          <p:spPr>
            <a:xfrm flipH="1">
              <a:off x="7060600" y="4254032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FA081E-5C8F-7F0D-C345-E6AC82AD56A5}"/>
              </a:ext>
            </a:extLst>
          </p:cNvPr>
          <p:cNvGrpSpPr/>
          <p:nvPr/>
        </p:nvGrpSpPr>
        <p:grpSpPr>
          <a:xfrm>
            <a:off x="6264474" y="4851333"/>
            <a:ext cx="473252" cy="523220"/>
            <a:chOff x="5966750" y="4755636"/>
            <a:chExt cx="473252" cy="52322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B81C831-63F2-BCF5-35A3-1DECDBEA83D8}"/>
                </a:ext>
              </a:extLst>
            </p:cNvPr>
            <p:cNvSpPr/>
            <p:nvPr/>
          </p:nvSpPr>
          <p:spPr>
            <a:xfrm>
              <a:off x="5966750" y="4795382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3E2A6AD-05A0-EB03-8B8C-32D6F5F5BC86}"/>
                </a:ext>
              </a:extLst>
            </p:cNvPr>
            <p:cNvSpPr txBox="1"/>
            <p:nvPr/>
          </p:nvSpPr>
          <p:spPr>
            <a:xfrm flipH="1">
              <a:off x="6005585" y="4755636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5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D3911C1-7C61-E1A6-F166-834E10C76DF9}"/>
              </a:ext>
            </a:extLst>
          </p:cNvPr>
          <p:cNvGrpSpPr/>
          <p:nvPr/>
        </p:nvGrpSpPr>
        <p:grpSpPr>
          <a:xfrm>
            <a:off x="5043178" y="4632774"/>
            <a:ext cx="473252" cy="523220"/>
            <a:chOff x="4745454" y="4537077"/>
            <a:chExt cx="473252" cy="52322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C271F1BE-3944-217D-00D2-20810556BF17}"/>
                </a:ext>
              </a:extLst>
            </p:cNvPr>
            <p:cNvSpPr/>
            <p:nvPr/>
          </p:nvSpPr>
          <p:spPr>
            <a:xfrm>
              <a:off x="4745454" y="4575668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1C4B88-9BDD-F274-3A0B-DB9D977BFC52}"/>
                </a:ext>
              </a:extLst>
            </p:cNvPr>
            <p:cNvSpPr txBox="1"/>
            <p:nvPr/>
          </p:nvSpPr>
          <p:spPr>
            <a:xfrm flipH="1">
              <a:off x="4797512" y="4537077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6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F67409-A546-0E88-394A-E719CB9B31E2}"/>
              </a:ext>
            </a:extLst>
          </p:cNvPr>
          <p:cNvGrpSpPr/>
          <p:nvPr/>
        </p:nvGrpSpPr>
        <p:grpSpPr>
          <a:xfrm>
            <a:off x="4350217" y="3875439"/>
            <a:ext cx="473252" cy="523220"/>
            <a:chOff x="4052493" y="3779742"/>
            <a:chExt cx="473252" cy="52322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B390ABF-0250-57EE-D7FB-E6EE97084B10}"/>
                </a:ext>
              </a:extLst>
            </p:cNvPr>
            <p:cNvSpPr/>
            <p:nvPr/>
          </p:nvSpPr>
          <p:spPr>
            <a:xfrm>
              <a:off x="4052493" y="3798380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07E66B1-7656-0C74-8ECC-8BF06740CF86}"/>
                </a:ext>
              </a:extLst>
            </p:cNvPr>
            <p:cNvSpPr txBox="1"/>
            <p:nvPr/>
          </p:nvSpPr>
          <p:spPr>
            <a:xfrm flipH="1">
              <a:off x="4094797" y="3779742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7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83E06A6-962A-3D5F-05F6-382F3BDDABFA}"/>
              </a:ext>
            </a:extLst>
          </p:cNvPr>
          <p:cNvGrpSpPr/>
          <p:nvPr/>
        </p:nvGrpSpPr>
        <p:grpSpPr>
          <a:xfrm>
            <a:off x="4267335" y="2706761"/>
            <a:ext cx="473252" cy="523220"/>
            <a:chOff x="3969611" y="2611064"/>
            <a:chExt cx="473252" cy="52322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5EDB702-C454-A434-DD8A-709ECC0070F7}"/>
                </a:ext>
              </a:extLst>
            </p:cNvPr>
            <p:cNvSpPr/>
            <p:nvPr/>
          </p:nvSpPr>
          <p:spPr>
            <a:xfrm>
              <a:off x="3969611" y="2627943"/>
              <a:ext cx="473252" cy="461754"/>
            </a:xfrm>
            <a:prstGeom prst="ellipse">
              <a:avLst/>
            </a:prstGeom>
            <a:gradFill flip="none" rotWithShape="1">
              <a:gsLst>
                <a:gs pos="0">
                  <a:srgbClr val="F05380">
                    <a:alpha val="67000"/>
                    <a:lumMod val="100000"/>
                  </a:srgbClr>
                </a:gs>
                <a:gs pos="100000">
                  <a:srgbClr val="F05380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51255C4-1062-4D5A-4B1E-D9EAC42B9D39}"/>
                </a:ext>
              </a:extLst>
            </p:cNvPr>
            <p:cNvSpPr txBox="1"/>
            <p:nvPr/>
          </p:nvSpPr>
          <p:spPr>
            <a:xfrm flipH="1">
              <a:off x="4006817" y="2611064"/>
              <a:ext cx="32797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8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3083165-8AAC-2510-E890-03A31C37D7F7}"/>
              </a:ext>
            </a:extLst>
          </p:cNvPr>
          <p:cNvSpPr txBox="1"/>
          <p:nvPr/>
        </p:nvSpPr>
        <p:spPr>
          <a:xfrm>
            <a:off x="5658255" y="3158984"/>
            <a:ext cx="1297399" cy="400110"/>
          </a:xfrm>
          <a:prstGeom prst="rect">
            <a:avLst/>
          </a:prstGeom>
          <a:noFill/>
          <a:ln>
            <a:noFill/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bg1"/>
                </a:solidFill>
                <a:latin typeface="Perpetua" panose="02020502060401020303" pitchFamily="18" charset="0"/>
              </a:rPr>
              <a:t>MUMBAI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7F6D5E-1FA5-CA34-5128-6D72290C4316}"/>
              </a:ext>
            </a:extLst>
          </p:cNvPr>
          <p:cNvSpPr txBox="1"/>
          <p:nvPr/>
        </p:nvSpPr>
        <p:spPr>
          <a:xfrm>
            <a:off x="5566467" y="792043"/>
            <a:ext cx="1869265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NUEROLOGIST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6864D3-233E-BEE9-F6ED-21960EA30B60}"/>
              </a:ext>
            </a:extLst>
          </p:cNvPr>
          <p:cNvSpPr txBox="1"/>
          <p:nvPr/>
        </p:nvSpPr>
        <p:spPr>
          <a:xfrm>
            <a:off x="8023998" y="1925679"/>
            <a:ext cx="1983783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CARDIOLOGIST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CE36EE-255E-FE12-02F5-3A34F1476C17}"/>
              </a:ext>
            </a:extLst>
          </p:cNvPr>
          <p:cNvSpPr txBox="1"/>
          <p:nvPr/>
        </p:nvSpPr>
        <p:spPr>
          <a:xfrm>
            <a:off x="8572638" y="3266442"/>
            <a:ext cx="2262457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DERMATOLOGIST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83C196-2895-B394-4BAB-EE05993998BE}"/>
              </a:ext>
            </a:extLst>
          </p:cNvPr>
          <p:cNvSpPr txBox="1"/>
          <p:nvPr/>
        </p:nvSpPr>
        <p:spPr>
          <a:xfrm>
            <a:off x="8003490" y="4607205"/>
            <a:ext cx="1869265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ORTHOPEDICS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22A65B-C69E-F46F-1FF1-1122BB325A7A}"/>
              </a:ext>
            </a:extLst>
          </p:cNvPr>
          <p:cNvSpPr txBox="1"/>
          <p:nvPr/>
        </p:nvSpPr>
        <p:spPr>
          <a:xfrm>
            <a:off x="5896059" y="5516690"/>
            <a:ext cx="122723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DENTIST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B1CE22-0D92-5F37-AC4A-45675D1463AB}"/>
              </a:ext>
            </a:extLst>
          </p:cNvPr>
          <p:cNvSpPr txBox="1"/>
          <p:nvPr/>
        </p:nvSpPr>
        <p:spPr>
          <a:xfrm>
            <a:off x="4267335" y="5174498"/>
            <a:ext cx="669067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2543D6-8A04-FE80-E77D-D8D96496A51C}"/>
              </a:ext>
            </a:extLst>
          </p:cNvPr>
          <p:cNvSpPr txBox="1"/>
          <p:nvPr/>
        </p:nvSpPr>
        <p:spPr>
          <a:xfrm>
            <a:off x="1969770" y="4035221"/>
            <a:ext cx="2147049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GYANECOLOGIST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37A2A9A-2330-B5C1-F80D-CD57D764470B}"/>
              </a:ext>
            </a:extLst>
          </p:cNvPr>
          <p:cNvSpPr txBox="1"/>
          <p:nvPr/>
        </p:nvSpPr>
        <p:spPr>
          <a:xfrm>
            <a:off x="1368878" y="2727345"/>
            <a:ext cx="2611216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GENERAL PHYSICIAN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5B712A-A446-9C1F-1E24-5B26B4864B08}"/>
              </a:ext>
            </a:extLst>
          </p:cNvPr>
          <p:cNvSpPr txBox="1"/>
          <p:nvPr/>
        </p:nvSpPr>
        <p:spPr>
          <a:xfrm>
            <a:off x="2309404" y="1421604"/>
            <a:ext cx="2431184" cy="40011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Perpetua" panose="02020502060401020303" pitchFamily="18" charset="0"/>
              </a:rPr>
              <a:t>GENERAL SURGEON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7650D87B-16CA-DC38-4A18-9B161EE9F153}"/>
              </a:ext>
            </a:extLst>
          </p:cNvPr>
          <p:cNvGrpSpPr/>
          <p:nvPr/>
        </p:nvGrpSpPr>
        <p:grpSpPr>
          <a:xfrm>
            <a:off x="9991609" y="1891767"/>
            <a:ext cx="883184" cy="447694"/>
            <a:chOff x="9693885" y="1796070"/>
            <a:chExt cx="883184" cy="44769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25A62B7-54C3-8653-8B61-756CFEC67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10249090" y="1796070"/>
              <a:ext cx="327979" cy="423525"/>
            </a:xfrm>
            <a:prstGeom prst="rect">
              <a:avLst/>
            </a:prstGeom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1EB46A42-446F-DBE8-660C-94FFFB427A8C}"/>
                </a:ext>
              </a:extLst>
            </p:cNvPr>
            <p:cNvSpPr txBox="1"/>
            <p:nvPr/>
          </p:nvSpPr>
          <p:spPr>
            <a:xfrm>
              <a:off x="9693885" y="1874432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 10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43BAB07-9757-FFC6-EF5F-AA7ADFD0A44F}"/>
              </a:ext>
            </a:extLst>
          </p:cNvPr>
          <p:cNvGrpSpPr/>
          <p:nvPr/>
        </p:nvGrpSpPr>
        <p:grpSpPr>
          <a:xfrm>
            <a:off x="10883927" y="3214549"/>
            <a:ext cx="883184" cy="447694"/>
            <a:chOff x="9693885" y="1796070"/>
            <a:chExt cx="883184" cy="447694"/>
          </a:xfrm>
        </p:grpSpPr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DDE94CD7-48FA-0052-A6BC-EAADB6512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10249090" y="1796070"/>
              <a:ext cx="327979" cy="423525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E45F98B-01EF-B344-4558-FABF4159C796}"/>
                </a:ext>
              </a:extLst>
            </p:cNvPr>
            <p:cNvSpPr txBox="1"/>
            <p:nvPr/>
          </p:nvSpPr>
          <p:spPr>
            <a:xfrm>
              <a:off x="9693885" y="1874432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 10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458F5DB-29FB-DE45-644C-96170A340E80}"/>
              </a:ext>
            </a:extLst>
          </p:cNvPr>
          <p:cNvGrpSpPr/>
          <p:nvPr/>
        </p:nvGrpSpPr>
        <p:grpSpPr>
          <a:xfrm>
            <a:off x="9923710" y="4583413"/>
            <a:ext cx="883184" cy="447694"/>
            <a:chOff x="9693885" y="1796070"/>
            <a:chExt cx="883184" cy="447694"/>
          </a:xfrm>
        </p:grpSpPr>
        <p:pic>
          <p:nvPicPr>
            <p:cNvPr id="71" name="Picture 70">
              <a:extLst>
                <a:ext uri="{FF2B5EF4-FFF2-40B4-BE49-F238E27FC236}">
                  <a16:creationId xmlns:a16="http://schemas.microsoft.com/office/drawing/2014/main" id="{1B48B17D-1777-9A32-36DE-9EDA34979A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10249090" y="1796070"/>
              <a:ext cx="327979" cy="423525"/>
            </a:xfrm>
            <a:prstGeom prst="rect">
              <a:avLst/>
            </a:prstGeom>
          </p:spPr>
        </p:pic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E03FD21-8490-541E-49E8-F529F85BE7EA}"/>
                </a:ext>
              </a:extLst>
            </p:cNvPr>
            <p:cNvSpPr txBox="1"/>
            <p:nvPr/>
          </p:nvSpPr>
          <p:spPr>
            <a:xfrm>
              <a:off x="9693885" y="1874432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 10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B4FDAC9-0D00-C367-C5F0-BCA510E7A989}"/>
              </a:ext>
            </a:extLst>
          </p:cNvPr>
          <p:cNvGrpSpPr/>
          <p:nvPr/>
        </p:nvGrpSpPr>
        <p:grpSpPr>
          <a:xfrm>
            <a:off x="7158482" y="5493375"/>
            <a:ext cx="883184" cy="447694"/>
            <a:chOff x="9693885" y="1796070"/>
            <a:chExt cx="883184" cy="447694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7755B24-82D0-4EC5-72B1-4CDB08AC0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10249090" y="1796070"/>
              <a:ext cx="327979" cy="423525"/>
            </a:xfrm>
            <a:prstGeom prst="rect">
              <a:avLst/>
            </a:prstGeom>
          </p:spPr>
        </p:pic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D68327D-B514-58DF-6746-6629605F0CFD}"/>
                </a:ext>
              </a:extLst>
            </p:cNvPr>
            <p:cNvSpPr txBox="1"/>
            <p:nvPr/>
          </p:nvSpPr>
          <p:spPr>
            <a:xfrm>
              <a:off x="9693885" y="1874432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 10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324762A-2B1E-9117-9D47-E7D77CC66611}"/>
              </a:ext>
            </a:extLst>
          </p:cNvPr>
          <p:cNvGrpSpPr/>
          <p:nvPr/>
        </p:nvGrpSpPr>
        <p:grpSpPr>
          <a:xfrm>
            <a:off x="3379406" y="5162790"/>
            <a:ext cx="874216" cy="423525"/>
            <a:chOff x="3081682" y="5067093"/>
            <a:chExt cx="874216" cy="423525"/>
          </a:xfrm>
        </p:grpSpPr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48A603C6-B4D7-2746-5B22-5662B9C39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3081682" y="5067093"/>
              <a:ext cx="327979" cy="423525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72322E-8F3B-84F3-7EF6-D799EF27C75E}"/>
                </a:ext>
              </a:extLst>
            </p:cNvPr>
            <p:cNvSpPr txBox="1"/>
            <p:nvPr/>
          </p:nvSpPr>
          <p:spPr>
            <a:xfrm>
              <a:off x="3323620" y="5097874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10 X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2004848-57F6-F8F3-D084-52E65F508BC7}"/>
              </a:ext>
            </a:extLst>
          </p:cNvPr>
          <p:cNvGrpSpPr/>
          <p:nvPr/>
        </p:nvGrpSpPr>
        <p:grpSpPr>
          <a:xfrm>
            <a:off x="1026115" y="4022840"/>
            <a:ext cx="874216" cy="423525"/>
            <a:chOff x="3081682" y="5067093"/>
            <a:chExt cx="874216" cy="423525"/>
          </a:xfrm>
        </p:grpSpPr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A37DC0D3-DA2B-3C00-C899-A678446AD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3081682" y="5067093"/>
              <a:ext cx="327979" cy="423525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489F79B-A72A-DE4F-F982-3D8D7E4F9271}"/>
                </a:ext>
              </a:extLst>
            </p:cNvPr>
            <p:cNvSpPr txBox="1"/>
            <p:nvPr/>
          </p:nvSpPr>
          <p:spPr>
            <a:xfrm>
              <a:off x="3323620" y="5097874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10 X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B78F455-5B0B-51D9-B198-2598D3511D71}"/>
              </a:ext>
            </a:extLst>
          </p:cNvPr>
          <p:cNvGrpSpPr/>
          <p:nvPr/>
        </p:nvGrpSpPr>
        <p:grpSpPr>
          <a:xfrm>
            <a:off x="494662" y="2710950"/>
            <a:ext cx="874216" cy="423525"/>
            <a:chOff x="3081682" y="5067093"/>
            <a:chExt cx="874216" cy="423525"/>
          </a:xfrm>
        </p:grpSpPr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3E3C05F-3363-AB02-D628-DB61DC578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3081682" y="5067093"/>
              <a:ext cx="327979" cy="423525"/>
            </a:xfrm>
            <a:prstGeom prst="rect">
              <a:avLst/>
            </a:prstGeom>
          </p:spPr>
        </p:pic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D83CEC5-0DAE-0CCE-B344-25498831FEDD}"/>
                </a:ext>
              </a:extLst>
            </p:cNvPr>
            <p:cNvSpPr txBox="1"/>
            <p:nvPr/>
          </p:nvSpPr>
          <p:spPr>
            <a:xfrm>
              <a:off x="3323620" y="5097874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10 X</a:t>
              </a: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36F18275-75CE-0A67-FFC6-EC630E51D227}"/>
              </a:ext>
            </a:extLst>
          </p:cNvPr>
          <p:cNvGrpSpPr/>
          <p:nvPr/>
        </p:nvGrpSpPr>
        <p:grpSpPr>
          <a:xfrm>
            <a:off x="1368569" y="1431300"/>
            <a:ext cx="874216" cy="423525"/>
            <a:chOff x="3081682" y="5067093"/>
            <a:chExt cx="874216" cy="423525"/>
          </a:xfrm>
        </p:grpSpPr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6319FE88-2686-EE61-836B-2E273F2986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3081682" y="5067093"/>
              <a:ext cx="327979" cy="423525"/>
            </a:xfrm>
            <a:prstGeom prst="rect">
              <a:avLst/>
            </a:prstGeom>
          </p:spPr>
        </p:pic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FB912E0-66E7-44F7-2BEA-39381FB72A3E}"/>
                </a:ext>
              </a:extLst>
            </p:cNvPr>
            <p:cNvSpPr txBox="1"/>
            <p:nvPr/>
          </p:nvSpPr>
          <p:spPr>
            <a:xfrm>
              <a:off x="3323620" y="5097874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10 X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818E42C-4A3C-DC17-5917-B9A4A2F2A6DF}"/>
              </a:ext>
            </a:extLst>
          </p:cNvPr>
          <p:cNvGrpSpPr/>
          <p:nvPr/>
        </p:nvGrpSpPr>
        <p:grpSpPr>
          <a:xfrm>
            <a:off x="7506022" y="788321"/>
            <a:ext cx="883184" cy="447694"/>
            <a:chOff x="9693885" y="1796070"/>
            <a:chExt cx="883184" cy="447694"/>
          </a:xfrm>
        </p:grpSpPr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C76816CB-6412-A88E-2C65-984D7C0D4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200" t="28160" r="3069" b="26547"/>
            <a:stretch>
              <a:fillRect/>
            </a:stretch>
          </p:blipFill>
          <p:spPr>
            <a:xfrm>
              <a:off x="10249090" y="1796070"/>
              <a:ext cx="327979" cy="423525"/>
            </a:xfrm>
            <a:prstGeom prst="rect">
              <a:avLst/>
            </a:prstGeom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90002B9-DD14-6E4E-5168-2641B9F82AB8}"/>
                </a:ext>
              </a:extLst>
            </p:cNvPr>
            <p:cNvSpPr txBox="1"/>
            <p:nvPr/>
          </p:nvSpPr>
          <p:spPr>
            <a:xfrm>
              <a:off x="9693885" y="1874432"/>
              <a:ext cx="632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X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90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0543EB-99C5-40A6-F918-255DFA07E3F8}"/>
              </a:ext>
            </a:extLst>
          </p:cNvPr>
          <p:cNvSpPr txBox="1"/>
          <p:nvPr/>
        </p:nvSpPr>
        <p:spPr>
          <a:xfrm>
            <a:off x="3799696" y="522177"/>
            <a:ext cx="4592608" cy="52322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800" b="1" dirty="0"/>
              <a:t>DATA STRUCTURE SUMMARY</a:t>
            </a:r>
            <a:endParaRPr lang="en-US" sz="2800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7823CD8-9224-5FD3-7268-1E8E7982D2A9}"/>
              </a:ext>
            </a:extLst>
          </p:cNvPr>
          <p:cNvSpPr/>
          <p:nvPr/>
        </p:nvSpPr>
        <p:spPr>
          <a:xfrm>
            <a:off x="6092992" y="1056217"/>
            <a:ext cx="0" cy="521208"/>
          </a:xfrm>
          <a:custGeom>
            <a:avLst/>
            <a:gdLst>
              <a:gd name="csX0" fmla="*/ 0 w 6016"/>
              <a:gd name="csY0" fmla="*/ 0 h 288758"/>
              <a:gd name="csX1" fmla="*/ 6016 w 6016"/>
              <a:gd name="csY1" fmla="*/ 288758 h 288758"/>
              <a:gd name="csX2" fmla="*/ 6016 w 6016"/>
              <a:gd name="csY2" fmla="*/ 288758 h 288758"/>
              <a:gd name="csX3" fmla="*/ 6016 w 6016"/>
              <a:gd name="csY3" fmla="*/ 288758 h 288758"/>
              <a:gd name="csX4" fmla="*/ 6016 w 6016"/>
              <a:gd name="csY4" fmla="*/ 288758 h 288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16" h="288758">
                <a:moveTo>
                  <a:pt x="0" y="0"/>
                </a:moveTo>
                <a:lnTo>
                  <a:pt x="6016" y="288758"/>
                </a:lnTo>
                <a:lnTo>
                  <a:pt x="6016" y="288758"/>
                </a:lnTo>
                <a:lnTo>
                  <a:pt x="6016" y="288758"/>
                </a:lnTo>
                <a:lnTo>
                  <a:pt x="6016" y="28875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1A022D-7F22-DBA3-25D1-7918144CD7E4}"/>
              </a:ext>
            </a:extLst>
          </p:cNvPr>
          <p:cNvSpPr txBox="1"/>
          <p:nvPr/>
        </p:nvSpPr>
        <p:spPr>
          <a:xfrm>
            <a:off x="3522922" y="1722163"/>
            <a:ext cx="2205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Total Cities Covered: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D43DF36-E335-24C5-F72F-D5C7BB82C908}"/>
              </a:ext>
            </a:extLst>
          </p:cNvPr>
          <p:cNvGrpSpPr/>
          <p:nvPr/>
        </p:nvGrpSpPr>
        <p:grpSpPr>
          <a:xfrm>
            <a:off x="5784112" y="1571797"/>
            <a:ext cx="623777" cy="621792"/>
            <a:chOff x="5784112" y="1571797"/>
            <a:chExt cx="623777" cy="62179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91D4869-2FB3-CAFF-931B-B006E9E17A8A}"/>
                </a:ext>
              </a:extLst>
            </p:cNvPr>
            <p:cNvSpPr/>
            <p:nvPr/>
          </p:nvSpPr>
          <p:spPr>
            <a:xfrm>
              <a:off x="5784112" y="1571797"/>
              <a:ext cx="623777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F2E37F8-6B59-960A-E5B3-ADDD204D96F6}"/>
                </a:ext>
              </a:extLst>
            </p:cNvPr>
            <p:cNvSpPr txBox="1"/>
            <p:nvPr/>
          </p:nvSpPr>
          <p:spPr>
            <a:xfrm>
              <a:off x="5833648" y="1645219"/>
              <a:ext cx="518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12</a:t>
              </a:r>
            </a:p>
          </p:txBody>
        </p:sp>
      </p:grpSp>
      <p:sp>
        <p:nvSpPr>
          <p:cNvPr id="10" name="Left Brace 9">
            <a:extLst>
              <a:ext uri="{FF2B5EF4-FFF2-40B4-BE49-F238E27FC236}">
                <a16:creationId xmlns:a16="http://schemas.microsoft.com/office/drawing/2014/main" id="{0D61E48F-EFD4-42D8-EA18-34DA6B677531}"/>
              </a:ext>
            </a:extLst>
          </p:cNvPr>
          <p:cNvSpPr/>
          <p:nvPr/>
        </p:nvSpPr>
        <p:spPr>
          <a:xfrm>
            <a:off x="6473906" y="4672623"/>
            <a:ext cx="314897" cy="70463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27FDA78-A00A-BBC7-E7F4-EE0895633CBD}"/>
              </a:ext>
            </a:extLst>
          </p:cNvPr>
          <p:cNvGrpSpPr/>
          <p:nvPr/>
        </p:nvGrpSpPr>
        <p:grpSpPr>
          <a:xfrm>
            <a:off x="6807326" y="4452434"/>
            <a:ext cx="457200" cy="523220"/>
            <a:chOff x="6807326" y="4452434"/>
            <a:chExt cx="457200" cy="5232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A04FC50-2F04-C20F-175F-07D65F1A7159}"/>
                </a:ext>
              </a:extLst>
            </p:cNvPr>
            <p:cNvSpPr/>
            <p:nvPr/>
          </p:nvSpPr>
          <p:spPr>
            <a:xfrm>
              <a:off x="6807326" y="4463259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C4A32F-AA43-18EB-BD87-D2CC327A4978}"/>
                </a:ext>
              </a:extLst>
            </p:cNvPr>
            <p:cNvSpPr txBox="1"/>
            <p:nvPr/>
          </p:nvSpPr>
          <p:spPr>
            <a:xfrm>
              <a:off x="6856863" y="4452434"/>
              <a:ext cx="3896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6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FEB4C3E-C4D6-00D5-F27D-328CDA952F8C}"/>
              </a:ext>
            </a:extLst>
          </p:cNvPr>
          <p:cNvGrpSpPr/>
          <p:nvPr/>
        </p:nvGrpSpPr>
        <p:grpSpPr>
          <a:xfrm>
            <a:off x="6813451" y="5115646"/>
            <a:ext cx="457200" cy="523220"/>
            <a:chOff x="6813451" y="5115646"/>
            <a:chExt cx="457200" cy="52322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8E52DC9-FEED-EC0F-BA51-56A8822A3E3F}"/>
                </a:ext>
              </a:extLst>
            </p:cNvPr>
            <p:cNvSpPr/>
            <p:nvPr/>
          </p:nvSpPr>
          <p:spPr>
            <a:xfrm>
              <a:off x="6813451" y="5148656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876B6A-FEA1-F3E2-EEB4-C2B1FCC456A7}"/>
                </a:ext>
              </a:extLst>
            </p:cNvPr>
            <p:cNvSpPr txBox="1"/>
            <p:nvPr/>
          </p:nvSpPr>
          <p:spPr>
            <a:xfrm>
              <a:off x="6874911" y="5115646"/>
              <a:ext cx="3896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3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777F628-7DCD-9FD8-8E10-00536281CF1F}"/>
              </a:ext>
            </a:extLst>
          </p:cNvPr>
          <p:cNvSpPr txBox="1"/>
          <p:nvPr/>
        </p:nvSpPr>
        <p:spPr>
          <a:xfrm>
            <a:off x="7232200" y="1379123"/>
            <a:ext cx="1422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Metro Cities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B5F294-3C0A-812B-2D38-5170B643E3DA}"/>
              </a:ext>
            </a:extLst>
          </p:cNvPr>
          <p:cNvSpPr txBox="1"/>
          <p:nvPr/>
        </p:nvSpPr>
        <p:spPr>
          <a:xfrm>
            <a:off x="7221895" y="2023397"/>
            <a:ext cx="1886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Non-Metro Cities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9401523-4A0A-AFE7-4451-B105F4EC9321}"/>
              </a:ext>
            </a:extLst>
          </p:cNvPr>
          <p:cNvSpPr/>
          <p:nvPr/>
        </p:nvSpPr>
        <p:spPr>
          <a:xfrm>
            <a:off x="6108241" y="2185071"/>
            <a:ext cx="0" cy="521208"/>
          </a:xfrm>
          <a:custGeom>
            <a:avLst/>
            <a:gdLst>
              <a:gd name="csX0" fmla="*/ 0 w 6016"/>
              <a:gd name="csY0" fmla="*/ 0 h 288758"/>
              <a:gd name="csX1" fmla="*/ 6016 w 6016"/>
              <a:gd name="csY1" fmla="*/ 288758 h 288758"/>
              <a:gd name="csX2" fmla="*/ 6016 w 6016"/>
              <a:gd name="csY2" fmla="*/ 288758 h 288758"/>
              <a:gd name="csX3" fmla="*/ 6016 w 6016"/>
              <a:gd name="csY3" fmla="*/ 288758 h 288758"/>
              <a:gd name="csX4" fmla="*/ 6016 w 6016"/>
              <a:gd name="csY4" fmla="*/ 288758 h 2887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016" h="288758">
                <a:moveTo>
                  <a:pt x="0" y="0"/>
                </a:moveTo>
                <a:lnTo>
                  <a:pt x="6016" y="288758"/>
                </a:lnTo>
                <a:lnTo>
                  <a:pt x="6016" y="288758"/>
                </a:lnTo>
                <a:lnTo>
                  <a:pt x="6016" y="288758"/>
                </a:lnTo>
                <a:lnTo>
                  <a:pt x="6016" y="288758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5F113A8-13C7-386B-EC33-1DEF07667100}"/>
              </a:ext>
            </a:extLst>
          </p:cNvPr>
          <p:cNvGrpSpPr/>
          <p:nvPr/>
        </p:nvGrpSpPr>
        <p:grpSpPr>
          <a:xfrm>
            <a:off x="5799361" y="2700651"/>
            <a:ext cx="673420" cy="621792"/>
            <a:chOff x="5799361" y="2700651"/>
            <a:chExt cx="673420" cy="62179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8B7A3C3-879C-6AAD-8A3C-D34CD637F316}"/>
                </a:ext>
              </a:extLst>
            </p:cNvPr>
            <p:cNvSpPr/>
            <p:nvPr/>
          </p:nvSpPr>
          <p:spPr>
            <a:xfrm>
              <a:off x="5799361" y="2700651"/>
              <a:ext cx="623777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1547EB6-EBB3-B4D5-8076-715AD881E233}"/>
                </a:ext>
              </a:extLst>
            </p:cNvPr>
            <p:cNvSpPr txBox="1"/>
            <p:nvPr/>
          </p:nvSpPr>
          <p:spPr>
            <a:xfrm>
              <a:off x="5954093" y="2774073"/>
              <a:ext cx="518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9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E039C43-68AD-0DBB-441C-DCF324E8FBAD}"/>
              </a:ext>
            </a:extLst>
          </p:cNvPr>
          <p:cNvSpPr txBox="1"/>
          <p:nvPr/>
        </p:nvSpPr>
        <p:spPr>
          <a:xfrm>
            <a:off x="3220630" y="2851017"/>
            <a:ext cx="2523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Specializations per City: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F91160A-A05E-CEC0-E4BA-CB0CB7130FBC}"/>
              </a:ext>
            </a:extLst>
          </p:cNvPr>
          <p:cNvCxnSpPr>
            <a:cxnSpLocks/>
          </p:cNvCxnSpPr>
          <p:nvPr/>
        </p:nvCxnSpPr>
        <p:spPr>
          <a:xfrm flipV="1">
            <a:off x="6432321" y="3014901"/>
            <a:ext cx="36576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2FA184-43F1-3D83-0902-6B11A81B3BD2}"/>
              </a:ext>
            </a:extLst>
          </p:cNvPr>
          <p:cNvSpPr txBox="1"/>
          <p:nvPr/>
        </p:nvSpPr>
        <p:spPr>
          <a:xfrm>
            <a:off x="6739231" y="2834441"/>
            <a:ext cx="1449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Each Carries 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3CEE314-8D6E-39FC-6496-3FB5AE72904F}"/>
              </a:ext>
            </a:extLst>
          </p:cNvPr>
          <p:cNvGrpSpPr/>
          <p:nvPr/>
        </p:nvGrpSpPr>
        <p:grpSpPr>
          <a:xfrm>
            <a:off x="8121812" y="2758823"/>
            <a:ext cx="518688" cy="523220"/>
            <a:chOff x="8121812" y="2758823"/>
            <a:chExt cx="518688" cy="52322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8143F3E-9B0D-8EB1-037B-CFF5C458DFEC}"/>
                </a:ext>
              </a:extLst>
            </p:cNvPr>
            <p:cNvSpPr/>
            <p:nvPr/>
          </p:nvSpPr>
          <p:spPr>
            <a:xfrm>
              <a:off x="8159423" y="2774715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1CE1130-5CA7-60BC-E8F0-A3217813CB5F}"/>
                </a:ext>
              </a:extLst>
            </p:cNvPr>
            <p:cNvSpPr txBox="1"/>
            <p:nvPr/>
          </p:nvSpPr>
          <p:spPr>
            <a:xfrm>
              <a:off x="8121812" y="2758823"/>
              <a:ext cx="518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10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242C77B-EDFD-F3D3-E15D-2E3AC3172037}"/>
              </a:ext>
            </a:extLst>
          </p:cNvPr>
          <p:cNvSpPr txBox="1"/>
          <p:nvPr/>
        </p:nvSpPr>
        <p:spPr>
          <a:xfrm>
            <a:off x="8613375" y="2838809"/>
            <a:ext cx="106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doctors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B0CC6F3D-8FA1-23B6-66F3-2FC4D06118E3}"/>
              </a:ext>
            </a:extLst>
          </p:cNvPr>
          <p:cNvSpPr/>
          <p:nvPr/>
        </p:nvSpPr>
        <p:spPr>
          <a:xfrm rot="16200000">
            <a:off x="6231605" y="371457"/>
            <a:ext cx="241463" cy="6253108"/>
          </a:xfrm>
          <a:prstGeom prst="leftBrace">
            <a:avLst>
              <a:gd name="adj1" fmla="val 8333"/>
              <a:gd name="adj2" fmla="val 4608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DBBF34-3A64-2B2F-F76C-3681F4D3CDA8}"/>
              </a:ext>
            </a:extLst>
          </p:cNvPr>
          <p:cNvSpPr txBox="1"/>
          <p:nvPr/>
        </p:nvSpPr>
        <p:spPr>
          <a:xfrm>
            <a:off x="2278380" y="3803176"/>
            <a:ext cx="3505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Total Doctors/Data Entries/Rows: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776206F-BF58-24EF-2E73-4BF8F389B778}"/>
              </a:ext>
            </a:extLst>
          </p:cNvPr>
          <p:cNvGrpSpPr/>
          <p:nvPr/>
        </p:nvGrpSpPr>
        <p:grpSpPr>
          <a:xfrm>
            <a:off x="5848337" y="3727039"/>
            <a:ext cx="528108" cy="523220"/>
            <a:chOff x="5848337" y="3876124"/>
            <a:chExt cx="528108" cy="52322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5D76BBB-7B34-3DA2-58C1-5AB23DBBA73C}"/>
                </a:ext>
              </a:extLst>
            </p:cNvPr>
            <p:cNvSpPr/>
            <p:nvPr/>
          </p:nvSpPr>
          <p:spPr>
            <a:xfrm>
              <a:off x="5895136" y="3886949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F519566-916D-5B1E-D4AE-3EFEB3A439D7}"/>
                </a:ext>
              </a:extLst>
            </p:cNvPr>
            <p:cNvSpPr txBox="1"/>
            <p:nvPr/>
          </p:nvSpPr>
          <p:spPr>
            <a:xfrm>
              <a:off x="5848337" y="3876124"/>
              <a:ext cx="5281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12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CFB6CFF-E44E-DF90-4DC4-090972EAA3EC}"/>
              </a:ext>
            </a:extLst>
          </p:cNvPr>
          <p:cNvGrpSpPr/>
          <p:nvPr/>
        </p:nvGrpSpPr>
        <p:grpSpPr>
          <a:xfrm>
            <a:off x="6684845" y="3719510"/>
            <a:ext cx="584039" cy="523220"/>
            <a:chOff x="5895136" y="3876124"/>
            <a:chExt cx="584039" cy="52322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E3990D-74D9-25CD-8F03-C81AD7179E4E}"/>
                </a:ext>
              </a:extLst>
            </p:cNvPr>
            <p:cNvSpPr/>
            <p:nvPr/>
          </p:nvSpPr>
          <p:spPr>
            <a:xfrm>
              <a:off x="5895136" y="3886949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CA60154-E380-E929-D64D-4446369516F1}"/>
                </a:ext>
              </a:extLst>
            </p:cNvPr>
            <p:cNvSpPr txBox="1"/>
            <p:nvPr/>
          </p:nvSpPr>
          <p:spPr>
            <a:xfrm>
              <a:off x="5951067" y="3876124"/>
              <a:ext cx="5281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9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1FE88DD-7443-FAE3-9517-42775B486B99}"/>
              </a:ext>
            </a:extLst>
          </p:cNvPr>
          <p:cNvGrpSpPr/>
          <p:nvPr/>
        </p:nvGrpSpPr>
        <p:grpSpPr>
          <a:xfrm>
            <a:off x="7492270" y="3719510"/>
            <a:ext cx="528108" cy="523220"/>
            <a:chOff x="5871197" y="3876124"/>
            <a:chExt cx="528108" cy="52322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6F5E1DA-65F9-79AD-3767-F70221558842}"/>
                </a:ext>
              </a:extLst>
            </p:cNvPr>
            <p:cNvSpPr/>
            <p:nvPr/>
          </p:nvSpPr>
          <p:spPr>
            <a:xfrm>
              <a:off x="5895136" y="3886949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3F9348B-7E14-2285-E601-D67672205154}"/>
                </a:ext>
              </a:extLst>
            </p:cNvPr>
            <p:cNvSpPr txBox="1"/>
            <p:nvPr/>
          </p:nvSpPr>
          <p:spPr>
            <a:xfrm>
              <a:off x="5871197" y="3876124"/>
              <a:ext cx="5281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10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147832C-616A-998E-5565-4B6F544F5BD2}"/>
              </a:ext>
            </a:extLst>
          </p:cNvPr>
          <p:cNvGrpSpPr/>
          <p:nvPr/>
        </p:nvGrpSpPr>
        <p:grpSpPr>
          <a:xfrm>
            <a:off x="8327683" y="3626232"/>
            <a:ext cx="854878" cy="621792"/>
            <a:chOff x="8327683" y="3626232"/>
            <a:chExt cx="854878" cy="621792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F36A96-BE8D-C6E3-E479-F55A539026ED}"/>
                </a:ext>
              </a:extLst>
            </p:cNvPr>
            <p:cNvSpPr txBox="1"/>
            <p:nvPr/>
          </p:nvSpPr>
          <p:spPr>
            <a:xfrm>
              <a:off x="8327683" y="3682935"/>
              <a:ext cx="8548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1080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0920A8B-6DD7-DD69-F0DA-9E9A3CCA5458}"/>
                </a:ext>
              </a:extLst>
            </p:cNvPr>
            <p:cNvSpPr/>
            <p:nvPr/>
          </p:nvSpPr>
          <p:spPr>
            <a:xfrm>
              <a:off x="8332610" y="3626232"/>
              <a:ext cx="844245" cy="62179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59ACF700-6C01-954C-7DA8-E7758ACEB3DC}"/>
              </a:ext>
            </a:extLst>
          </p:cNvPr>
          <p:cNvSpPr txBox="1"/>
          <p:nvPr/>
        </p:nvSpPr>
        <p:spPr>
          <a:xfrm>
            <a:off x="6392878" y="3764687"/>
            <a:ext cx="13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50474C-C991-A4EC-BC4F-6DF8642E90B1}"/>
              </a:ext>
            </a:extLst>
          </p:cNvPr>
          <p:cNvSpPr txBox="1"/>
          <p:nvPr/>
        </p:nvSpPr>
        <p:spPr>
          <a:xfrm>
            <a:off x="7180321" y="3755934"/>
            <a:ext cx="13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8CAEF3-02C8-F176-A1FC-F91DF3BDF731}"/>
              </a:ext>
            </a:extLst>
          </p:cNvPr>
          <p:cNvSpPr txBox="1"/>
          <p:nvPr/>
        </p:nvSpPr>
        <p:spPr>
          <a:xfrm>
            <a:off x="8023231" y="3796454"/>
            <a:ext cx="130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5B315C-AF49-3EF4-AFC5-376AC4D45552}"/>
              </a:ext>
            </a:extLst>
          </p:cNvPr>
          <p:cNvSpPr txBox="1"/>
          <p:nvPr/>
        </p:nvSpPr>
        <p:spPr>
          <a:xfrm>
            <a:off x="3072365" y="4845323"/>
            <a:ext cx="2700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Total Variables (Columns):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FE740E0-C294-9AD3-4813-57B91161127E}"/>
              </a:ext>
            </a:extLst>
          </p:cNvPr>
          <p:cNvGrpSpPr/>
          <p:nvPr/>
        </p:nvGrpSpPr>
        <p:grpSpPr>
          <a:xfrm>
            <a:off x="5850401" y="4691527"/>
            <a:ext cx="673420" cy="621792"/>
            <a:chOff x="5850401" y="4691527"/>
            <a:chExt cx="673420" cy="621792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19695E2-FB45-7060-53C5-E3FF5810AE86}"/>
                </a:ext>
              </a:extLst>
            </p:cNvPr>
            <p:cNvSpPr/>
            <p:nvPr/>
          </p:nvSpPr>
          <p:spPr>
            <a:xfrm>
              <a:off x="5850401" y="4691527"/>
              <a:ext cx="623777" cy="62179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E685E0A-8421-F180-47D3-BC8A8F0D844D}"/>
                </a:ext>
              </a:extLst>
            </p:cNvPr>
            <p:cNvSpPr txBox="1"/>
            <p:nvPr/>
          </p:nvSpPr>
          <p:spPr>
            <a:xfrm>
              <a:off x="6005133" y="4764949"/>
              <a:ext cx="518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9</a:t>
              </a:r>
            </a:p>
          </p:txBody>
        </p:sp>
      </p:grpSp>
      <p:sp>
        <p:nvSpPr>
          <p:cNvPr id="56" name="Left Brace 55">
            <a:extLst>
              <a:ext uri="{FF2B5EF4-FFF2-40B4-BE49-F238E27FC236}">
                <a16:creationId xmlns:a16="http://schemas.microsoft.com/office/drawing/2014/main" id="{679CE761-02E8-CD61-D6EF-2FE92A20316C}"/>
              </a:ext>
            </a:extLst>
          </p:cNvPr>
          <p:cNvSpPr/>
          <p:nvPr/>
        </p:nvSpPr>
        <p:spPr>
          <a:xfrm>
            <a:off x="6405811" y="1506005"/>
            <a:ext cx="314897" cy="70463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AD42962-75A8-CF78-A7A8-DEC439FB11C7}"/>
              </a:ext>
            </a:extLst>
          </p:cNvPr>
          <p:cNvGrpSpPr/>
          <p:nvPr/>
        </p:nvGrpSpPr>
        <p:grpSpPr>
          <a:xfrm>
            <a:off x="6739231" y="1285816"/>
            <a:ext cx="457200" cy="523220"/>
            <a:chOff x="6739231" y="1285816"/>
            <a:chExt cx="457200" cy="52322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7D56742-150E-2269-A93E-2E756C3FA538}"/>
                </a:ext>
              </a:extLst>
            </p:cNvPr>
            <p:cNvSpPr/>
            <p:nvPr/>
          </p:nvSpPr>
          <p:spPr>
            <a:xfrm>
              <a:off x="6739231" y="1296641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A74F3A-1F8B-4C35-9DB0-EA95721A106F}"/>
                </a:ext>
              </a:extLst>
            </p:cNvPr>
            <p:cNvSpPr txBox="1"/>
            <p:nvPr/>
          </p:nvSpPr>
          <p:spPr>
            <a:xfrm>
              <a:off x="6788768" y="1285816"/>
              <a:ext cx="3896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6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CB4C797-1AE6-D329-7070-490A21DF0621}"/>
              </a:ext>
            </a:extLst>
          </p:cNvPr>
          <p:cNvGrpSpPr/>
          <p:nvPr/>
        </p:nvGrpSpPr>
        <p:grpSpPr>
          <a:xfrm>
            <a:off x="6745356" y="1949028"/>
            <a:ext cx="457200" cy="523220"/>
            <a:chOff x="6745356" y="1949028"/>
            <a:chExt cx="457200" cy="523220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4F4219C-C342-49E4-36A5-3D94697835D4}"/>
                </a:ext>
              </a:extLst>
            </p:cNvPr>
            <p:cNvSpPr/>
            <p:nvPr/>
          </p:nvSpPr>
          <p:spPr>
            <a:xfrm>
              <a:off x="6745356" y="1982038"/>
              <a:ext cx="457200" cy="4572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3D5AAD0-2C0E-F048-239A-18EBD2037715}"/>
                </a:ext>
              </a:extLst>
            </p:cNvPr>
            <p:cNvSpPr txBox="1"/>
            <p:nvPr/>
          </p:nvSpPr>
          <p:spPr>
            <a:xfrm>
              <a:off x="6806816" y="1949028"/>
              <a:ext cx="38961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latin typeface="Perpetua" panose="02020502060401020303" pitchFamily="18" charset="0"/>
                </a:rPr>
                <a:t>6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2502535A-2A8F-1FE3-2241-1E224142ECB4}"/>
              </a:ext>
            </a:extLst>
          </p:cNvPr>
          <p:cNvSpPr txBox="1"/>
          <p:nvPr/>
        </p:nvSpPr>
        <p:spPr>
          <a:xfrm>
            <a:off x="7363208" y="5192590"/>
            <a:ext cx="1775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Numerical Data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D150A3-A4CC-FCE0-EBF1-A0FF7540958B}"/>
              </a:ext>
            </a:extLst>
          </p:cNvPr>
          <p:cNvSpPr txBox="1"/>
          <p:nvPr/>
        </p:nvSpPr>
        <p:spPr>
          <a:xfrm>
            <a:off x="7369751" y="4503675"/>
            <a:ext cx="1903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Categorical Data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2DE815-6DC2-65E9-4BD9-E233A90FEB9D}"/>
              </a:ext>
            </a:extLst>
          </p:cNvPr>
          <p:cNvSpPr txBox="1"/>
          <p:nvPr/>
        </p:nvSpPr>
        <p:spPr>
          <a:xfrm>
            <a:off x="2792558" y="5925439"/>
            <a:ext cx="6606884" cy="646331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Perpetua" panose="02020502060401020303" pitchFamily="18" charset="0"/>
              </a:rPr>
              <a:t>The dataset contains consultation fee information of 1080 doctors across multiple cities and specializations.</a:t>
            </a:r>
          </a:p>
        </p:txBody>
      </p:sp>
    </p:spTree>
    <p:extLst>
      <p:ext uri="{BB962C8B-B14F-4D97-AF65-F5344CB8AC3E}">
        <p14:creationId xmlns:p14="http://schemas.microsoft.com/office/powerpoint/2010/main" val="17947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5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6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15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65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10" grpId="0" animBg="1"/>
      <p:bldP spid="15" grpId="0"/>
      <p:bldP spid="16" grpId="0"/>
      <p:bldP spid="18" grpId="0" animBg="1"/>
      <p:bldP spid="21" grpId="0"/>
      <p:bldP spid="24" grpId="0"/>
      <p:bldP spid="27" grpId="0"/>
      <p:bldP spid="28" grpId="0" animBg="1"/>
      <p:bldP spid="29" grpId="0"/>
      <p:bldP spid="45" grpId="0"/>
      <p:bldP spid="46" grpId="0"/>
      <p:bldP spid="47" grpId="0"/>
      <p:bldP spid="48" grpId="0"/>
      <p:bldP spid="56" grpId="0" animBg="1"/>
      <p:bldP spid="61" grpId="0"/>
      <p:bldP spid="62" grpId="0"/>
      <p:bldP spid="6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AA2C6A1-188A-083C-D6A7-1E15C88F2A0F}"/>
              </a:ext>
            </a:extLst>
          </p:cNvPr>
          <p:cNvSpPr/>
          <p:nvPr/>
        </p:nvSpPr>
        <p:spPr>
          <a:xfrm rot="16983492">
            <a:off x="4071433" y="1859354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C5C68653-735B-9DA9-55D6-D0F524BDD0D2}"/>
              </a:ext>
            </a:extLst>
          </p:cNvPr>
          <p:cNvSpPr/>
          <p:nvPr/>
        </p:nvSpPr>
        <p:spPr>
          <a:xfrm rot="18389377">
            <a:off x="5967746" y="488946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F5878A1-D721-6C83-0243-2A8CECA0F53A}"/>
              </a:ext>
            </a:extLst>
          </p:cNvPr>
          <p:cNvSpPr/>
          <p:nvPr/>
        </p:nvSpPr>
        <p:spPr>
          <a:xfrm rot="6078933">
            <a:off x="4831308" y="4382600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546C5EB-273C-219A-8454-126415E76927}"/>
              </a:ext>
            </a:extLst>
          </p:cNvPr>
          <p:cNvSpPr/>
          <p:nvPr/>
        </p:nvSpPr>
        <p:spPr>
          <a:xfrm rot="7244816">
            <a:off x="6643271" y="2418990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A07EE7F-86FF-335E-59C5-7E50F5A19685}"/>
              </a:ext>
            </a:extLst>
          </p:cNvPr>
          <p:cNvSpPr/>
          <p:nvPr/>
        </p:nvSpPr>
        <p:spPr>
          <a:xfrm rot="4962268">
            <a:off x="9413495" y="765226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70DC436-C7F7-7B88-2F9A-AFCF38C88EEE}"/>
              </a:ext>
            </a:extLst>
          </p:cNvPr>
          <p:cNvSpPr/>
          <p:nvPr/>
        </p:nvSpPr>
        <p:spPr>
          <a:xfrm rot="18386913">
            <a:off x="1959980" y="3808964"/>
            <a:ext cx="1241452" cy="2322328"/>
          </a:xfrm>
          <a:custGeom>
            <a:avLst/>
            <a:gdLst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20166 w 1131378"/>
              <a:gd name="csY7" fmla="*/ 27655 h 2011944"/>
              <a:gd name="csX0" fmla="*/ 565688 w 1131378"/>
              <a:gd name="csY0" fmla="*/ 0 h 2011944"/>
              <a:gd name="csX1" fmla="*/ 611212 w 1131378"/>
              <a:gd name="csY1" fmla="*/ 27656 h 2011944"/>
              <a:gd name="csX2" fmla="*/ 1131378 w 1131378"/>
              <a:gd name="csY2" fmla="*/ 1005972 h 2011944"/>
              <a:gd name="csX3" fmla="*/ 611212 w 1131378"/>
              <a:gd name="csY3" fmla="*/ 1984288 h 2011944"/>
              <a:gd name="csX4" fmla="*/ 565690 w 1131378"/>
              <a:gd name="csY4" fmla="*/ 2011944 h 2011944"/>
              <a:gd name="csX5" fmla="*/ 520166 w 1131378"/>
              <a:gd name="csY5" fmla="*/ 1984287 h 2011944"/>
              <a:gd name="csX6" fmla="*/ 0 w 1131378"/>
              <a:gd name="csY6" fmla="*/ 1005971 h 2011944"/>
              <a:gd name="csX7" fmla="*/ 565688 w 1131378"/>
              <a:gd name="csY7" fmla="*/ 0 h 2011944"/>
              <a:gd name="csX0" fmla="*/ 565688 w 1131378"/>
              <a:gd name="csY0" fmla="*/ 0 h 2011944"/>
              <a:gd name="csX1" fmla="*/ 1131378 w 1131378"/>
              <a:gd name="csY1" fmla="*/ 1005972 h 2011944"/>
              <a:gd name="csX2" fmla="*/ 611212 w 1131378"/>
              <a:gd name="csY2" fmla="*/ 1984288 h 2011944"/>
              <a:gd name="csX3" fmla="*/ 565690 w 1131378"/>
              <a:gd name="csY3" fmla="*/ 2011944 h 2011944"/>
              <a:gd name="csX4" fmla="*/ 520166 w 1131378"/>
              <a:gd name="csY4" fmla="*/ 1984287 h 2011944"/>
              <a:gd name="csX5" fmla="*/ 0 w 1131378"/>
              <a:gd name="csY5" fmla="*/ 1005971 h 2011944"/>
              <a:gd name="csX6" fmla="*/ 565688 w 1131378"/>
              <a:gd name="csY6" fmla="*/ 0 h 201194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21971 w 1132085"/>
              <a:gd name="csY0" fmla="*/ 0 h 2095734"/>
              <a:gd name="csX1" fmla="*/ 1131378 w 1132085"/>
              <a:gd name="csY1" fmla="*/ 1089762 h 2095734"/>
              <a:gd name="csX2" fmla="*/ 611212 w 1132085"/>
              <a:gd name="csY2" fmla="*/ 2068078 h 2095734"/>
              <a:gd name="csX3" fmla="*/ 565690 w 1132085"/>
              <a:gd name="csY3" fmla="*/ 2095734 h 2095734"/>
              <a:gd name="csX4" fmla="*/ 520166 w 1132085"/>
              <a:gd name="csY4" fmla="*/ 2068077 h 2095734"/>
              <a:gd name="csX5" fmla="*/ 0 w 1132085"/>
              <a:gd name="csY5" fmla="*/ 1089761 h 2095734"/>
              <a:gd name="csX6" fmla="*/ 521971 w 1132085"/>
              <a:gd name="csY6" fmla="*/ 0 h 2095734"/>
              <a:gd name="csX0" fmla="*/ 536679 w 1146793"/>
              <a:gd name="csY0" fmla="*/ 0 h 2095734"/>
              <a:gd name="csX1" fmla="*/ 1146086 w 1146793"/>
              <a:gd name="csY1" fmla="*/ 1089762 h 2095734"/>
              <a:gd name="csX2" fmla="*/ 625920 w 1146793"/>
              <a:gd name="csY2" fmla="*/ 2068078 h 2095734"/>
              <a:gd name="csX3" fmla="*/ 580398 w 1146793"/>
              <a:gd name="csY3" fmla="*/ 2095734 h 2095734"/>
              <a:gd name="csX4" fmla="*/ 534874 w 1146793"/>
              <a:gd name="csY4" fmla="*/ 2068077 h 2095734"/>
              <a:gd name="csX5" fmla="*/ 14708 w 1146793"/>
              <a:gd name="csY5" fmla="*/ 1089761 h 2095734"/>
              <a:gd name="csX6" fmla="*/ 536679 w 1146793"/>
              <a:gd name="csY6" fmla="*/ 0 h 2095734"/>
              <a:gd name="csX0" fmla="*/ 534948 w 1145062"/>
              <a:gd name="csY0" fmla="*/ 0 h 2095734"/>
              <a:gd name="csX1" fmla="*/ 1144355 w 1145062"/>
              <a:gd name="csY1" fmla="*/ 1089762 h 2095734"/>
              <a:gd name="csX2" fmla="*/ 624189 w 1145062"/>
              <a:gd name="csY2" fmla="*/ 2068078 h 2095734"/>
              <a:gd name="csX3" fmla="*/ 578667 w 1145062"/>
              <a:gd name="csY3" fmla="*/ 2095734 h 2095734"/>
              <a:gd name="csX4" fmla="*/ 533143 w 1145062"/>
              <a:gd name="csY4" fmla="*/ 2068077 h 2095734"/>
              <a:gd name="csX5" fmla="*/ 12977 w 1145062"/>
              <a:gd name="csY5" fmla="*/ 1089761 h 2095734"/>
              <a:gd name="csX6" fmla="*/ 534948 w 1145062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523017 w 1134936"/>
              <a:gd name="csY4" fmla="*/ 2068077 h 2095734"/>
              <a:gd name="csX5" fmla="*/ 2851 w 1134936"/>
              <a:gd name="csY5" fmla="*/ 1089761 h 2095734"/>
              <a:gd name="csX6" fmla="*/ 524822 w 1134936"/>
              <a:gd name="csY6" fmla="*/ 0 h 2095734"/>
              <a:gd name="csX0" fmla="*/ 524822 w 1134936"/>
              <a:gd name="csY0" fmla="*/ 0 h 2095734"/>
              <a:gd name="csX1" fmla="*/ 1134229 w 1134936"/>
              <a:gd name="csY1" fmla="*/ 1089762 h 2095734"/>
              <a:gd name="csX2" fmla="*/ 614063 w 1134936"/>
              <a:gd name="csY2" fmla="*/ 2068078 h 2095734"/>
              <a:gd name="csX3" fmla="*/ 568541 w 1134936"/>
              <a:gd name="csY3" fmla="*/ 2095734 h 2095734"/>
              <a:gd name="csX4" fmla="*/ 2851 w 1134936"/>
              <a:gd name="csY4" fmla="*/ 1089761 h 2095734"/>
              <a:gd name="csX5" fmla="*/ 524822 w 1134936"/>
              <a:gd name="csY5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4822 w 1134331"/>
              <a:gd name="csY0" fmla="*/ 0 h 2095734"/>
              <a:gd name="csX1" fmla="*/ 1134229 w 1134331"/>
              <a:gd name="csY1" fmla="*/ 1089762 h 2095734"/>
              <a:gd name="csX2" fmla="*/ 568541 w 1134331"/>
              <a:gd name="csY2" fmla="*/ 2095734 h 2095734"/>
              <a:gd name="csX3" fmla="*/ 2851 w 1134331"/>
              <a:gd name="csY3" fmla="*/ 1089761 h 2095734"/>
              <a:gd name="csX4" fmla="*/ 524822 w 1134331"/>
              <a:gd name="csY4" fmla="*/ 0 h 209573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2076 w 1131623"/>
              <a:gd name="csY0" fmla="*/ 0 h 2132164"/>
              <a:gd name="csX1" fmla="*/ 1131483 w 1131623"/>
              <a:gd name="csY1" fmla="*/ 1089762 h 2132164"/>
              <a:gd name="csX2" fmla="*/ 573081 w 1131623"/>
              <a:gd name="csY2" fmla="*/ 2132164 h 2132164"/>
              <a:gd name="csX3" fmla="*/ 105 w 1131623"/>
              <a:gd name="csY3" fmla="*/ 1089761 h 2132164"/>
              <a:gd name="csX4" fmla="*/ 522076 w 1131623"/>
              <a:gd name="csY4" fmla="*/ 0 h 2132164"/>
              <a:gd name="csX0" fmla="*/ 523123 w 1132670"/>
              <a:gd name="csY0" fmla="*/ 0 h 2132164"/>
              <a:gd name="csX1" fmla="*/ 1132530 w 1132670"/>
              <a:gd name="csY1" fmla="*/ 1089762 h 2132164"/>
              <a:gd name="csX2" fmla="*/ 574128 w 1132670"/>
              <a:gd name="csY2" fmla="*/ 2132164 h 2132164"/>
              <a:gd name="csX3" fmla="*/ 1152 w 1132670"/>
              <a:gd name="csY3" fmla="*/ 1089761 h 2132164"/>
              <a:gd name="csX4" fmla="*/ 523123 w 1132670"/>
              <a:gd name="csY4" fmla="*/ 0 h 2132164"/>
              <a:gd name="csX0" fmla="*/ 523123 w 1132638"/>
              <a:gd name="csY0" fmla="*/ 0 h 2132164"/>
              <a:gd name="csX1" fmla="*/ 1132530 w 1132638"/>
              <a:gd name="csY1" fmla="*/ 1089762 h 2132164"/>
              <a:gd name="csX2" fmla="*/ 574128 w 1132638"/>
              <a:gd name="csY2" fmla="*/ 2132164 h 2132164"/>
              <a:gd name="csX3" fmla="*/ 1152 w 1132638"/>
              <a:gd name="csY3" fmla="*/ 1089761 h 2132164"/>
              <a:gd name="csX4" fmla="*/ 523123 w 1132638"/>
              <a:gd name="csY4" fmla="*/ 0 h 21321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32638" h="2132164">
                <a:moveTo>
                  <a:pt x="523123" y="0"/>
                </a:moveTo>
                <a:cubicBezTo>
                  <a:pt x="886552" y="213890"/>
                  <a:pt x="1124029" y="734401"/>
                  <a:pt x="1132530" y="1089762"/>
                </a:cubicBezTo>
                <a:cubicBezTo>
                  <a:pt x="1141031" y="1445123"/>
                  <a:pt x="646114" y="1866223"/>
                  <a:pt x="574128" y="2132164"/>
                </a:cubicBezTo>
                <a:cubicBezTo>
                  <a:pt x="239844" y="1855128"/>
                  <a:pt x="-19491" y="1445122"/>
                  <a:pt x="1152" y="1089761"/>
                </a:cubicBezTo>
                <a:cubicBezTo>
                  <a:pt x="21795" y="734400"/>
                  <a:pt x="505043" y="286916"/>
                  <a:pt x="523123" y="0"/>
                </a:cubicBezTo>
                <a:close/>
              </a:path>
            </a:pathLst>
          </a:custGeom>
          <a:solidFill>
            <a:schemeClr val="tx1">
              <a:lumMod val="95000"/>
              <a:lumOff val="5000"/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0F0066A-7E8C-1E0F-5CDC-D9DEEF6BC69F}"/>
              </a:ext>
            </a:extLst>
          </p:cNvPr>
          <p:cNvSpPr/>
          <p:nvPr/>
        </p:nvSpPr>
        <p:spPr>
          <a:xfrm>
            <a:off x="1084881" y="2076773"/>
            <a:ext cx="7888637" cy="4200254"/>
          </a:xfrm>
          <a:custGeom>
            <a:avLst/>
            <a:gdLst>
              <a:gd name="csX0" fmla="*/ 0 w 7888637"/>
              <a:gd name="csY0" fmla="*/ 4200041 h 4200041"/>
              <a:gd name="csX1" fmla="*/ 7888637 w 7888637"/>
              <a:gd name="csY1" fmla="*/ 0 h 4200041"/>
              <a:gd name="csX0" fmla="*/ 0 w 7888637"/>
              <a:gd name="csY0" fmla="*/ 4200041 h 4200041"/>
              <a:gd name="csX1" fmla="*/ 2216258 w 7888637"/>
              <a:gd name="csY1" fmla="*/ 3022169 h 4200041"/>
              <a:gd name="csX2" fmla="*/ 7888637 w 7888637"/>
              <a:gd name="csY2" fmla="*/ 0 h 4200041"/>
              <a:gd name="csX0" fmla="*/ 0 w 7888637"/>
              <a:gd name="csY0" fmla="*/ 4200041 h 4200041"/>
              <a:gd name="csX1" fmla="*/ 2216258 w 7888637"/>
              <a:gd name="csY1" fmla="*/ 3022169 h 4200041"/>
              <a:gd name="csX2" fmla="*/ 5238427 w 7888637"/>
              <a:gd name="csY2" fmla="*/ 1394847 h 4200041"/>
              <a:gd name="csX3" fmla="*/ 7888637 w 7888637"/>
              <a:gd name="csY3" fmla="*/ 0 h 4200041"/>
              <a:gd name="csX0" fmla="*/ 0 w 7888637"/>
              <a:gd name="csY0" fmla="*/ 4200041 h 4200041"/>
              <a:gd name="csX1" fmla="*/ 2665709 w 7888637"/>
              <a:gd name="csY1" fmla="*/ 3564610 h 4200041"/>
              <a:gd name="csX2" fmla="*/ 5238427 w 7888637"/>
              <a:gd name="csY2" fmla="*/ 1394847 h 4200041"/>
              <a:gd name="csX3" fmla="*/ 7888637 w 7888637"/>
              <a:gd name="csY3" fmla="*/ 0 h 4200041"/>
              <a:gd name="csX0" fmla="*/ 0 w 7888637"/>
              <a:gd name="csY0" fmla="*/ 4200041 h 4200041"/>
              <a:gd name="csX1" fmla="*/ 2665709 w 7888637"/>
              <a:gd name="csY1" fmla="*/ 3564610 h 4200041"/>
              <a:gd name="csX2" fmla="*/ 5238427 w 7888637"/>
              <a:gd name="csY2" fmla="*/ 1394847 h 4200041"/>
              <a:gd name="csX3" fmla="*/ 7888637 w 7888637"/>
              <a:gd name="csY3" fmla="*/ 0 h 4200041"/>
              <a:gd name="csX0" fmla="*/ 0 w 7888637"/>
              <a:gd name="csY0" fmla="*/ 4200041 h 4200041"/>
              <a:gd name="csX1" fmla="*/ 2665709 w 7888637"/>
              <a:gd name="csY1" fmla="*/ 3564610 h 4200041"/>
              <a:gd name="csX2" fmla="*/ 5052447 w 7888637"/>
              <a:gd name="csY2" fmla="*/ 867904 h 4200041"/>
              <a:gd name="csX3" fmla="*/ 7888637 w 7888637"/>
              <a:gd name="csY3" fmla="*/ 0 h 4200041"/>
              <a:gd name="csX0" fmla="*/ 0 w 7888637"/>
              <a:gd name="csY0" fmla="*/ 4200041 h 4200041"/>
              <a:gd name="csX1" fmla="*/ 2665709 w 7888637"/>
              <a:gd name="csY1" fmla="*/ 3564610 h 4200041"/>
              <a:gd name="csX2" fmla="*/ 5052447 w 7888637"/>
              <a:gd name="csY2" fmla="*/ 867904 h 4200041"/>
              <a:gd name="csX3" fmla="*/ 7888637 w 7888637"/>
              <a:gd name="csY3" fmla="*/ 0 h 4200041"/>
              <a:gd name="csX0" fmla="*/ 0 w 7888637"/>
              <a:gd name="csY0" fmla="*/ 4200041 h 4200041"/>
              <a:gd name="csX1" fmla="*/ 2665709 w 7888637"/>
              <a:gd name="csY1" fmla="*/ 3564610 h 4200041"/>
              <a:gd name="csX2" fmla="*/ 5052447 w 7888637"/>
              <a:gd name="csY2" fmla="*/ 867904 h 4200041"/>
              <a:gd name="csX3" fmla="*/ 7888637 w 7888637"/>
              <a:gd name="csY3" fmla="*/ 0 h 4200041"/>
              <a:gd name="csX0" fmla="*/ 0 w 7888637"/>
              <a:gd name="csY0" fmla="*/ 4200041 h 4200254"/>
              <a:gd name="csX1" fmla="*/ 2665709 w 7888637"/>
              <a:gd name="csY1" fmla="*/ 3564610 h 4200254"/>
              <a:gd name="csX2" fmla="*/ 5052447 w 7888637"/>
              <a:gd name="csY2" fmla="*/ 867904 h 4200254"/>
              <a:gd name="csX3" fmla="*/ 7888637 w 7888637"/>
              <a:gd name="csY3" fmla="*/ 0 h 4200254"/>
              <a:gd name="csX0" fmla="*/ 0 w 7888637"/>
              <a:gd name="csY0" fmla="*/ 4200041 h 4200254"/>
              <a:gd name="csX1" fmla="*/ 2665709 w 7888637"/>
              <a:gd name="csY1" fmla="*/ 3564610 h 4200254"/>
              <a:gd name="csX2" fmla="*/ 5052447 w 7888637"/>
              <a:gd name="csY2" fmla="*/ 867904 h 4200254"/>
              <a:gd name="csX3" fmla="*/ 7888637 w 7888637"/>
              <a:gd name="csY3" fmla="*/ 0 h 42002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888637" h="4200254">
                <a:moveTo>
                  <a:pt x="0" y="4200041"/>
                </a:moveTo>
                <a:cubicBezTo>
                  <a:pt x="888570" y="4205207"/>
                  <a:pt x="1823635" y="4119966"/>
                  <a:pt x="2665709" y="3564610"/>
                </a:cubicBezTo>
                <a:cubicBezTo>
                  <a:pt x="3507784" y="3009254"/>
                  <a:pt x="4122548" y="1451673"/>
                  <a:pt x="5052447" y="867904"/>
                </a:cubicBezTo>
                <a:cubicBezTo>
                  <a:pt x="5982346" y="284135"/>
                  <a:pt x="6943240" y="196311"/>
                  <a:pt x="7888637" y="0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3DBB56-9AC2-9C0D-3A01-2861AA5DE240}"/>
              </a:ext>
            </a:extLst>
          </p:cNvPr>
          <p:cNvGrpSpPr/>
          <p:nvPr/>
        </p:nvGrpSpPr>
        <p:grpSpPr>
          <a:xfrm>
            <a:off x="2221062" y="3705078"/>
            <a:ext cx="1241452" cy="2322328"/>
            <a:chOff x="2221062" y="3705078"/>
            <a:chExt cx="1241452" cy="232232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C83EE771-CF67-2217-C620-77EB426B19EC}"/>
                </a:ext>
              </a:extLst>
            </p:cNvPr>
            <p:cNvGrpSpPr/>
            <p:nvPr/>
          </p:nvGrpSpPr>
          <p:grpSpPr>
            <a:xfrm rot="19258464">
              <a:off x="2221062" y="3705078"/>
              <a:ext cx="1241452" cy="2322328"/>
              <a:chOff x="2608521" y="1141877"/>
              <a:chExt cx="1241452" cy="2322328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795C6AF-061F-224D-C0B8-338505150137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495CA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7142CB97-1E38-32BB-7B81-770DAE1A083F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558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C9C8215-6430-1B80-6DCA-6682612C1C6E}"/>
                </a:ext>
              </a:extLst>
            </p:cNvPr>
            <p:cNvSpPr txBox="1"/>
            <p:nvPr/>
          </p:nvSpPr>
          <p:spPr>
            <a:xfrm rot="3284078">
              <a:off x="2129894" y="4543811"/>
              <a:ext cx="15120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Oswald" panose="02000503000000000000" pitchFamily="2" charset="0"/>
                </a:rPr>
                <a:t>DATA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  <a:latin typeface="Oswald" panose="02000503000000000000" pitchFamily="2" charset="0"/>
                </a:rPr>
                <a:t>UNDERSTANDING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9AEE8EA-01C3-9C30-9700-CC0DE15F703F}"/>
              </a:ext>
            </a:extLst>
          </p:cNvPr>
          <p:cNvGrpSpPr/>
          <p:nvPr/>
        </p:nvGrpSpPr>
        <p:grpSpPr>
          <a:xfrm>
            <a:off x="4188518" y="4775528"/>
            <a:ext cx="2322328" cy="1241452"/>
            <a:chOff x="4188518" y="4775528"/>
            <a:chExt cx="2322328" cy="1241452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8E02098-A31C-3C61-1CD3-0A53B97887E8}"/>
                </a:ext>
              </a:extLst>
            </p:cNvPr>
            <p:cNvGrpSpPr/>
            <p:nvPr/>
          </p:nvGrpSpPr>
          <p:grpSpPr>
            <a:xfrm rot="5756363">
              <a:off x="4728956" y="4235090"/>
              <a:ext cx="1241452" cy="2322328"/>
              <a:chOff x="2608521" y="1141877"/>
              <a:chExt cx="1241452" cy="2322328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B1168BD-FAF4-BFCB-FA99-D70A9CEB9E80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3D9AE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EA7BEBE7-8865-6249-9D59-787A6618251B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A0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DA70FC1-CBF2-6D93-B1B2-92F78CA5AAE5}"/>
                </a:ext>
              </a:extLst>
            </p:cNvPr>
            <p:cNvSpPr txBox="1"/>
            <p:nvPr/>
          </p:nvSpPr>
          <p:spPr>
            <a:xfrm>
              <a:off x="4684252" y="5099927"/>
              <a:ext cx="151811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Oswald" panose="02000503000000000000" pitchFamily="2" charset="0"/>
                </a:rPr>
                <a:t>HANDLING MISSING VALUES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DED8F98-C306-065E-DBB3-CE36E9E8F317}"/>
              </a:ext>
            </a:extLst>
          </p:cNvPr>
          <p:cNvGrpSpPr/>
          <p:nvPr/>
        </p:nvGrpSpPr>
        <p:grpSpPr>
          <a:xfrm>
            <a:off x="6104675" y="2802779"/>
            <a:ext cx="2322328" cy="1241452"/>
            <a:chOff x="6104675" y="2802779"/>
            <a:chExt cx="2322328" cy="124145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7E5684B-44E7-6B3E-1DB0-0BDC4162FA47}"/>
                </a:ext>
              </a:extLst>
            </p:cNvPr>
            <p:cNvGrpSpPr/>
            <p:nvPr/>
          </p:nvGrpSpPr>
          <p:grpSpPr>
            <a:xfrm rot="6727818">
              <a:off x="6645113" y="2262341"/>
              <a:ext cx="1241452" cy="2322328"/>
              <a:chOff x="2608521" y="1141877"/>
              <a:chExt cx="1241452" cy="2322328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0F881CB-38AF-81AA-D45F-8F841274DBCA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6AC5C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81DAA80-7E62-0736-6BBD-E86056E4420F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CC9C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0065404-4345-8514-1702-95FC601E7465}"/>
                </a:ext>
              </a:extLst>
            </p:cNvPr>
            <p:cNvSpPr txBox="1"/>
            <p:nvPr/>
          </p:nvSpPr>
          <p:spPr>
            <a:xfrm>
              <a:off x="6391049" y="3357813"/>
              <a:ext cx="17985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swald" panose="02000503000000000000" pitchFamily="2" charset="0"/>
                </a:rPr>
                <a:t>TYPE CASTING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729F7CA-36B7-724A-4D7A-AAD948F6D32A}"/>
              </a:ext>
            </a:extLst>
          </p:cNvPr>
          <p:cNvGrpSpPr/>
          <p:nvPr/>
        </p:nvGrpSpPr>
        <p:grpSpPr>
          <a:xfrm>
            <a:off x="3558765" y="2225928"/>
            <a:ext cx="2322328" cy="1241452"/>
            <a:chOff x="3558765" y="2225928"/>
            <a:chExt cx="2322328" cy="1241452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8FCFBB5-5C98-91F3-1F3F-BF215749B12C}"/>
                </a:ext>
              </a:extLst>
            </p:cNvPr>
            <p:cNvGrpSpPr/>
            <p:nvPr/>
          </p:nvGrpSpPr>
          <p:grpSpPr>
            <a:xfrm rot="17452270">
              <a:off x="4099203" y="1685490"/>
              <a:ext cx="1241452" cy="2322328"/>
              <a:chOff x="2608521" y="1141877"/>
              <a:chExt cx="1241452" cy="2322328"/>
            </a:xfrm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E65000F-266F-033D-D54A-68A43F63C651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B96F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69D1D07-1EED-916A-39D0-AB27F0E24254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767A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BCE948F-0823-211D-6C2D-60F887CD2318}"/>
                </a:ext>
              </a:extLst>
            </p:cNvPr>
            <p:cNvSpPr txBox="1"/>
            <p:nvPr/>
          </p:nvSpPr>
          <p:spPr>
            <a:xfrm rot="1263419">
              <a:off x="3796686" y="2540096"/>
              <a:ext cx="173960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Oswald" panose="02000503000000000000" pitchFamily="2" charset="0"/>
                </a:rPr>
                <a:t>STANDARDIZING TEXT FIELDS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9F260B4-EBA2-AB41-818B-344B107FAE96}"/>
              </a:ext>
            </a:extLst>
          </p:cNvPr>
          <p:cNvGrpSpPr/>
          <p:nvPr/>
        </p:nvGrpSpPr>
        <p:grpSpPr>
          <a:xfrm>
            <a:off x="6243350" y="430805"/>
            <a:ext cx="1172039" cy="2192480"/>
            <a:chOff x="6243350" y="430805"/>
            <a:chExt cx="1172039" cy="2192480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A46F8C89-4854-983C-4350-EE271BADD9BF}"/>
                </a:ext>
              </a:extLst>
            </p:cNvPr>
            <p:cNvGrpSpPr/>
            <p:nvPr/>
          </p:nvGrpSpPr>
          <p:grpSpPr>
            <a:xfrm rot="19424884">
              <a:off x="6243350" y="430805"/>
              <a:ext cx="1172039" cy="2192480"/>
              <a:chOff x="2608521" y="1141877"/>
              <a:chExt cx="1241452" cy="2322328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A7C4C933-819C-8690-C69C-1C602557F5F4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F7A6A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F411E90A-98C2-8A64-0448-76BFE59214EF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939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65AB8AA-732A-A076-F1B1-87BBFB3FC873}"/>
                </a:ext>
              </a:extLst>
            </p:cNvPr>
            <p:cNvSpPr txBox="1"/>
            <p:nvPr/>
          </p:nvSpPr>
          <p:spPr>
            <a:xfrm rot="3355581">
              <a:off x="5911001" y="1279656"/>
              <a:ext cx="179859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swald" panose="02000503000000000000" pitchFamily="2" charset="0"/>
                </a:rPr>
                <a:t>OUTLIER DETECTION </a:t>
              </a:r>
            </a:p>
            <a:p>
              <a:pPr algn="ctr"/>
              <a:r>
                <a:rPr 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swald" panose="02000503000000000000" pitchFamily="2" charset="0"/>
                </a:rPr>
                <a:t>&amp; REVIEW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68A60DF-06E7-C2C6-B369-948F5956BDD5}"/>
              </a:ext>
            </a:extLst>
          </p:cNvPr>
          <p:cNvGrpSpPr/>
          <p:nvPr/>
        </p:nvGrpSpPr>
        <p:grpSpPr>
          <a:xfrm>
            <a:off x="8795486" y="1045555"/>
            <a:ext cx="2322328" cy="1241452"/>
            <a:chOff x="8795486" y="1045555"/>
            <a:chExt cx="2322328" cy="1241452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EC3DF2A-6EFF-FB4B-095C-64335EB3F42E}"/>
                </a:ext>
              </a:extLst>
            </p:cNvPr>
            <p:cNvGrpSpPr/>
            <p:nvPr/>
          </p:nvGrpSpPr>
          <p:grpSpPr>
            <a:xfrm rot="3972362">
              <a:off x="9335924" y="505117"/>
              <a:ext cx="1241452" cy="2322328"/>
              <a:chOff x="2608521" y="1141877"/>
              <a:chExt cx="1241452" cy="2322328"/>
            </a:xfrm>
          </p:grpSpPr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EC0FA15-9D10-5469-527C-ECF6A5249526}"/>
                  </a:ext>
                </a:extLst>
              </p:cNvPr>
              <p:cNvSpPr/>
              <p:nvPr/>
            </p:nvSpPr>
            <p:spPr>
              <a:xfrm>
                <a:off x="2608521" y="1141877"/>
                <a:ext cx="620726" cy="2314641"/>
              </a:xfrm>
              <a:custGeom>
                <a:avLst/>
                <a:gdLst>
                  <a:gd name="csX0" fmla="*/ 573380 w 620726"/>
                  <a:gd name="csY0" fmla="*/ 0 h 2314641"/>
                  <a:gd name="csX1" fmla="*/ 620726 w 620726"/>
                  <a:gd name="csY1" fmla="*/ 30769 h 2314641"/>
                  <a:gd name="csX2" fmla="*/ 620726 w 620726"/>
                  <a:gd name="csY2" fmla="*/ 2314641 h 2314641"/>
                  <a:gd name="csX3" fmla="*/ 496175 w 620726"/>
                  <a:gd name="csY3" fmla="*/ 2202784 h 2314641"/>
                  <a:gd name="csX4" fmla="*/ 1263 w 620726"/>
                  <a:gd name="csY4" fmla="*/ 1186955 h 2314641"/>
                  <a:gd name="csX5" fmla="*/ 573380 w 620726"/>
                  <a:gd name="csY5" fmla="*/ 0 h 2314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314641">
                    <a:moveTo>
                      <a:pt x="573380" y="0"/>
                    </a:moveTo>
                    <a:lnTo>
                      <a:pt x="620726" y="30769"/>
                    </a:lnTo>
                    <a:lnTo>
                      <a:pt x="620726" y="2314641"/>
                    </a:lnTo>
                    <a:lnTo>
                      <a:pt x="496175" y="2202784"/>
                    </a:lnTo>
                    <a:cubicBezTo>
                      <a:pt x="196619" y="1909871"/>
                      <a:pt x="-18535" y="1525628"/>
                      <a:pt x="1263" y="1186955"/>
                    </a:cubicBezTo>
                    <a:cubicBezTo>
                      <a:pt x="23889" y="799900"/>
                      <a:pt x="553563" y="312506"/>
                      <a:pt x="573380" y="0"/>
                    </a:cubicBezTo>
                    <a:close/>
                  </a:path>
                </a:pathLst>
              </a:custGeom>
              <a:solidFill>
                <a:srgbClr val="FFB92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4C8C1A33-2EBD-F7FC-EE36-8A6C6F63413C}"/>
                  </a:ext>
                </a:extLst>
              </p:cNvPr>
              <p:cNvSpPr/>
              <p:nvPr/>
            </p:nvSpPr>
            <p:spPr>
              <a:xfrm>
                <a:off x="3229247" y="1172646"/>
                <a:ext cx="620726" cy="2291559"/>
              </a:xfrm>
              <a:custGeom>
                <a:avLst/>
                <a:gdLst>
                  <a:gd name="csX0" fmla="*/ 0 w 620726"/>
                  <a:gd name="csY0" fmla="*/ 0 h 2291559"/>
                  <a:gd name="csX1" fmla="*/ 25698 w 620726"/>
                  <a:gd name="csY1" fmla="*/ 16701 h 2291559"/>
                  <a:gd name="csX2" fmla="*/ 620608 w 620726"/>
                  <a:gd name="csY2" fmla="*/ 1156187 h 2291559"/>
                  <a:gd name="csX3" fmla="*/ 8559 w 620726"/>
                  <a:gd name="csY3" fmla="*/ 2291559 h 2291559"/>
                  <a:gd name="csX4" fmla="*/ 0 w 620726"/>
                  <a:gd name="csY4" fmla="*/ 2283872 h 2291559"/>
                  <a:gd name="csX5" fmla="*/ 0 w 620726"/>
                  <a:gd name="csY5" fmla="*/ 0 h 2291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620726" h="2291559">
                    <a:moveTo>
                      <a:pt x="0" y="0"/>
                    </a:moveTo>
                    <a:lnTo>
                      <a:pt x="25698" y="16701"/>
                    </a:lnTo>
                    <a:cubicBezTo>
                      <a:pt x="382554" y="272362"/>
                      <a:pt x="611873" y="793323"/>
                      <a:pt x="620608" y="1156187"/>
                    </a:cubicBezTo>
                    <a:cubicBezTo>
                      <a:pt x="629926" y="1543242"/>
                      <a:pt x="87461" y="2001899"/>
                      <a:pt x="8559" y="2291559"/>
                    </a:cubicBezTo>
                    <a:lnTo>
                      <a:pt x="0" y="22838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C72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2BFD1A5-AF07-E700-D7FA-B88BE322CCE8}"/>
                </a:ext>
              </a:extLst>
            </p:cNvPr>
            <p:cNvSpPr txBox="1"/>
            <p:nvPr/>
          </p:nvSpPr>
          <p:spPr>
            <a:xfrm rot="20188319">
              <a:off x="9065473" y="1385263"/>
              <a:ext cx="179859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swald" panose="02000503000000000000" pitchFamily="2" charset="0"/>
                </a:rPr>
                <a:t>ANALYSIS-READY</a:t>
              </a:r>
            </a:p>
            <a:p>
              <a:pPr algn="ctr"/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Oswald" panose="02000503000000000000" pitchFamily="2" charset="0"/>
                </a:rPr>
                <a:t>DATASET PREPARED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F40AFBA-DC58-934D-A989-EB42C0984D98}"/>
              </a:ext>
            </a:extLst>
          </p:cNvPr>
          <p:cNvGrpSpPr/>
          <p:nvPr/>
        </p:nvGrpSpPr>
        <p:grpSpPr>
          <a:xfrm>
            <a:off x="70597" y="4634730"/>
            <a:ext cx="2106473" cy="1282370"/>
            <a:chOff x="70597" y="4634730"/>
            <a:chExt cx="2106473" cy="1282370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8100726-EB6B-2E80-569B-1A1DC6F11F8F}"/>
                </a:ext>
              </a:extLst>
            </p:cNvPr>
            <p:cNvSpPr txBox="1"/>
            <p:nvPr/>
          </p:nvSpPr>
          <p:spPr>
            <a:xfrm>
              <a:off x="579185" y="4634730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D76A6C3-DE0A-D018-E4F2-D2E365BAFC7D}"/>
                </a:ext>
              </a:extLst>
            </p:cNvPr>
            <p:cNvSpPr txBox="1"/>
            <p:nvPr/>
          </p:nvSpPr>
          <p:spPr>
            <a:xfrm>
              <a:off x="70597" y="5016854"/>
              <a:ext cx="2106473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The dataset was explored to understand its structure, key variables (doctor name, city, specialization, consultation fee), and overall data distribution.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A46185E-E83C-99D3-3FEC-4EA75AA97C41}"/>
              </a:ext>
            </a:extLst>
          </p:cNvPr>
          <p:cNvGrpSpPr/>
          <p:nvPr/>
        </p:nvGrpSpPr>
        <p:grpSpPr>
          <a:xfrm>
            <a:off x="5745149" y="5718845"/>
            <a:ext cx="2682035" cy="959205"/>
            <a:chOff x="5745149" y="5643429"/>
            <a:chExt cx="2682035" cy="959205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E5DB450-88F3-4585-5E4C-474DB2C7D84C}"/>
                </a:ext>
              </a:extLst>
            </p:cNvPr>
            <p:cNvSpPr txBox="1"/>
            <p:nvPr/>
          </p:nvSpPr>
          <p:spPr>
            <a:xfrm>
              <a:off x="6253738" y="5643429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02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85B8018-8CE9-6C55-06F8-B0151B2E0BC7}"/>
                </a:ext>
              </a:extLst>
            </p:cNvPr>
            <p:cNvSpPr txBox="1"/>
            <p:nvPr/>
          </p:nvSpPr>
          <p:spPr>
            <a:xfrm>
              <a:off x="5745149" y="6025553"/>
              <a:ext cx="2682035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Missing patient-rating values were identified and imputed using the median to ensure a complete dataset for analysis.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190ADD1-0506-0730-2E67-9EB83F282D19}"/>
              </a:ext>
            </a:extLst>
          </p:cNvPr>
          <p:cNvGrpSpPr/>
          <p:nvPr/>
        </p:nvGrpSpPr>
        <p:grpSpPr>
          <a:xfrm>
            <a:off x="7731066" y="3913979"/>
            <a:ext cx="2520774" cy="1120788"/>
            <a:chOff x="7731066" y="3895125"/>
            <a:chExt cx="2520774" cy="112078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AED5FC7-8B8D-E201-7834-ADD2DCA36A03}"/>
                </a:ext>
              </a:extLst>
            </p:cNvPr>
            <p:cNvSpPr txBox="1"/>
            <p:nvPr/>
          </p:nvSpPr>
          <p:spPr>
            <a:xfrm>
              <a:off x="8239654" y="3895125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04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467BC131-3961-477A-4F01-D4AD3C72181B}"/>
                </a:ext>
              </a:extLst>
            </p:cNvPr>
            <p:cNvSpPr txBox="1"/>
            <p:nvPr/>
          </p:nvSpPr>
          <p:spPr>
            <a:xfrm>
              <a:off x="7731066" y="4277249"/>
              <a:ext cx="25207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Patient ratings and consultation fees were cleaned and converted into numeric formats to enable analysis and visualization.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41F452A-C8D0-DCDC-A205-A7B2C14FCB2E}"/>
              </a:ext>
            </a:extLst>
          </p:cNvPr>
          <p:cNvGrpSpPr/>
          <p:nvPr/>
        </p:nvGrpSpPr>
        <p:grpSpPr>
          <a:xfrm>
            <a:off x="9966613" y="2149304"/>
            <a:ext cx="2106473" cy="959205"/>
            <a:chOff x="10163388" y="2149304"/>
            <a:chExt cx="2106473" cy="959205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3F0AF83-7B63-8671-90B4-B8A99BD77A13}"/>
                </a:ext>
              </a:extLst>
            </p:cNvPr>
            <p:cNvSpPr txBox="1"/>
            <p:nvPr/>
          </p:nvSpPr>
          <p:spPr>
            <a:xfrm>
              <a:off x="10671976" y="2149304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06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B8EC0E1-7330-02B4-3591-696FECA00290}"/>
                </a:ext>
              </a:extLst>
            </p:cNvPr>
            <p:cNvSpPr txBox="1"/>
            <p:nvPr/>
          </p:nvSpPr>
          <p:spPr>
            <a:xfrm>
              <a:off x="10163388" y="2531428"/>
              <a:ext cx="2106473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The cleaned and standardized dataset was prepared for accurate analysis and data-driven insights.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3CB1FE1-EF95-1475-71B5-5E9B72052BE7}"/>
              </a:ext>
            </a:extLst>
          </p:cNvPr>
          <p:cNvGrpSpPr/>
          <p:nvPr/>
        </p:nvGrpSpPr>
        <p:grpSpPr>
          <a:xfrm>
            <a:off x="3336225" y="596818"/>
            <a:ext cx="2499430" cy="1282370"/>
            <a:chOff x="3411641" y="596818"/>
            <a:chExt cx="2499430" cy="1282370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6D6BDE3-1327-E755-83D6-1E992B2AC510}"/>
                </a:ext>
              </a:extLst>
            </p:cNvPr>
            <p:cNvSpPr txBox="1"/>
            <p:nvPr/>
          </p:nvSpPr>
          <p:spPr>
            <a:xfrm>
              <a:off x="4313185" y="596818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05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9B124E7-81CB-5AF7-3181-80BD31937245}"/>
                </a:ext>
              </a:extLst>
            </p:cNvPr>
            <p:cNvSpPr txBox="1"/>
            <p:nvPr/>
          </p:nvSpPr>
          <p:spPr>
            <a:xfrm>
              <a:off x="3411641" y="978942"/>
              <a:ext cx="2499430" cy="9002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Extremely high consultation fee values were identified using the IQR method. These outliers were retained in the dataset and reviewed through sensitivity analysis.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F3F83AF-705B-BA3F-36EB-2B3C14CFD567}"/>
              </a:ext>
            </a:extLst>
          </p:cNvPr>
          <p:cNvGrpSpPr/>
          <p:nvPr/>
        </p:nvGrpSpPr>
        <p:grpSpPr>
          <a:xfrm>
            <a:off x="1735782" y="2574152"/>
            <a:ext cx="2275020" cy="1120788"/>
            <a:chOff x="1735782" y="2574152"/>
            <a:chExt cx="2275020" cy="1120788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49FB2F7A-7F2A-4D1F-7507-43503A4165A8}"/>
                </a:ext>
              </a:extLst>
            </p:cNvPr>
            <p:cNvSpPr txBox="1"/>
            <p:nvPr/>
          </p:nvSpPr>
          <p:spPr>
            <a:xfrm>
              <a:off x="2243230" y="2574152"/>
              <a:ext cx="12609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>
                      <a:lumMod val="50000"/>
                    </a:schemeClr>
                  </a:solidFill>
                </a:rPr>
                <a:t>03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63048B72-AF58-B88B-F54E-76D6B48F4431}"/>
                </a:ext>
              </a:extLst>
            </p:cNvPr>
            <p:cNvSpPr txBox="1"/>
            <p:nvPr/>
          </p:nvSpPr>
          <p:spPr>
            <a:xfrm>
              <a:off x="1735782" y="2956276"/>
              <a:ext cx="227502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/>
                <a:t>Hospital names containing inconsistent hyphen-separated text were standardized to maintain consistent naming across the dataset.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FDF85A6B-CF08-EEE8-5AEB-8C807468861F}"/>
              </a:ext>
            </a:extLst>
          </p:cNvPr>
          <p:cNvSpPr txBox="1"/>
          <p:nvPr/>
        </p:nvSpPr>
        <p:spPr>
          <a:xfrm>
            <a:off x="9756999" y="5876955"/>
            <a:ext cx="2106472" cy="646331"/>
          </a:xfrm>
          <a:prstGeom prst="rect">
            <a:avLst/>
          </a:prstGeom>
          <a:noFill/>
          <a:ln w="6350"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r>
              <a:rPr lang="en-US" sz="1200" i="1" dirty="0">
                <a:latin typeface="+mj-lt"/>
              </a:rPr>
              <a:t>Note:</a:t>
            </a:r>
          </a:p>
          <a:p>
            <a:r>
              <a:rPr lang="en-US" sz="1200" b="1" i="1" dirty="0"/>
              <a:t>No duplicate records </a:t>
            </a:r>
            <a:r>
              <a:rPr lang="en-US" sz="1200" i="1" dirty="0"/>
              <a:t>were found in the dataset.</a:t>
            </a:r>
            <a:endParaRPr lang="en-US" sz="1200" i="1" dirty="0">
              <a:latin typeface="+mj-lt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A919FDC-2352-D5B7-4666-868BFB647ED5}"/>
              </a:ext>
            </a:extLst>
          </p:cNvPr>
          <p:cNvGrpSpPr/>
          <p:nvPr/>
        </p:nvGrpSpPr>
        <p:grpSpPr>
          <a:xfrm>
            <a:off x="414662" y="319900"/>
            <a:ext cx="2237210" cy="1238447"/>
            <a:chOff x="4304195" y="329609"/>
            <a:chExt cx="4154025" cy="649971"/>
          </a:xfrm>
          <a:solidFill>
            <a:srgbClr val="0BDA51"/>
          </a:solidFill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E3E6D4BD-ACC6-B49D-C409-DB1392CDEFBE}"/>
                </a:ext>
              </a:extLst>
            </p:cNvPr>
            <p:cNvSpPr/>
            <p:nvPr/>
          </p:nvSpPr>
          <p:spPr>
            <a:xfrm>
              <a:off x="4304195" y="329609"/>
              <a:ext cx="4154025" cy="649971"/>
            </a:xfrm>
            <a:prstGeom prst="roundRect">
              <a:avLst/>
            </a:prstGeom>
            <a:grp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8673E1C-6788-1BB4-3A41-33F7A715DA35}"/>
                </a:ext>
              </a:extLst>
            </p:cNvPr>
            <p:cNvSpPr txBox="1"/>
            <p:nvPr/>
          </p:nvSpPr>
          <p:spPr>
            <a:xfrm>
              <a:off x="4478112" y="363741"/>
              <a:ext cx="3806189" cy="565354"/>
            </a:xfrm>
            <a:prstGeom prst="rect">
              <a:avLst/>
            </a:prstGeom>
            <a:grp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p3d prstMaterial="matte">
              <a:bevelT w="127000" h="63500"/>
            </a:sp3d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DATA CLEANING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93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22" grpId="0" animBg="1"/>
      <p:bldP spid="34" grpId="0" animBg="1"/>
      <p:bldP spid="35" grpId="0" animBg="1"/>
      <p:bldP spid="36" grpId="0" animBg="1"/>
      <p:bldP spid="37" grpId="0" animBg="1"/>
      <p:bldP spid="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: Shape 120">
            <a:extLst>
              <a:ext uri="{FF2B5EF4-FFF2-40B4-BE49-F238E27FC236}">
                <a16:creationId xmlns:a16="http://schemas.microsoft.com/office/drawing/2014/main" id="{1F180A11-B760-19FB-D247-EC877C51ED09}"/>
              </a:ext>
            </a:extLst>
          </p:cNvPr>
          <p:cNvSpPr/>
          <p:nvPr/>
        </p:nvSpPr>
        <p:spPr>
          <a:xfrm rot="227901">
            <a:off x="2576415" y="1179660"/>
            <a:ext cx="7804298" cy="4102600"/>
          </a:xfrm>
          <a:custGeom>
            <a:avLst/>
            <a:gdLst>
              <a:gd name="csX0" fmla="*/ 0 w 7783033"/>
              <a:gd name="csY0" fmla="*/ 4136065 h 4136065"/>
              <a:gd name="csX1" fmla="*/ 5284382 w 7783033"/>
              <a:gd name="csY1" fmla="*/ 2360428 h 4136065"/>
              <a:gd name="csX2" fmla="*/ 7783033 w 7783033"/>
              <a:gd name="csY2" fmla="*/ 0 h 4136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83033" h="4136065">
                <a:moveTo>
                  <a:pt x="0" y="4136065"/>
                </a:moveTo>
                <a:cubicBezTo>
                  <a:pt x="1993605" y="3592918"/>
                  <a:pt x="3987210" y="3049772"/>
                  <a:pt x="5284382" y="2360428"/>
                </a:cubicBezTo>
                <a:cubicBezTo>
                  <a:pt x="6581554" y="1671084"/>
                  <a:pt x="7182293" y="835542"/>
                  <a:pt x="7783033" y="0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0ED22337-5A41-CD76-8782-D871E89CFC50}"/>
              </a:ext>
            </a:extLst>
          </p:cNvPr>
          <p:cNvGrpSpPr/>
          <p:nvPr/>
        </p:nvGrpSpPr>
        <p:grpSpPr>
          <a:xfrm rot="2495359">
            <a:off x="8262158" y="279331"/>
            <a:ext cx="1781523" cy="1750733"/>
            <a:chOff x="5065243" y="1444153"/>
            <a:chExt cx="2061514" cy="2202814"/>
          </a:xfrm>
          <a:effectLst>
            <a:outerShdw blurRad="228600" dist="38100" dir="2700000" sx="102000" sy="102000" algn="tl" rotWithShape="0">
              <a:prstClr val="black">
                <a:alpha val="40000"/>
              </a:prstClr>
            </a:outerShdw>
          </a:effectLst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5E867E3-FE78-01B6-086F-1D82BE632C2E}"/>
                </a:ext>
              </a:extLst>
            </p:cNvPr>
            <p:cNvSpPr/>
            <p:nvPr/>
          </p:nvSpPr>
          <p:spPr>
            <a:xfrm>
              <a:off x="5065243" y="1444153"/>
              <a:ext cx="1030757" cy="2202814"/>
            </a:xfrm>
            <a:custGeom>
              <a:avLst/>
              <a:gdLst>
                <a:gd name="csX0" fmla="*/ 1030757 w 1030757"/>
                <a:gd name="csY0" fmla="*/ 0 h 2202814"/>
                <a:gd name="csX1" fmla="*/ 1030757 w 1030757"/>
                <a:gd name="csY1" fmla="*/ 1562986 h 2202814"/>
                <a:gd name="csX2" fmla="*/ 0 w 1030757"/>
                <a:gd name="csY2" fmla="*/ 2202814 h 2202814"/>
                <a:gd name="csX3" fmla="*/ 1030757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1030757" y="0"/>
                  </a:moveTo>
                  <a:lnTo>
                    <a:pt x="1030757" y="1562986"/>
                  </a:lnTo>
                  <a:lnTo>
                    <a:pt x="0" y="2202814"/>
                  </a:lnTo>
                  <a:lnTo>
                    <a:pt x="1030757" y="0"/>
                  </a:ln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3750CFD-C6AB-00A7-01D4-E00756AF8D0F}"/>
                </a:ext>
              </a:extLst>
            </p:cNvPr>
            <p:cNvSpPr/>
            <p:nvPr/>
          </p:nvSpPr>
          <p:spPr>
            <a:xfrm>
              <a:off x="6096000" y="1444153"/>
              <a:ext cx="1030757" cy="2202814"/>
            </a:xfrm>
            <a:custGeom>
              <a:avLst/>
              <a:gdLst>
                <a:gd name="csX0" fmla="*/ 0 w 1030757"/>
                <a:gd name="csY0" fmla="*/ 0 h 2202814"/>
                <a:gd name="csX1" fmla="*/ 1030757 w 1030757"/>
                <a:gd name="csY1" fmla="*/ 2202814 h 2202814"/>
                <a:gd name="csX2" fmla="*/ 0 w 1030757"/>
                <a:gd name="csY2" fmla="*/ 1562986 h 2202814"/>
                <a:gd name="csX3" fmla="*/ 0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0" y="0"/>
                  </a:moveTo>
                  <a:lnTo>
                    <a:pt x="1030757" y="2202814"/>
                  </a:lnTo>
                  <a:lnTo>
                    <a:pt x="0" y="1562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237E0AC2-3EDA-A85B-FC5C-9B0B028B1667}"/>
              </a:ext>
            </a:extLst>
          </p:cNvPr>
          <p:cNvGrpSpPr/>
          <p:nvPr/>
        </p:nvGrpSpPr>
        <p:grpSpPr>
          <a:xfrm rot="3981697">
            <a:off x="6442564" y="1115496"/>
            <a:ext cx="1621907" cy="1923027"/>
            <a:chOff x="5065243" y="1444153"/>
            <a:chExt cx="2061514" cy="2202814"/>
          </a:xfrm>
          <a:effectLst>
            <a:outerShdw blurRad="228600" dist="38100" dir="2700000" sx="102000" sy="102000" algn="tl" rotWithShape="0">
              <a:prstClr val="black">
                <a:alpha val="40000"/>
              </a:prstClr>
            </a:outerShdw>
          </a:effectLst>
        </p:grpSpPr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BE7AA0A7-4D40-B666-7CB0-FDE9B5CF3C18}"/>
                </a:ext>
              </a:extLst>
            </p:cNvPr>
            <p:cNvSpPr/>
            <p:nvPr/>
          </p:nvSpPr>
          <p:spPr>
            <a:xfrm>
              <a:off x="5065243" y="1444153"/>
              <a:ext cx="1030757" cy="2202814"/>
            </a:xfrm>
            <a:custGeom>
              <a:avLst/>
              <a:gdLst>
                <a:gd name="csX0" fmla="*/ 1030757 w 1030757"/>
                <a:gd name="csY0" fmla="*/ 0 h 2202814"/>
                <a:gd name="csX1" fmla="*/ 1030757 w 1030757"/>
                <a:gd name="csY1" fmla="*/ 1562986 h 2202814"/>
                <a:gd name="csX2" fmla="*/ 0 w 1030757"/>
                <a:gd name="csY2" fmla="*/ 2202814 h 2202814"/>
                <a:gd name="csX3" fmla="*/ 1030757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1030757" y="0"/>
                  </a:moveTo>
                  <a:lnTo>
                    <a:pt x="1030757" y="1562986"/>
                  </a:lnTo>
                  <a:lnTo>
                    <a:pt x="0" y="2202814"/>
                  </a:lnTo>
                  <a:lnTo>
                    <a:pt x="1030757" y="0"/>
                  </a:lnTo>
                  <a:close/>
                </a:path>
              </a:pathLst>
            </a:custGeom>
            <a:solidFill>
              <a:srgbClr val="73A9DB"/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54DE238-9E03-45BA-71F9-09BCE6F31B98}"/>
                </a:ext>
              </a:extLst>
            </p:cNvPr>
            <p:cNvSpPr/>
            <p:nvPr/>
          </p:nvSpPr>
          <p:spPr>
            <a:xfrm>
              <a:off x="6096000" y="1444153"/>
              <a:ext cx="1030757" cy="2202814"/>
            </a:xfrm>
            <a:custGeom>
              <a:avLst/>
              <a:gdLst>
                <a:gd name="csX0" fmla="*/ 0 w 1030757"/>
                <a:gd name="csY0" fmla="*/ 0 h 2202814"/>
                <a:gd name="csX1" fmla="*/ 1030757 w 1030757"/>
                <a:gd name="csY1" fmla="*/ 2202814 h 2202814"/>
                <a:gd name="csX2" fmla="*/ 0 w 1030757"/>
                <a:gd name="csY2" fmla="*/ 1562986 h 2202814"/>
                <a:gd name="csX3" fmla="*/ 0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0" y="0"/>
                  </a:moveTo>
                  <a:lnTo>
                    <a:pt x="1030757" y="2202814"/>
                  </a:lnTo>
                  <a:lnTo>
                    <a:pt x="0" y="1562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3EFF56E1-8B53-D310-41CF-AF509D893BBC}"/>
              </a:ext>
            </a:extLst>
          </p:cNvPr>
          <p:cNvGrpSpPr/>
          <p:nvPr/>
        </p:nvGrpSpPr>
        <p:grpSpPr>
          <a:xfrm rot="3945056">
            <a:off x="4222606" y="1854547"/>
            <a:ext cx="1621907" cy="1923027"/>
            <a:chOff x="5065243" y="1444153"/>
            <a:chExt cx="2061514" cy="2202814"/>
          </a:xfrm>
          <a:effectLst>
            <a:outerShdw blurRad="228600" dist="38100" dir="2700000" sx="102000" sy="102000" algn="tl" rotWithShape="0">
              <a:prstClr val="black">
                <a:alpha val="40000"/>
              </a:prstClr>
            </a:outerShdw>
          </a:effectLst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F68C29D-F77A-84EF-C936-254C536BA9C7}"/>
                </a:ext>
              </a:extLst>
            </p:cNvPr>
            <p:cNvSpPr/>
            <p:nvPr/>
          </p:nvSpPr>
          <p:spPr>
            <a:xfrm>
              <a:off x="5065243" y="1444153"/>
              <a:ext cx="1030757" cy="2202814"/>
            </a:xfrm>
            <a:custGeom>
              <a:avLst/>
              <a:gdLst>
                <a:gd name="csX0" fmla="*/ 1030757 w 1030757"/>
                <a:gd name="csY0" fmla="*/ 0 h 2202814"/>
                <a:gd name="csX1" fmla="*/ 1030757 w 1030757"/>
                <a:gd name="csY1" fmla="*/ 1562986 h 2202814"/>
                <a:gd name="csX2" fmla="*/ 0 w 1030757"/>
                <a:gd name="csY2" fmla="*/ 2202814 h 2202814"/>
                <a:gd name="csX3" fmla="*/ 1030757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1030757" y="0"/>
                  </a:moveTo>
                  <a:lnTo>
                    <a:pt x="1030757" y="1562986"/>
                  </a:lnTo>
                  <a:lnTo>
                    <a:pt x="0" y="2202814"/>
                  </a:lnTo>
                  <a:lnTo>
                    <a:pt x="1030757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7C87A18-FFC2-86C8-9559-C257EFFE822D}"/>
                </a:ext>
              </a:extLst>
            </p:cNvPr>
            <p:cNvSpPr/>
            <p:nvPr/>
          </p:nvSpPr>
          <p:spPr>
            <a:xfrm>
              <a:off x="6096000" y="1444153"/>
              <a:ext cx="1030757" cy="2202814"/>
            </a:xfrm>
            <a:custGeom>
              <a:avLst/>
              <a:gdLst>
                <a:gd name="csX0" fmla="*/ 0 w 1030757"/>
                <a:gd name="csY0" fmla="*/ 0 h 2202814"/>
                <a:gd name="csX1" fmla="*/ 1030757 w 1030757"/>
                <a:gd name="csY1" fmla="*/ 2202814 h 2202814"/>
                <a:gd name="csX2" fmla="*/ 0 w 1030757"/>
                <a:gd name="csY2" fmla="*/ 1562986 h 2202814"/>
                <a:gd name="csX3" fmla="*/ 0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0" y="0"/>
                  </a:moveTo>
                  <a:lnTo>
                    <a:pt x="1030757" y="2202814"/>
                  </a:lnTo>
                  <a:lnTo>
                    <a:pt x="0" y="1562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4D6B006-4E2A-D4AF-7F66-49FD61FDA353}"/>
              </a:ext>
            </a:extLst>
          </p:cNvPr>
          <p:cNvGrpSpPr/>
          <p:nvPr/>
        </p:nvGrpSpPr>
        <p:grpSpPr>
          <a:xfrm rot="3534783">
            <a:off x="2030575" y="2592548"/>
            <a:ext cx="1621907" cy="1923027"/>
            <a:chOff x="5065243" y="1444153"/>
            <a:chExt cx="2061514" cy="2202814"/>
          </a:xfrm>
          <a:effectLst>
            <a:outerShdw blurRad="228600" dist="38100" dir="2700000" sx="102000" sy="102000" algn="tl" rotWithShape="0">
              <a:prstClr val="black">
                <a:alpha val="40000"/>
              </a:prstClr>
            </a:outerShdw>
          </a:effectLst>
        </p:grpSpPr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52AF5570-902D-4B36-18FC-9E8D96C76245}"/>
                </a:ext>
              </a:extLst>
            </p:cNvPr>
            <p:cNvSpPr/>
            <p:nvPr/>
          </p:nvSpPr>
          <p:spPr>
            <a:xfrm>
              <a:off x="5065243" y="1444153"/>
              <a:ext cx="1030757" cy="2202814"/>
            </a:xfrm>
            <a:custGeom>
              <a:avLst/>
              <a:gdLst>
                <a:gd name="csX0" fmla="*/ 1030757 w 1030757"/>
                <a:gd name="csY0" fmla="*/ 0 h 2202814"/>
                <a:gd name="csX1" fmla="*/ 1030757 w 1030757"/>
                <a:gd name="csY1" fmla="*/ 1562986 h 2202814"/>
                <a:gd name="csX2" fmla="*/ 0 w 1030757"/>
                <a:gd name="csY2" fmla="*/ 2202814 h 2202814"/>
                <a:gd name="csX3" fmla="*/ 1030757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1030757" y="0"/>
                  </a:moveTo>
                  <a:lnTo>
                    <a:pt x="1030757" y="1562986"/>
                  </a:lnTo>
                  <a:lnTo>
                    <a:pt x="0" y="2202814"/>
                  </a:lnTo>
                  <a:lnTo>
                    <a:pt x="1030757" y="0"/>
                  </a:lnTo>
                  <a:close/>
                </a:path>
              </a:pathLst>
            </a:custGeom>
            <a:solidFill>
              <a:srgbClr val="EC8078"/>
            </a:solidFill>
            <a:ln>
              <a:solidFill>
                <a:srgbClr val="E868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E969AC3-1004-A12E-C2BB-12B4D92F9FF7}"/>
                </a:ext>
              </a:extLst>
            </p:cNvPr>
            <p:cNvSpPr/>
            <p:nvPr/>
          </p:nvSpPr>
          <p:spPr>
            <a:xfrm>
              <a:off x="6096000" y="1444153"/>
              <a:ext cx="1030757" cy="2202814"/>
            </a:xfrm>
            <a:custGeom>
              <a:avLst/>
              <a:gdLst>
                <a:gd name="csX0" fmla="*/ 0 w 1030757"/>
                <a:gd name="csY0" fmla="*/ 0 h 2202814"/>
                <a:gd name="csX1" fmla="*/ 1030757 w 1030757"/>
                <a:gd name="csY1" fmla="*/ 2202814 h 2202814"/>
                <a:gd name="csX2" fmla="*/ 0 w 1030757"/>
                <a:gd name="csY2" fmla="*/ 1562986 h 2202814"/>
                <a:gd name="csX3" fmla="*/ 0 w 1030757"/>
                <a:gd name="csY3" fmla="*/ 0 h 22028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30757" h="2202814">
                  <a:moveTo>
                    <a:pt x="0" y="0"/>
                  </a:moveTo>
                  <a:lnTo>
                    <a:pt x="1030757" y="2202814"/>
                  </a:lnTo>
                  <a:lnTo>
                    <a:pt x="0" y="15629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85E"/>
            </a:solidFill>
            <a:ln>
              <a:solidFill>
                <a:srgbClr val="E8685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DD29438-9BB4-31AE-1C90-8601270D7F79}"/>
              </a:ext>
            </a:extLst>
          </p:cNvPr>
          <p:cNvGrpSpPr/>
          <p:nvPr/>
        </p:nvGrpSpPr>
        <p:grpSpPr>
          <a:xfrm>
            <a:off x="2271466" y="5365925"/>
            <a:ext cx="2715196" cy="1222364"/>
            <a:chOff x="2983855" y="5365925"/>
            <a:chExt cx="2715196" cy="1222364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A570AF8-E41D-6B5D-2459-07EADE9E02F6}"/>
                </a:ext>
              </a:extLst>
            </p:cNvPr>
            <p:cNvSpPr txBox="1"/>
            <p:nvPr/>
          </p:nvSpPr>
          <p:spPr>
            <a:xfrm>
              <a:off x="2983855" y="5365925"/>
              <a:ext cx="27151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PHASE-01:</a:t>
              </a:r>
            </a:p>
            <a:p>
              <a:r>
                <a:rPr lang="en-US" sz="1400" b="1" dirty="0"/>
                <a:t>DESCRIPTIVE MARKET OVERVIEW</a:t>
              </a:r>
              <a:endParaRPr lang="en-US" sz="14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8732D4F4-EDBD-2880-64BF-1909D60AE809}"/>
                </a:ext>
              </a:extLst>
            </p:cNvPr>
            <p:cNvSpPr txBox="1"/>
            <p:nvPr/>
          </p:nvSpPr>
          <p:spPr>
            <a:xfrm>
              <a:off x="3098907" y="5849625"/>
              <a:ext cx="248509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+mj-lt"/>
                </a:rPr>
                <a:t>1.  Overall Fee Landscape</a:t>
              </a:r>
            </a:p>
            <a:p>
              <a:r>
                <a:rPr lang="en-US" sz="1400" i="1" dirty="0">
                  <a:latin typeface="+mj-lt"/>
                </a:rPr>
                <a:t>2.  City-Wise Pricing Analysis</a:t>
              </a:r>
            </a:p>
            <a:p>
              <a:r>
                <a:rPr lang="en-US" sz="1400" i="1" dirty="0">
                  <a:latin typeface="+mj-lt"/>
                </a:rPr>
                <a:t>3.  Specialization-Wise Pricing</a:t>
              </a:r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6CEF81D-F8D9-D855-D025-F16F48794A4A}"/>
              </a:ext>
            </a:extLst>
          </p:cNvPr>
          <p:cNvGrpSpPr/>
          <p:nvPr/>
        </p:nvGrpSpPr>
        <p:grpSpPr>
          <a:xfrm>
            <a:off x="5231209" y="4772108"/>
            <a:ext cx="3037298" cy="1006920"/>
            <a:chOff x="5380069" y="4718943"/>
            <a:chExt cx="3037298" cy="1006920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9A8F50A8-A1F5-B44A-0163-F5FAE3EAD6D6}"/>
                </a:ext>
              </a:extLst>
            </p:cNvPr>
            <p:cNvSpPr txBox="1"/>
            <p:nvPr/>
          </p:nvSpPr>
          <p:spPr>
            <a:xfrm>
              <a:off x="5380069" y="4718943"/>
              <a:ext cx="21796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PHASE-02:</a:t>
              </a:r>
            </a:p>
            <a:p>
              <a:r>
                <a:rPr lang="en-US" sz="1400" b="1" dirty="0"/>
                <a:t>FACTOR IMPACT ANALYSIS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27C93F9-41BD-DEDD-CB8C-3F4BE0DDC91A}"/>
                </a:ext>
              </a:extLst>
            </p:cNvPr>
            <p:cNvSpPr txBox="1"/>
            <p:nvPr/>
          </p:nvSpPr>
          <p:spPr>
            <a:xfrm>
              <a:off x="5495120" y="5202643"/>
              <a:ext cx="292224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+mj-lt"/>
                </a:rPr>
                <a:t>1.  Experience-wise Pricing Analysis</a:t>
              </a:r>
            </a:p>
            <a:p>
              <a:r>
                <a:rPr lang="en-US" sz="1400" i="1" dirty="0">
                  <a:latin typeface="+mj-lt"/>
                </a:rPr>
                <a:t>2.  Patient rating-wise Pricing Analysis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FA9F9CC-75D1-F438-5435-B0349EB76C9F}"/>
              </a:ext>
            </a:extLst>
          </p:cNvPr>
          <p:cNvGrpSpPr/>
          <p:nvPr/>
        </p:nvGrpSpPr>
        <p:grpSpPr>
          <a:xfrm>
            <a:off x="7908295" y="4077948"/>
            <a:ext cx="3507959" cy="1006920"/>
            <a:chOff x="2983855" y="5365925"/>
            <a:chExt cx="3507959" cy="1006920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36D3F38-A4AB-8C7D-FF41-7A8761F3AFAC}"/>
                </a:ext>
              </a:extLst>
            </p:cNvPr>
            <p:cNvSpPr txBox="1"/>
            <p:nvPr/>
          </p:nvSpPr>
          <p:spPr>
            <a:xfrm>
              <a:off x="2983855" y="5365925"/>
              <a:ext cx="31051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PHASE-03:</a:t>
              </a:r>
            </a:p>
            <a:p>
              <a:r>
                <a:rPr lang="en-US" sz="1400" b="1" dirty="0"/>
                <a:t>MULTIFACTOR COMPARATIVE ANALYSIS</a:t>
              </a:r>
              <a:endParaRPr lang="en-US" sz="14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A89CC1-963F-68E4-0C62-6D28B5C6850B}"/>
                </a:ext>
              </a:extLst>
            </p:cNvPr>
            <p:cNvSpPr txBox="1"/>
            <p:nvPr/>
          </p:nvSpPr>
          <p:spPr>
            <a:xfrm>
              <a:off x="3098907" y="5849625"/>
              <a:ext cx="33929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+mj-lt"/>
                </a:rPr>
                <a:t>1.  City &amp; Specialization-wise Pricing Analysis</a:t>
              </a:r>
            </a:p>
            <a:p>
              <a:r>
                <a:rPr lang="en-US" sz="1400" i="1" dirty="0">
                  <a:latin typeface="+mj-lt"/>
                </a:rPr>
                <a:t>2.  Premium Segment Pricing Analysis</a:t>
              </a:r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903E1C61-9B47-BDD7-302A-651E783B2E29}"/>
              </a:ext>
            </a:extLst>
          </p:cNvPr>
          <p:cNvGrpSpPr/>
          <p:nvPr/>
        </p:nvGrpSpPr>
        <p:grpSpPr>
          <a:xfrm>
            <a:off x="9288812" y="2908167"/>
            <a:ext cx="2846050" cy="791477"/>
            <a:chOff x="2983855" y="5365925"/>
            <a:chExt cx="3507959" cy="791477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00DE755-CFB4-F3EB-0480-BA928A715DBE}"/>
                </a:ext>
              </a:extLst>
            </p:cNvPr>
            <p:cNvSpPr txBox="1"/>
            <p:nvPr/>
          </p:nvSpPr>
          <p:spPr>
            <a:xfrm>
              <a:off x="2983855" y="5365925"/>
              <a:ext cx="31051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bg1">
                      <a:lumMod val="65000"/>
                    </a:schemeClr>
                  </a:solidFill>
                </a:rPr>
                <a:t>PHASE-04:</a:t>
              </a:r>
            </a:p>
            <a:p>
              <a:r>
                <a:rPr lang="en-US" sz="1400" b="1" dirty="0"/>
                <a:t>MARKET SEGMENT 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97922E06-E87A-4463-B472-70E5A7CAEAE0}"/>
                </a:ext>
              </a:extLst>
            </p:cNvPr>
            <p:cNvSpPr txBox="1"/>
            <p:nvPr/>
          </p:nvSpPr>
          <p:spPr>
            <a:xfrm>
              <a:off x="3098907" y="5849625"/>
              <a:ext cx="339290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+mj-lt"/>
                </a:rPr>
                <a:t>1.  Market Segment Pricing Analysis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5939F3EB-B571-9E01-BA08-5CA98DD50A7C}"/>
              </a:ext>
            </a:extLst>
          </p:cNvPr>
          <p:cNvSpPr txBox="1"/>
          <p:nvPr/>
        </p:nvSpPr>
        <p:spPr>
          <a:xfrm>
            <a:off x="1348208" y="297331"/>
            <a:ext cx="3207132" cy="83099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Eras Bold ITC" panose="020B0907030504020204" pitchFamily="34" charset="0"/>
              </a:rPr>
              <a:t>VISUALIZATION</a:t>
            </a:r>
          </a:p>
          <a:p>
            <a:r>
              <a:rPr lang="en-US" sz="2400" dirty="0">
                <a:latin typeface="Eras Bold ITC" panose="020B0907030504020204" pitchFamily="34" charset="0"/>
              </a:rPr>
              <a:t>AND ANALYSIS</a:t>
            </a:r>
          </a:p>
        </p:txBody>
      </p:sp>
      <p:pic>
        <p:nvPicPr>
          <p:cNvPr id="7" name="Graphic 6" descr="Monitor with solid fill">
            <a:extLst>
              <a:ext uri="{FF2B5EF4-FFF2-40B4-BE49-F238E27FC236}">
                <a16:creationId xmlns:a16="http://schemas.microsoft.com/office/drawing/2014/main" id="{A8438605-80F1-5521-8370-B7B77E107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442" y="310583"/>
            <a:ext cx="854766" cy="85476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53229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6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500" tmFilter="0, 0; .2, .5; .8, .5; 1, 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7" dur="250" autoRev="1" fill="hold"/>
                                            <p:tgtEl>
                                              <p:spTgt spid="140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2" presetClass="entr" presetSubtype="12" accel="44000" fill="hold" nodeType="clickEffect" p14:presetBounceEnd="5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2" dur="225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3" dur="225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2" accel="44000" fill="hold" nodeType="withEffect" p14:presetBounceEnd="5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6" dur="225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7" dur="225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accel="44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225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225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2" accel="44000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4" dur="225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5" dur="225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100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75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750" fill="hold"/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750" fill="hold"/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75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75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1" grpId="0" animBg="1"/>
          <p:bldP spid="140" grpId="0"/>
          <p:bldP spid="140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5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3" dur="50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6" presetClass="emph" presetSubtype="0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500" tmFilter="0, 0; .2, .5; .8, .5; 1, 0"/>
                                            <p:tgtEl>
                                              <p:spTgt spid="140"/>
                                            </p:tgtEl>
                                          </p:cBhvr>
                                        </p:animEffect>
                                        <p:animScale>
                                          <p:cBhvr>
                                            <p:cTn id="17" dur="250" autoRev="1" fill="hold"/>
                                            <p:tgtEl>
                                              <p:spTgt spid="140"/>
                                            </p:tgtEl>
                                          </p:cBhvr>
                                          <p:by x="105000" y="105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8" fill="hold">
                          <p:stCondLst>
                            <p:cond delay="indefinite"/>
                          </p:stCondLst>
                          <p:childTnLst>
                            <p:par>
                              <p:cTn id="1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0" presetID="2" presetClass="entr" presetSubtype="12" accel="44000" fill="hold" nodeType="click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225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2250" fill="hold"/>
                                            <p:tgtEl>
                                              <p:spTgt spid="1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12" accel="44000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225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2250" fill="hold"/>
                                            <p:tgtEl>
                                              <p:spTgt spid="1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8" presetID="2" presetClass="entr" presetSubtype="12" ac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225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2250" fill="hold"/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12" accel="44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225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2250" fill="hold"/>
                                            <p:tgtEl>
                                              <p:spTgt spid="10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2" presetClass="entr" presetSubtype="4" fill="hold" grpId="0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8" dur="1000"/>
                                            <p:tgtEl>
                                              <p:spTgt spid="1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75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750" fill="hold"/>
                                            <p:tgtEl>
                                              <p:spTgt spid="1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750" fill="hold"/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750" fill="hold"/>
                                            <p:tgtEl>
                                              <p:spTgt spid="1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750" fill="hold"/>
                                            <p:tgtEl>
                                              <p:spTgt spid="1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1" presetID="17" presetClass="entr" presetSubtype="1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3" dur="75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750" fill="hold"/>
                                            <p:tgtEl>
                                              <p:spTgt spid="1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21" grpId="0" animBg="1"/>
          <p:bldP spid="140" grpId="0"/>
          <p:bldP spid="140" grpId="1"/>
        </p:bldLst>
      </p:timing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D731A-B84B-28D7-6A69-D5DECD77B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AE0632-647C-6BC2-3434-4892522B1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06"/>
          <a:stretch>
            <a:fillRect/>
          </a:stretch>
        </p:blipFill>
        <p:spPr>
          <a:xfrm>
            <a:off x="2869401" y="2289277"/>
            <a:ext cx="6453198" cy="3390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D8EB0B-B996-DD8A-C746-2E3B9AE6A07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1423" t="12303" r="62804" b="6948"/>
          <a:stretch>
            <a:fillRect/>
          </a:stretch>
        </p:blipFill>
        <p:spPr>
          <a:xfrm>
            <a:off x="4253885" y="2440623"/>
            <a:ext cx="1017814" cy="2982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2340D5-31FF-DA3D-535D-B490E537F9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60" r="18918" b="90374"/>
          <a:stretch>
            <a:fillRect/>
          </a:stretch>
        </p:blipFill>
        <p:spPr>
          <a:xfrm>
            <a:off x="3636197" y="1877726"/>
            <a:ext cx="4919606" cy="411551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C23FD1F-C443-448F-9843-90EFF7DEE0A5}"/>
              </a:ext>
            </a:extLst>
          </p:cNvPr>
          <p:cNvSpPr/>
          <p:nvPr/>
        </p:nvSpPr>
        <p:spPr>
          <a:xfrm>
            <a:off x="2433099" y="2280128"/>
            <a:ext cx="2210463" cy="477079"/>
          </a:xfrm>
          <a:custGeom>
            <a:avLst/>
            <a:gdLst>
              <a:gd name="csX0" fmla="*/ 2210463 w 2210463"/>
              <a:gd name="csY0" fmla="*/ 477079 h 477079"/>
              <a:gd name="csX1" fmla="*/ 2194560 w 2210463"/>
              <a:gd name="csY1" fmla="*/ 0 h 477079"/>
              <a:gd name="csX2" fmla="*/ 0 w 2210463"/>
              <a:gd name="csY2" fmla="*/ 0 h 477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210463" h="477079">
                <a:moveTo>
                  <a:pt x="2210463" y="477079"/>
                </a:moveTo>
                <a:lnTo>
                  <a:pt x="2194560" y="0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F76AFA4-11D1-E7DF-D6E0-0753CD7492B0}"/>
              </a:ext>
            </a:extLst>
          </p:cNvPr>
          <p:cNvGrpSpPr/>
          <p:nvPr/>
        </p:nvGrpSpPr>
        <p:grpSpPr>
          <a:xfrm>
            <a:off x="186600" y="1587964"/>
            <a:ext cx="2234228" cy="1491295"/>
            <a:chOff x="186600" y="1587964"/>
            <a:chExt cx="2234228" cy="149129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1F06F5-88CB-F8E5-BD82-693D292741BD}"/>
                </a:ext>
              </a:extLst>
            </p:cNvPr>
            <p:cNvSpPr txBox="1"/>
            <p:nvPr/>
          </p:nvSpPr>
          <p:spPr>
            <a:xfrm>
              <a:off x="560223" y="1801986"/>
              <a:ext cx="1860605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Most doctors </a:t>
              </a:r>
              <a:r>
                <a:rPr lang="en-US" sz="1100" i="1" dirty="0"/>
                <a:t>charge consultation </a:t>
              </a:r>
              <a:r>
                <a:rPr lang="en-US" sz="1100" b="1" i="1" dirty="0"/>
                <a:t>fees roughly between ₹500 and ₹1000</a:t>
              </a:r>
              <a:r>
                <a:rPr lang="en-US" sz="1100" i="1" dirty="0"/>
                <a:t>,    indicating that the urban </a:t>
              </a:r>
              <a:r>
                <a:rPr lang="en-US" sz="1100" b="1" i="1" dirty="0"/>
                <a:t>healthcare market </a:t>
              </a:r>
              <a:r>
                <a:rPr lang="en-US" sz="1100" i="1" dirty="0"/>
                <a:t>largely </a:t>
              </a:r>
              <a:r>
                <a:rPr lang="en-US" sz="1100" b="1" i="1" dirty="0"/>
                <a:t>operates within a mid-range pricing segment</a:t>
              </a:r>
              <a:r>
                <a:rPr lang="en-US" sz="1100" i="1" dirty="0"/>
                <a:t>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99C2DF-5317-04BB-0566-0F59C0CEE722}"/>
                </a:ext>
              </a:extLst>
            </p:cNvPr>
            <p:cNvSpPr txBox="1"/>
            <p:nvPr/>
          </p:nvSpPr>
          <p:spPr>
            <a:xfrm>
              <a:off x="186600" y="1587964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B67ED9E-6F12-1CC7-2909-FCEA0DE2A4F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5287" t="73329" r="2116" b="6948"/>
          <a:stretch>
            <a:fillRect/>
          </a:stretch>
        </p:blipFill>
        <p:spPr>
          <a:xfrm>
            <a:off x="5779477" y="4694775"/>
            <a:ext cx="3394014" cy="7285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55A5B3-53D8-5B53-B425-322C8A45DE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255" y="3163455"/>
            <a:ext cx="1869716" cy="1248431"/>
          </a:xfrm>
          <a:prstGeom prst="rect">
            <a:avLst/>
          </a:prstGeom>
          <a:ln>
            <a:solidFill>
              <a:schemeClr val="tx1"/>
            </a:solidFill>
            <a:prstDash val="lgDashDotDot"/>
          </a:ln>
        </p:spPr>
      </p:pic>
      <p:sp>
        <p:nvSpPr>
          <p:cNvPr id="9" name="Right Brace 8">
            <a:extLst>
              <a:ext uri="{FF2B5EF4-FFF2-40B4-BE49-F238E27FC236}">
                <a16:creationId xmlns:a16="http://schemas.microsoft.com/office/drawing/2014/main" id="{2F9AD2D8-DB04-D639-F445-8594F801DF11}"/>
              </a:ext>
            </a:extLst>
          </p:cNvPr>
          <p:cNvSpPr/>
          <p:nvPr/>
        </p:nvSpPr>
        <p:spPr>
          <a:xfrm rot="5400000">
            <a:off x="7290989" y="3831393"/>
            <a:ext cx="129372" cy="3140030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BD9B875-FDBC-757B-FFF9-651C11641E9C}"/>
              </a:ext>
            </a:extLst>
          </p:cNvPr>
          <p:cNvSpPr/>
          <p:nvPr/>
        </p:nvSpPr>
        <p:spPr>
          <a:xfrm>
            <a:off x="2620255" y="5091883"/>
            <a:ext cx="4743583" cy="870953"/>
          </a:xfrm>
          <a:custGeom>
            <a:avLst/>
            <a:gdLst>
              <a:gd name="csX0" fmla="*/ 4733856 w 4743583"/>
              <a:gd name="csY0" fmla="*/ 355387 h 870953"/>
              <a:gd name="csX1" fmla="*/ 4743583 w 4743583"/>
              <a:gd name="csY1" fmla="*/ 846634 h 870953"/>
              <a:gd name="csX2" fmla="*/ 550962 w 4743583"/>
              <a:gd name="csY2" fmla="*/ 870953 h 870953"/>
              <a:gd name="csX3" fmla="*/ 0 w 4743583"/>
              <a:gd name="csY3" fmla="*/ 0 h 8709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743583" h="870953">
                <a:moveTo>
                  <a:pt x="4733856" y="355387"/>
                </a:moveTo>
                <a:lnTo>
                  <a:pt x="4743583" y="846634"/>
                </a:lnTo>
                <a:lnTo>
                  <a:pt x="550962" y="870953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859BAB-E8AD-C360-2058-58B0D10CE20D}"/>
              </a:ext>
            </a:extLst>
          </p:cNvPr>
          <p:cNvGrpSpPr/>
          <p:nvPr/>
        </p:nvGrpSpPr>
        <p:grpSpPr>
          <a:xfrm>
            <a:off x="261358" y="4218938"/>
            <a:ext cx="2234324" cy="1523926"/>
            <a:chOff x="261358" y="4218938"/>
            <a:chExt cx="2234324" cy="152392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21DFD85-C7F4-F8D5-DDF7-B59EA32BE8C3}"/>
                </a:ext>
              </a:extLst>
            </p:cNvPr>
            <p:cNvSpPr txBox="1"/>
            <p:nvPr/>
          </p:nvSpPr>
          <p:spPr>
            <a:xfrm>
              <a:off x="635077" y="4465591"/>
              <a:ext cx="1860605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distribution has a long right tail, with some doctors charging ₹2000–₹4000, indicating the presence of a small premium segment that drives higher-end healthcare pricing.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4FFA068-10A0-B787-4AE2-9F051D96490F}"/>
                </a:ext>
              </a:extLst>
            </p:cNvPr>
            <p:cNvSpPr txBox="1"/>
            <p:nvPr/>
          </p:nvSpPr>
          <p:spPr>
            <a:xfrm>
              <a:off x="261358" y="4218938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sp>
        <p:nvSpPr>
          <p:cNvPr id="24" name="Right Brace 23">
            <a:extLst>
              <a:ext uri="{FF2B5EF4-FFF2-40B4-BE49-F238E27FC236}">
                <a16:creationId xmlns:a16="http://schemas.microsoft.com/office/drawing/2014/main" id="{E2ABF567-29F5-35FB-0A6B-7B349EC516FB}"/>
              </a:ext>
            </a:extLst>
          </p:cNvPr>
          <p:cNvSpPr/>
          <p:nvPr/>
        </p:nvSpPr>
        <p:spPr>
          <a:xfrm>
            <a:off x="8555803" y="3194959"/>
            <a:ext cx="73367" cy="330414"/>
          </a:xfrm>
          <a:prstGeom prst="righ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31842C9-16CE-DF0F-2FA3-B5B6B431DE13}"/>
              </a:ext>
            </a:extLst>
          </p:cNvPr>
          <p:cNvSpPr/>
          <p:nvPr/>
        </p:nvSpPr>
        <p:spPr>
          <a:xfrm>
            <a:off x="8629170" y="3360166"/>
            <a:ext cx="1280160" cy="0"/>
          </a:xfrm>
          <a:custGeom>
            <a:avLst/>
            <a:gdLst>
              <a:gd name="csX0" fmla="*/ 0 w 1321653"/>
              <a:gd name="csY0" fmla="*/ 23052 h 23052"/>
              <a:gd name="csX1" fmla="*/ 1321653 w 1321653"/>
              <a:gd name="csY1" fmla="*/ 0 h 2305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21653" h="23052">
                <a:moveTo>
                  <a:pt x="0" y="23052"/>
                </a:moveTo>
                <a:lnTo>
                  <a:pt x="1321653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1182FAC-4E96-34FF-900C-8E51D7DB52EF}"/>
              </a:ext>
            </a:extLst>
          </p:cNvPr>
          <p:cNvGrpSpPr/>
          <p:nvPr/>
        </p:nvGrpSpPr>
        <p:grpSpPr>
          <a:xfrm>
            <a:off x="9588141" y="2671691"/>
            <a:ext cx="2251408" cy="1616556"/>
            <a:chOff x="9588141" y="2671691"/>
            <a:chExt cx="2251408" cy="161655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905439F-0E97-25FB-793B-F6CBE819AE12}"/>
                </a:ext>
              </a:extLst>
            </p:cNvPr>
            <p:cNvSpPr txBox="1"/>
            <p:nvPr/>
          </p:nvSpPr>
          <p:spPr>
            <a:xfrm>
              <a:off x="9978944" y="2841697"/>
              <a:ext cx="1860605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</a:t>
              </a:r>
              <a:r>
                <a:rPr lang="en-US" sz="1100" b="1" i="1" dirty="0"/>
                <a:t>mean fee is slightly higher than the median</a:t>
              </a:r>
              <a:r>
                <a:rPr lang="en-US" sz="1100" i="1" dirty="0"/>
                <a:t>,  suggesting that a relatively small number of high-fee doctors are pulling the overall average upward,    reinforcing the existence of premium-priced providers.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34870C0-FFB2-53C8-C761-6880D6625F29}"/>
                </a:ext>
              </a:extLst>
            </p:cNvPr>
            <p:cNvSpPr txBox="1"/>
            <p:nvPr/>
          </p:nvSpPr>
          <p:spPr>
            <a:xfrm>
              <a:off x="9588141" y="2671691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618E4AD-7FF5-9FA9-C4E8-407ADB8354AC}"/>
              </a:ext>
            </a:extLst>
          </p:cNvPr>
          <p:cNvGrpSpPr/>
          <p:nvPr/>
        </p:nvGrpSpPr>
        <p:grpSpPr>
          <a:xfrm>
            <a:off x="4503073" y="956719"/>
            <a:ext cx="3267308" cy="372500"/>
            <a:chOff x="4503073" y="956719"/>
            <a:chExt cx="3267308" cy="3725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63B03E6-4526-0760-11AE-E3C28D447DDF}"/>
                </a:ext>
              </a:extLst>
            </p:cNvPr>
            <p:cNvSpPr/>
            <p:nvPr/>
          </p:nvSpPr>
          <p:spPr>
            <a:xfrm>
              <a:off x="4503073" y="959887"/>
              <a:ext cx="3267308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AF827EB-50F7-A91F-83D2-9D1A260056BD}"/>
                </a:ext>
              </a:extLst>
            </p:cNvPr>
            <p:cNvSpPr txBox="1"/>
            <p:nvPr/>
          </p:nvSpPr>
          <p:spPr>
            <a:xfrm>
              <a:off x="4967261" y="956719"/>
              <a:ext cx="2803119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Overall Fee Landscape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9748C9-9AA6-08D8-DABD-53EF4350526C}"/>
              </a:ext>
            </a:extLst>
          </p:cNvPr>
          <p:cNvGrpSpPr/>
          <p:nvPr/>
        </p:nvGrpSpPr>
        <p:grpSpPr>
          <a:xfrm>
            <a:off x="4321169" y="808090"/>
            <a:ext cx="557784" cy="646331"/>
            <a:chOff x="4321169" y="808090"/>
            <a:chExt cx="557784" cy="6463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9291812-FD1A-410C-8082-DA11BB838209}"/>
                </a:ext>
              </a:extLst>
            </p:cNvPr>
            <p:cNvSpPr/>
            <p:nvPr/>
          </p:nvSpPr>
          <p:spPr>
            <a:xfrm>
              <a:off x="4321169" y="864066"/>
              <a:ext cx="557784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5D8BF5B-6A8A-C6C7-6337-DBAB0B4AC5D8}"/>
                </a:ext>
              </a:extLst>
            </p:cNvPr>
            <p:cNvSpPr txBox="1"/>
            <p:nvPr/>
          </p:nvSpPr>
          <p:spPr>
            <a:xfrm>
              <a:off x="4334299" y="808090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1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F5ED458-71E3-D790-4DF8-49C92026ACF5}"/>
              </a:ext>
            </a:extLst>
          </p:cNvPr>
          <p:cNvSpPr txBox="1"/>
          <p:nvPr/>
        </p:nvSpPr>
        <p:spPr>
          <a:xfrm>
            <a:off x="393370" y="411647"/>
            <a:ext cx="2667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Eras Bold ITC" panose="020B0907030504020204" pitchFamily="34" charset="0"/>
              </a:rPr>
              <a:t>DESCRIPTIVE MARKET OVERVIEW</a:t>
            </a:r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F89675-E419-DC2E-2946-6CD33D5607E9}"/>
              </a:ext>
            </a:extLst>
          </p:cNvPr>
          <p:cNvSpPr/>
          <p:nvPr/>
        </p:nvSpPr>
        <p:spPr>
          <a:xfrm>
            <a:off x="2179715" y="440870"/>
            <a:ext cx="73152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73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927 -0.0037 L -0.14948 0.0011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38" y="23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"/>
                            </p:stCondLst>
                            <p:childTnLst>
                              <p:par>
                                <p:cTn id="6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20" grpId="0" animBg="1"/>
      <p:bldP spid="24" grpId="0" animBg="1"/>
      <p:bldP spid="25" grpId="0" animBg="1"/>
      <p:bldP spid="16" grpId="0"/>
      <p:bldP spid="17" grpId="0" animBg="1"/>
      <p:bldP spid="17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6917A-258B-50AC-18F2-A2F5F30AC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935292-9414-CBFD-908A-1DFB319AE6A1}"/>
              </a:ext>
            </a:extLst>
          </p:cNvPr>
          <p:cNvGrpSpPr/>
          <p:nvPr/>
        </p:nvGrpSpPr>
        <p:grpSpPr>
          <a:xfrm>
            <a:off x="9376756" y="2458117"/>
            <a:ext cx="2212506" cy="523220"/>
            <a:chOff x="9376756" y="2458114"/>
            <a:chExt cx="2212506" cy="37230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72CD5A4-CA19-0C4A-2BD9-47B9CECA8CE6}"/>
                </a:ext>
              </a:extLst>
            </p:cNvPr>
            <p:cNvSpPr/>
            <p:nvPr/>
          </p:nvSpPr>
          <p:spPr>
            <a:xfrm>
              <a:off x="9392362" y="2458114"/>
              <a:ext cx="2099351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CCDA259-AFA3-D91C-906E-436EC3A3933B}"/>
                </a:ext>
              </a:extLst>
            </p:cNvPr>
            <p:cNvSpPr txBox="1"/>
            <p:nvPr/>
          </p:nvSpPr>
          <p:spPr>
            <a:xfrm>
              <a:off x="9376756" y="2458114"/>
              <a:ext cx="2212506" cy="372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Outlier-Excluded Sensitivity View</a:t>
              </a:r>
              <a:endParaRPr lang="en-US" sz="1400" b="1" dirty="0">
                <a:solidFill>
                  <a:schemeClr val="bg1"/>
                </a:solidFill>
                <a:latin typeface="Eras Bold ITC" panose="020B0907030504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21DE97F-EF1B-8211-2F7E-C4CDE0515810}"/>
              </a:ext>
            </a:extLst>
          </p:cNvPr>
          <p:cNvGrpSpPr/>
          <p:nvPr/>
        </p:nvGrpSpPr>
        <p:grpSpPr>
          <a:xfrm>
            <a:off x="930181" y="2458114"/>
            <a:ext cx="1805043" cy="369332"/>
            <a:chOff x="930181" y="2458114"/>
            <a:chExt cx="1805043" cy="369332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F19DA0F-6DAC-8B74-9B79-103A2D417C8C}"/>
                </a:ext>
              </a:extLst>
            </p:cNvPr>
            <p:cNvSpPr/>
            <p:nvPr/>
          </p:nvSpPr>
          <p:spPr>
            <a:xfrm>
              <a:off x="930181" y="2458114"/>
              <a:ext cx="1805043" cy="36933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CEAA3F5-D115-3A7F-D12E-90ED7BA387CD}"/>
                </a:ext>
              </a:extLst>
            </p:cNvPr>
            <p:cNvSpPr txBox="1"/>
            <p:nvPr/>
          </p:nvSpPr>
          <p:spPr>
            <a:xfrm>
              <a:off x="967125" y="2458114"/>
              <a:ext cx="17680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Eras Bold ITC" panose="020B0907030504020204" pitchFamily="34" charset="0"/>
                </a:rPr>
                <a:t>With Outliers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48F9A7D-A727-7F0E-118C-AA26B9842DAE}"/>
              </a:ext>
            </a:extLst>
          </p:cNvPr>
          <p:cNvSpPr txBox="1"/>
          <p:nvPr/>
        </p:nvSpPr>
        <p:spPr>
          <a:xfrm>
            <a:off x="3977471" y="1170992"/>
            <a:ext cx="4237058" cy="40011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000" b="1" dirty="0"/>
              <a:t>Effects of Outliers on Consultation Fee</a:t>
            </a:r>
            <a:endParaRPr 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77AD33-FD28-1E50-DCDE-621ACFA4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664" y="2267240"/>
            <a:ext cx="5263729" cy="28148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357AEC4-4CAA-33FF-7768-D32C8A9342C5}"/>
              </a:ext>
            </a:extLst>
          </p:cNvPr>
          <p:cNvSpPr txBox="1"/>
          <p:nvPr/>
        </p:nvSpPr>
        <p:spPr>
          <a:xfrm>
            <a:off x="4688917" y="5251314"/>
            <a:ext cx="2957221" cy="938719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b="1" i="1" dirty="0">
                <a:effectLst/>
                <a:latin typeface="menlo"/>
              </a:rPr>
              <a:t>Outlier Analysis through IQR Method:</a:t>
            </a:r>
            <a:endParaRPr lang="en-US" sz="1100" b="1" i="1" dirty="0">
              <a:latin typeface="menlo"/>
            </a:endParaRPr>
          </a:p>
          <a:p>
            <a:pPr algn="ctr">
              <a:buNone/>
            </a:pPr>
            <a:r>
              <a:rPr lang="en-US" sz="1100" b="0" i="1" dirty="0">
                <a:effectLst/>
                <a:latin typeface="menlo"/>
              </a:rPr>
              <a:t>Lower Bound </a:t>
            </a:r>
            <a:r>
              <a:rPr lang="en-US" sz="1100" b="1" i="1" dirty="0">
                <a:solidFill>
                  <a:srgbClr val="AA22FF"/>
                </a:solidFill>
                <a:effectLst/>
                <a:latin typeface="menlo"/>
              </a:rPr>
              <a:t>=</a:t>
            </a:r>
            <a:r>
              <a:rPr lang="en-US" sz="1100" b="0" i="1" dirty="0">
                <a:effectLst/>
                <a:latin typeface="menlo"/>
              </a:rPr>
              <a:t> </a:t>
            </a:r>
            <a:r>
              <a:rPr lang="en-US" sz="1100" b="1" i="1" dirty="0">
                <a:solidFill>
                  <a:srgbClr val="AA22FF"/>
                </a:solidFill>
                <a:effectLst/>
                <a:latin typeface="menlo"/>
              </a:rPr>
              <a:t>-</a:t>
            </a:r>
            <a:r>
              <a:rPr lang="en-US" sz="1100" b="0" i="1" dirty="0">
                <a:solidFill>
                  <a:srgbClr val="008800"/>
                </a:solidFill>
                <a:effectLst/>
                <a:latin typeface="menlo"/>
              </a:rPr>
              <a:t>250</a:t>
            </a:r>
            <a:endParaRPr lang="en-US" sz="1100" b="0" i="1" dirty="0">
              <a:effectLst/>
              <a:latin typeface="menlo"/>
            </a:endParaRPr>
          </a:p>
          <a:p>
            <a:pPr algn="ctr">
              <a:buNone/>
            </a:pPr>
            <a:r>
              <a:rPr lang="en-US" sz="1100" b="0" i="1" dirty="0">
                <a:effectLst/>
                <a:latin typeface="menlo"/>
              </a:rPr>
              <a:t>Upper Bound </a:t>
            </a:r>
            <a:r>
              <a:rPr lang="en-US" sz="1100" b="1" i="1" dirty="0">
                <a:solidFill>
                  <a:srgbClr val="AA22FF"/>
                </a:solidFill>
                <a:effectLst/>
                <a:latin typeface="menlo"/>
              </a:rPr>
              <a:t>=</a:t>
            </a:r>
            <a:r>
              <a:rPr lang="en-US" sz="1100" b="0" i="1" dirty="0">
                <a:effectLst/>
                <a:latin typeface="menlo"/>
              </a:rPr>
              <a:t> </a:t>
            </a:r>
            <a:r>
              <a:rPr lang="en-US" sz="1100" b="0" i="1" dirty="0">
                <a:solidFill>
                  <a:srgbClr val="008800"/>
                </a:solidFill>
                <a:effectLst/>
                <a:latin typeface="menlo"/>
              </a:rPr>
              <a:t>1750</a:t>
            </a:r>
          </a:p>
          <a:p>
            <a:pPr algn="ctr"/>
            <a:r>
              <a:rPr lang="en-US" sz="1100" i="1" dirty="0">
                <a:latin typeface="menlo"/>
              </a:rPr>
              <a:t>So, Doctors charging above ₹1750 are outliers.</a:t>
            </a:r>
            <a:endParaRPr lang="en-US" sz="1100" i="1" dirty="0">
              <a:solidFill>
                <a:srgbClr val="008800"/>
              </a:solidFill>
              <a:latin typeface="menlo"/>
            </a:endParaRPr>
          </a:p>
          <a:p>
            <a:pPr algn="ctr">
              <a:buNone/>
            </a:pPr>
            <a:r>
              <a:rPr lang="en-US" sz="1100" b="0" i="1" dirty="0">
                <a:effectLst/>
                <a:latin typeface="menlo"/>
              </a:rPr>
              <a:t>Total Number of Outliers </a:t>
            </a:r>
            <a:r>
              <a:rPr lang="en-US" sz="1100" i="1" dirty="0">
                <a:latin typeface="menlo"/>
              </a:rPr>
              <a:t> found  = </a:t>
            </a:r>
            <a:r>
              <a:rPr lang="en-US" sz="1100" b="0" i="1" dirty="0">
                <a:solidFill>
                  <a:srgbClr val="008800"/>
                </a:solidFill>
                <a:effectLst/>
                <a:latin typeface="menlo"/>
              </a:rPr>
              <a:t>39</a:t>
            </a:r>
            <a:endParaRPr lang="en-US" sz="1100" b="0" i="1" dirty="0">
              <a:effectLst/>
              <a:latin typeface="menlo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AEB6244-955A-338E-062A-ECD29E73BD9D}"/>
              </a:ext>
            </a:extLst>
          </p:cNvPr>
          <p:cNvSpPr/>
          <p:nvPr/>
        </p:nvSpPr>
        <p:spPr>
          <a:xfrm>
            <a:off x="1713053" y="1577211"/>
            <a:ext cx="4143737" cy="734993"/>
          </a:xfrm>
          <a:custGeom>
            <a:avLst/>
            <a:gdLst>
              <a:gd name="csX0" fmla="*/ 4143737 w 4143737"/>
              <a:gd name="csY0" fmla="*/ 0 h 734993"/>
              <a:gd name="csX1" fmla="*/ 4143737 w 4143737"/>
              <a:gd name="csY1" fmla="*/ 248856 h 734993"/>
              <a:gd name="csX2" fmla="*/ 0 w 4143737"/>
              <a:gd name="csY2" fmla="*/ 260431 h 734993"/>
              <a:gd name="csX3" fmla="*/ 0 w 4143737"/>
              <a:gd name="csY3" fmla="*/ 734993 h 734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737" h="734993">
                <a:moveTo>
                  <a:pt x="4143737" y="0"/>
                </a:moveTo>
                <a:lnTo>
                  <a:pt x="4143737" y="248856"/>
                </a:lnTo>
                <a:lnTo>
                  <a:pt x="0" y="260431"/>
                </a:lnTo>
                <a:lnTo>
                  <a:pt x="0" y="734993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D6D7CA9-CD73-6823-9D13-01ACBB0F1ED3}"/>
              </a:ext>
            </a:extLst>
          </p:cNvPr>
          <p:cNvSpPr/>
          <p:nvPr/>
        </p:nvSpPr>
        <p:spPr>
          <a:xfrm flipH="1">
            <a:off x="6326694" y="1585051"/>
            <a:ext cx="4142232" cy="734993"/>
          </a:xfrm>
          <a:custGeom>
            <a:avLst/>
            <a:gdLst>
              <a:gd name="csX0" fmla="*/ 4143737 w 4143737"/>
              <a:gd name="csY0" fmla="*/ 0 h 734993"/>
              <a:gd name="csX1" fmla="*/ 4143737 w 4143737"/>
              <a:gd name="csY1" fmla="*/ 248856 h 734993"/>
              <a:gd name="csX2" fmla="*/ 0 w 4143737"/>
              <a:gd name="csY2" fmla="*/ 260431 h 734993"/>
              <a:gd name="csX3" fmla="*/ 0 w 4143737"/>
              <a:gd name="csY3" fmla="*/ 734993 h 7349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143737" h="734993">
                <a:moveTo>
                  <a:pt x="4143737" y="0"/>
                </a:moveTo>
                <a:lnTo>
                  <a:pt x="4143737" y="248856"/>
                </a:lnTo>
                <a:lnTo>
                  <a:pt x="0" y="260431"/>
                </a:lnTo>
                <a:lnTo>
                  <a:pt x="0" y="734993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009111-D34B-DCC4-C9D1-FBE36AA4F527}"/>
              </a:ext>
            </a:extLst>
          </p:cNvPr>
          <p:cNvSpPr txBox="1"/>
          <p:nvPr/>
        </p:nvSpPr>
        <p:spPr>
          <a:xfrm>
            <a:off x="930181" y="2973357"/>
            <a:ext cx="1805043" cy="1154162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effectLst/>
                <a:latin typeface="menlo"/>
              </a:rPr>
              <a:t>Average/Mean Value = </a:t>
            </a:r>
            <a:r>
              <a:rPr lang="en-US" dirty="0"/>
              <a:t>₹829.35</a:t>
            </a:r>
          </a:p>
          <a:p>
            <a:pPr algn="ctr">
              <a:buNone/>
            </a:pPr>
            <a:r>
              <a:rPr lang="en-US" sz="1100" b="0" i="1" dirty="0">
                <a:effectLst/>
                <a:latin typeface="menlo"/>
              </a:rPr>
              <a:t> </a:t>
            </a:r>
          </a:p>
          <a:p>
            <a:pPr algn="ctr">
              <a:buNone/>
            </a:pPr>
            <a:r>
              <a:rPr lang="en-US" sz="1100" i="1" dirty="0">
                <a:latin typeface="menlo"/>
              </a:rPr>
              <a:t>Median Value = </a:t>
            </a:r>
          </a:p>
          <a:p>
            <a:pPr algn="ctr">
              <a:buNone/>
            </a:pPr>
            <a:r>
              <a:rPr lang="en-US" dirty="0"/>
              <a:t>₹800.00</a:t>
            </a:r>
            <a:endParaRPr lang="en-US" sz="1100" b="0" i="1" dirty="0">
              <a:effectLst/>
              <a:latin typeface="menlo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1D8E75-284B-876D-6DAD-9A385B8575DF}"/>
              </a:ext>
            </a:extLst>
          </p:cNvPr>
          <p:cNvSpPr txBox="1"/>
          <p:nvPr/>
        </p:nvSpPr>
        <p:spPr>
          <a:xfrm>
            <a:off x="9576424" y="3135202"/>
            <a:ext cx="1805043" cy="1154162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>
            <a:spAutoFit/>
          </a:bodyPr>
          <a:lstStyle/>
          <a:p>
            <a:pPr algn="ctr"/>
            <a:r>
              <a:rPr lang="en-US" sz="1100" b="0" i="1" dirty="0">
                <a:effectLst/>
                <a:latin typeface="menlo"/>
              </a:rPr>
              <a:t>Average/Mean Value = </a:t>
            </a:r>
            <a:r>
              <a:rPr lang="en-US" dirty="0"/>
              <a:t>₹779.54</a:t>
            </a:r>
          </a:p>
          <a:p>
            <a:pPr algn="ctr">
              <a:buNone/>
            </a:pPr>
            <a:r>
              <a:rPr lang="en-US" sz="1100" b="0" i="1" dirty="0">
                <a:effectLst/>
                <a:latin typeface="menlo"/>
              </a:rPr>
              <a:t> </a:t>
            </a:r>
          </a:p>
          <a:p>
            <a:pPr algn="ctr">
              <a:buNone/>
            </a:pPr>
            <a:r>
              <a:rPr lang="en-US" sz="1100" i="1" dirty="0">
                <a:latin typeface="menlo"/>
              </a:rPr>
              <a:t>Median Value = </a:t>
            </a:r>
          </a:p>
          <a:p>
            <a:pPr algn="ctr">
              <a:buNone/>
            </a:pPr>
            <a:r>
              <a:rPr lang="en-US" dirty="0"/>
              <a:t>₹750.00</a:t>
            </a:r>
            <a:endParaRPr lang="en-US" sz="1100" b="0" i="1" dirty="0">
              <a:effectLst/>
              <a:latin typeface="menlo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D227EA-0AF3-F6FF-5803-276DB4E9C326}"/>
              </a:ext>
            </a:extLst>
          </p:cNvPr>
          <p:cNvGrpSpPr/>
          <p:nvPr/>
        </p:nvGrpSpPr>
        <p:grpSpPr>
          <a:xfrm>
            <a:off x="261358" y="4661817"/>
            <a:ext cx="2473866" cy="1016094"/>
            <a:chOff x="261358" y="4661817"/>
            <a:chExt cx="2473866" cy="1016094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80EA8B-2291-5374-C0EF-0AD7D9DE41D5}"/>
                </a:ext>
              </a:extLst>
            </p:cNvPr>
            <p:cNvSpPr txBox="1"/>
            <p:nvPr/>
          </p:nvSpPr>
          <p:spPr>
            <a:xfrm>
              <a:off x="635077" y="4908470"/>
              <a:ext cx="210014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The dataset contains </a:t>
              </a:r>
              <a:r>
                <a:rPr lang="en-US" sz="1100" b="1" dirty="0"/>
                <a:t>extreme consultation fees </a:t>
              </a:r>
              <a:r>
                <a:rPr lang="en-US" sz="1100" dirty="0"/>
                <a:t>reaching up to </a:t>
              </a:r>
              <a:r>
                <a:rPr lang="en-US" sz="1100" b="1" dirty="0"/>
                <a:t>₹4000</a:t>
              </a:r>
              <a:r>
                <a:rPr lang="en-US" sz="1100" dirty="0"/>
                <a:t>, indicating the presence of premium healthcare providers.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FAB5EAF-6261-28DF-0F67-4FA34D24002A}"/>
                </a:ext>
              </a:extLst>
            </p:cNvPr>
            <p:cNvSpPr txBox="1"/>
            <p:nvPr/>
          </p:nvSpPr>
          <p:spPr>
            <a:xfrm>
              <a:off x="261358" y="4661817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9C86B28-5168-E37C-363E-69505B26486F}"/>
              </a:ext>
            </a:extLst>
          </p:cNvPr>
          <p:cNvGrpSpPr/>
          <p:nvPr/>
        </p:nvGrpSpPr>
        <p:grpSpPr>
          <a:xfrm>
            <a:off x="9113099" y="4370240"/>
            <a:ext cx="2863106" cy="1185372"/>
            <a:chOff x="9113099" y="4191127"/>
            <a:chExt cx="2863106" cy="1185372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7FF5527-6BDE-0AD0-04DB-90635F8EB3E5}"/>
                </a:ext>
              </a:extLst>
            </p:cNvPr>
            <p:cNvSpPr txBox="1"/>
            <p:nvPr/>
          </p:nvSpPr>
          <p:spPr>
            <a:xfrm>
              <a:off x="9486818" y="4437780"/>
              <a:ext cx="2489387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Average consultation fee decreases to ₹779.54</a:t>
              </a:r>
              <a:r>
                <a:rPr lang="en-US" sz="1100" i="1" dirty="0"/>
                <a:t>, suggesting that a small number of high-priced doctors significantly affect the overall market average.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FAFA18-E6A6-5C58-B722-9ACFD709902A}"/>
                </a:ext>
              </a:extLst>
            </p:cNvPr>
            <p:cNvSpPr txBox="1"/>
            <p:nvPr/>
          </p:nvSpPr>
          <p:spPr>
            <a:xfrm>
              <a:off x="9113099" y="4191127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F4E0E6-C2A1-D283-1C50-85C599D2AE0F}"/>
              </a:ext>
            </a:extLst>
          </p:cNvPr>
          <p:cNvGrpSpPr/>
          <p:nvPr/>
        </p:nvGrpSpPr>
        <p:grpSpPr>
          <a:xfrm>
            <a:off x="8236866" y="5424678"/>
            <a:ext cx="2863107" cy="1016094"/>
            <a:chOff x="8236866" y="5368116"/>
            <a:chExt cx="2863107" cy="101609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CE99818-B56E-56F1-29DD-290CD8C952F5}"/>
                </a:ext>
              </a:extLst>
            </p:cNvPr>
            <p:cNvSpPr txBox="1"/>
            <p:nvPr/>
          </p:nvSpPr>
          <p:spPr>
            <a:xfrm>
              <a:off x="8610586" y="5614769"/>
              <a:ext cx="248938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</a:t>
              </a:r>
              <a:r>
                <a:rPr lang="en-US" sz="1100" b="1" i="1" dirty="0"/>
                <a:t>outlier-excluded view is used only as a sensitivity analysis </a:t>
              </a:r>
              <a:r>
                <a:rPr lang="en-US" sz="1100" i="1" dirty="0"/>
                <a:t>to understand how extreme consultation fees affect the overall pricing distribution.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77C2333-C396-D7B1-9739-B85A2C5A41C1}"/>
                </a:ext>
              </a:extLst>
            </p:cNvPr>
            <p:cNvSpPr txBox="1"/>
            <p:nvPr/>
          </p:nvSpPr>
          <p:spPr>
            <a:xfrm>
              <a:off x="8236866" y="5368116"/>
              <a:ext cx="27341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52834384-60FF-D1EC-5B81-B159309153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3820" t="11760" r="3586" b="8689"/>
          <a:stretch>
            <a:fillRect/>
          </a:stretch>
        </p:blipFill>
        <p:spPr>
          <a:xfrm>
            <a:off x="5842173" y="2598252"/>
            <a:ext cx="2768414" cy="223920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6193718-06B8-7F76-E299-2F03B714BF07}"/>
              </a:ext>
            </a:extLst>
          </p:cNvPr>
          <p:cNvGrpSpPr/>
          <p:nvPr/>
        </p:nvGrpSpPr>
        <p:grpSpPr>
          <a:xfrm>
            <a:off x="4536159" y="433949"/>
            <a:ext cx="3210099" cy="372500"/>
            <a:chOff x="3736155" y="681415"/>
            <a:chExt cx="3642637" cy="3725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5DC890C-9C47-8F55-AE68-D27275A4EE2F}"/>
                </a:ext>
              </a:extLst>
            </p:cNvPr>
            <p:cNvSpPr/>
            <p:nvPr/>
          </p:nvSpPr>
          <p:spPr>
            <a:xfrm>
              <a:off x="3736155" y="684583"/>
              <a:ext cx="3642637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89ED2A-A2DD-F552-A991-766A65F1869A}"/>
                </a:ext>
              </a:extLst>
            </p:cNvPr>
            <p:cNvSpPr txBox="1"/>
            <p:nvPr/>
          </p:nvSpPr>
          <p:spPr>
            <a:xfrm>
              <a:off x="4200343" y="681415"/>
              <a:ext cx="3178449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Overall Fee Landscape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B3D91A2-8001-7EC1-4D55-26E066E1EB9D}"/>
              </a:ext>
            </a:extLst>
          </p:cNvPr>
          <p:cNvGrpSpPr/>
          <p:nvPr/>
        </p:nvGrpSpPr>
        <p:grpSpPr>
          <a:xfrm>
            <a:off x="4354255" y="285320"/>
            <a:ext cx="557784" cy="646331"/>
            <a:chOff x="3554251" y="532786"/>
            <a:chExt cx="557784" cy="64633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493B7D-0664-170A-5EF2-15D724DA0CBD}"/>
                </a:ext>
              </a:extLst>
            </p:cNvPr>
            <p:cNvSpPr/>
            <p:nvPr/>
          </p:nvSpPr>
          <p:spPr>
            <a:xfrm>
              <a:off x="3554251" y="588762"/>
              <a:ext cx="557784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3F86ACA-D748-D269-2F97-430ECC009B26}"/>
                </a:ext>
              </a:extLst>
            </p:cNvPr>
            <p:cNvSpPr txBox="1"/>
            <p:nvPr/>
          </p:nvSpPr>
          <p:spPr>
            <a:xfrm>
              <a:off x="3592548" y="532786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9069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  <p:bldP spid="18" grpId="0" animBg="1"/>
      <p:bldP spid="19" grpId="0" animBg="1"/>
      <p:bldP spid="36" grpId="0" animBg="1"/>
      <p:bldP spid="3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6E66F-6C4E-4AF7-3480-2AA158D05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8AF8A3B-63FB-B141-CB60-3360FDF9FA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5628"/>
          <a:stretch>
            <a:fillRect/>
          </a:stretch>
        </p:blipFill>
        <p:spPr>
          <a:xfrm>
            <a:off x="424067" y="3942222"/>
            <a:ext cx="5032836" cy="26336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C8D2F5-ADC0-88C5-2AF9-C2AABB21B9C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147" t="7664" r="18029" b="20370"/>
          <a:stretch>
            <a:fillRect/>
          </a:stretch>
        </p:blipFill>
        <p:spPr>
          <a:xfrm>
            <a:off x="3791326" y="4007884"/>
            <a:ext cx="683090" cy="203481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212A6A9-B05E-4AC4-A8A2-CF72242C6F46}"/>
              </a:ext>
            </a:extLst>
          </p:cNvPr>
          <p:cNvGrpSpPr/>
          <p:nvPr/>
        </p:nvGrpSpPr>
        <p:grpSpPr>
          <a:xfrm>
            <a:off x="3736155" y="681415"/>
            <a:ext cx="3642637" cy="372500"/>
            <a:chOff x="3736155" y="681415"/>
            <a:chExt cx="3642637" cy="3725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EAA622A9-B72B-51AD-2DF0-A64099241712}"/>
                </a:ext>
              </a:extLst>
            </p:cNvPr>
            <p:cNvSpPr/>
            <p:nvPr/>
          </p:nvSpPr>
          <p:spPr>
            <a:xfrm>
              <a:off x="3736155" y="684583"/>
              <a:ext cx="3642637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B8A168E-C505-33EE-88FF-6B081DAE2929}"/>
                </a:ext>
              </a:extLst>
            </p:cNvPr>
            <p:cNvSpPr txBox="1"/>
            <p:nvPr/>
          </p:nvSpPr>
          <p:spPr>
            <a:xfrm>
              <a:off x="4200343" y="681415"/>
              <a:ext cx="3178449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City-Wise Pricing 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20E174-F3F7-35C9-D3D8-5769F8314373}"/>
              </a:ext>
            </a:extLst>
          </p:cNvPr>
          <p:cNvGrpSpPr/>
          <p:nvPr/>
        </p:nvGrpSpPr>
        <p:grpSpPr>
          <a:xfrm>
            <a:off x="3554251" y="532786"/>
            <a:ext cx="557784" cy="646331"/>
            <a:chOff x="3554251" y="532786"/>
            <a:chExt cx="557784" cy="6463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ECF9CA5-53D0-34F4-80E5-6753EFB3045A}"/>
                </a:ext>
              </a:extLst>
            </p:cNvPr>
            <p:cNvSpPr/>
            <p:nvPr/>
          </p:nvSpPr>
          <p:spPr>
            <a:xfrm>
              <a:off x="3554251" y="588762"/>
              <a:ext cx="557784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55AF960-D0A7-B090-8E5B-9FED95D5B954}"/>
                </a:ext>
              </a:extLst>
            </p:cNvPr>
            <p:cNvSpPr txBox="1"/>
            <p:nvPr/>
          </p:nvSpPr>
          <p:spPr>
            <a:xfrm>
              <a:off x="3592548" y="532786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D7E2547-FE97-79E5-8A1B-8E3D7A758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810"/>
          <a:stretch>
            <a:fillRect/>
          </a:stretch>
        </p:blipFill>
        <p:spPr>
          <a:xfrm>
            <a:off x="6735099" y="3852768"/>
            <a:ext cx="5063602" cy="2845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D88A2-2247-53C3-529D-46B360BB71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661"/>
          <a:stretch>
            <a:fillRect/>
          </a:stretch>
        </p:blipFill>
        <p:spPr>
          <a:xfrm>
            <a:off x="8390692" y="1143400"/>
            <a:ext cx="3522917" cy="217590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62CF0E4-C0A4-2264-CCB5-D69A529122FB}"/>
              </a:ext>
            </a:extLst>
          </p:cNvPr>
          <p:cNvGrpSpPr/>
          <p:nvPr/>
        </p:nvGrpSpPr>
        <p:grpSpPr>
          <a:xfrm>
            <a:off x="294752" y="1676452"/>
            <a:ext cx="3742401" cy="1491295"/>
            <a:chOff x="294752" y="1676452"/>
            <a:chExt cx="3742401" cy="149129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D94947-B05D-09F5-80BB-AC62EDFAAA81}"/>
                </a:ext>
              </a:extLst>
            </p:cNvPr>
            <p:cNvSpPr txBox="1"/>
            <p:nvPr/>
          </p:nvSpPr>
          <p:spPr>
            <a:xfrm>
              <a:off x="668375" y="1890474"/>
              <a:ext cx="3368778" cy="1277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Consultation </a:t>
              </a:r>
              <a:r>
                <a:rPr lang="en-US" sz="1100" b="1" i="1" dirty="0"/>
                <a:t>fees vary significantly across cities</a:t>
              </a:r>
              <a:r>
                <a:rPr lang="en-US" sz="1100" i="1" dirty="0"/>
                <a:t>, indicating differences in healthcare market pricing across urban regions. Among all analyzed cities, </a:t>
              </a:r>
              <a:r>
                <a:rPr lang="en-US" sz="1100" b="1" i="1" dirty="0"/>
                <a:t>Mumbai exhibits the highest average consultation fee</a:t>
              </a:r>
              <a:r>
                <a:rPr lang="en-US" sz="1100" i="1" dirty="0"/>
                <a:t>, suggesting a premium healthcare market.</a:t>
              </a:r>
            </a:p>
            <a:p>
              <a:r>
                <a:rPr lang="en-US" sz="1100" i="1" dirty="0">
                  <a:latin typeface="menlo"/>
                </a:rPr>
                <a:t>Patna has the lowest average consultation fee, indicating relatively more affordable healthcare access.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E2413C-7204-F5EB-1FC8-C76160CE0C1A}"/>
                </a:ext>
              </a:extLst>
            </p:cNvPr>
            <p:cNvSpPr txBox="1"/>
            <p:nvPr/>
          </p:nvSpPr>
          <p:spPr>
            <a:xfrm>
              <a:off x="294752" y="1676452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438E09-AFE9-AA0E-CCB9-94AD13B29A00}"/>
              </a:ext>
            </a:extLst>
          </p:cNvPr>
          <p:cNvGrpSpPr/>
          <p:nvPr/>
        </p:nvGrpSpPr>
        <p:grpSpPr>
          <a:xfrm>
            <a:off x="4440941" y="1592329"/>
            <a:ext cx="3715319" cy="832029"/>
            <a:chOff x="4440941" y="1592329"/>
            <a:chExt cx="3715319" cy="83202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D81849-17B3-178B-E2AC-AF9C06A78C61}"/>
                </a:ext>
              </a:extLst>
            </p:cNvPr>
            <p:cNvSpPr txBox="1"/>
            <p:nvPr/>
          </p:nvSpPr>
          <p:spPr>
            <a:xfrm>
              <a:off x="4787482" y="1824194"/>
              <a:ext cx="3368778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i="1" dirty="0"/>
                <a:t>Metro cities demonstrate a higher average consultation fee compared to non-metro cities, indicating a possible urban premium effect in healthcare pricing.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24C0337-D43F-4561-B7E7-54BBE83290A0}"/>
                </a:ext>
              </a:extLst>
            </p:cNvPr>
            <p:cNvSpPr txBox="1"/>
            <p:nvPr/>
          </p:nvSpPr>
          <p:spPr>
            <a:xfrm>
              <a:off x="4440941" y="1592329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D2EDD8-79E7-FE31-8BC6-6673A43113A9}"/>
              </a:ext>
            </a:extLst>
          </p:cNvPr>
          <p:cNvGrpSpPr/>
          <p:nvPr/>
        </p:nvGrpSpPr>
        <p:grpSpPr>
          <a:xfrm>
            <a:off x="4277223" y="2571277"/>
            <a:ext cx="3691616" cy="988816"/>
            <a:chOff x="4277223" y="2571277"/>
            <a:chExt cx="3691616" cy="98881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625D7B-790F-CD62-DD6C-5E4E1025C103}"/>
                </a:ext>
              </a:extLst>
            </p:cNvPr>
            <p:cNvSpPr txBox="1"/>
            <p:nvPr/>
          </p:nvSpPr>
          <p:spPr>
            <a:xfrm>
              <a:off x="4600061" y="2790652"/>
              <a:ext cx="3368778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1100" b="0" i="1" dirty="0">
                  <a:effectLst/>
                  <a:latin typeface="menlo"/>
                </a:rPr>
                <a:t>The boxplot analysis shows that some cities have wider consultation fee distributions like Mumbai, indicating the presence of both budget and premium healthcare providers.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2E5897-D785-D42B-3206-7BB00E81A0FF}"/>
                </a:ext>
              </a:extLst>
            </p:cNvPr>
            <p:cNvSpPr txBox="1"/>
            <p:nvPr/>
          </p:nvSpPr>
          <p:spPr>
            <a:xfrm>
              <a:off x="4277223" y="2571277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FDE0ABD-23D8-493B-FE78-6B8FD96286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31764" t="947" r="26708" b="94306"/>
          <a:stretch>
            <a:fillRect/>
          </a:stretch>
        </p:blipFill>
        <p:spPr>
          <a:xfrm>
            <a:off x="1543250" y="3648114"/>
            <a:ext cx="3111097" cy="1972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518B24-85B7-1644-B955-2AD66E63BD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27" t="1952" r="23575" b="91720"/>
          <a:stretch>
            <a:fillRect/>
          </a:stretch>
        </p:blipFill>
        <p:spPr>
          <a:xfrm>
            <a:off x="7645158" y="3509402"/>
            <a:ext cx="3457115" cy="2963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ACB1B7-70B8-248E-E559-8001972A5CE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357" r="5092" b="89763"/>
          <a:stretch>
            <a:fillRect/>
          </a:stretch>
        </p:blipFill>
        <p:spPr>
          <a:xfrm>
            <a:off x="8405092" y="777932"/>
            <a:ext cx="3539315" cy="31845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F63B81-DBCD-6A33-9A24-E0356306334B}"/>
              </a:ext>
            </a:extLst>
          </p:cNvPr>
          <p:cNvSpPr/>
          <p:nvPr/>
        </p:nvSpPr>
        <p:spPr>
          <a:xfrm>
            <a:off x="1115226" y="3183308"/>
            <a:ext cx="2837204" cy="995585"/>
          </a:xfrm>
          <a:custGeom>
            <a:avLst/>
            <a:gdLst>
              <a:gd name="csX0" fmla="*/ 2837204 w 2837204"/>
              <a:gd name="csY0" fmla="*/ 995585 h 995585"/>
              <a:gd name="csX1" fmla="*/ 252101 w 2837204"/>
              <a:gd name="csY1" fmla="*/ 982767 h 995585"/>
              <a:gd name="csX2" fmla="*/ 0 w 2837204"/>
              <a:gd name="csY2" fmla="*/ 0 h 9955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837204" h="995585">
                <a:moveTo>
                  <a:pt x="2837204" y="995585"/>
                </a:moveTo>
                <a:lnTo>
                  <a:pt x="252101" y="982767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894D195-F16D-5D04-D67C-D69D5C6B4670}"/>
              </a:ext>
            </a:extLst>
          </p:cNvPr>
          <p:cNvSpPr/>
          <p:nvPr/>
        </p:nvSpPr>
        <p:spPr>
          <a:xfrm>
            <a:off x="3426864" y="4183166"/>
            <a:ext cx="880216" cy="1102408"/>
          </a:xfrm>
          <a:custGeom>
            <a:avLst/>
            <a:gdLst>
              <a:gd name="csX0" fmla="*/ 880216 w 880216"/>
              <a:gd name="csY0" fmla="*/ 1102408 h 1102408"/>
              <a:gd name="csX1" fmla="*/ 0 w 880216"/>
              <a:gd name="csY1" fmla="*/ 0 h 110240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880216" h="1102408">
                <a:moveTo>
                  <a:pt x="880216" y="1102408"/>
                </a:move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A8F4AB6-4003-CFA0-7C63-803EEB0D7031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45316" t="9811" r="46784" b="9110"/>
          <a:stretch>
            <a:fillRect/>
          </a:stretch>
        </p:blipFill>
        <p:spPr>
          <a:xfrm>
            <a:off x="9029699" y="3851579"/>
            <a:ext cx="400051" cy="255816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B376E21-8E85-C669-F98C-184176BE79E0}"/>
              </a:ext>
            </a:extLst>
          </p:cNvPr>
          <p:cNvSpPr/>
          <p:nvPr/>
        </p:nvSpPr>
        <p:spPr>
          <a:xfrm>
            <a:off x="5502442" y="3454398"/>
            <a:ext cx="3732463" cy="1673726"/>
          </a:xfrm>
          <a:custGeom>
            <a:avLst/>
            <a:gdLst>
              <a:gd name="csX0" fmla="*/ 3732463 w 3732463"/>
              <a:gd name="csY0" fmla="*/ 1673726 h 1673726"/>
              <a:gd name="csX1" fmla="*/ 3727116 w 3732463"/>
              <a:gd name="csY1" fmla="*/ 871621 h 1673726"/>
              <a:gd name="csX2" fmla="*/ 0 w 3732463"/>
              <a:gd name="csY2" fmla="*/ 0 h 16737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732463" h="1673726">
                <a:moveTo>
                  <a:pt x="3732463" y="1673726"/>
                </a:moveTo>
                <a:cubicBezTo>
                  <a:pt x="3730681" y="1406358"/>
                  <a:pt x="3728898" y="1138989"/>
                  <a:pt x="3727116" y="871621"/>
                </a:cubicBez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3833810-62EB-FB55-A354-A08A038743C5}"/>
              </a:ext>
            </a:extLst>
          </p:cNvPr>
          <p:cNvSpPr/>
          <p:nvPr/>
        </p:nvSpPr>
        <p:spPr>
          <a:xfrm>
            <a:off x="5980090" y="1013138"/>
            <a:ext cx="3636135" cy="828541"/>
          </a:xfrm>
          <a:custGeom>
            <a:avLst/>
            <a:gdLst>
              <a:gd name="csX0" fmla="*/ 3636135 w 3636135"/>
              <a:gd name="csY0" fmla="*/ 231820 h 828541"/>
              <a:gd name="csX1" fmla="*/ 2137893 w 3636135"/>
              <a:gd name="csY1" fmla="*/ 0 h 828541"/>
              <a:gd name="csX2" fmla="*/ 0 w 3636135"/>
              <a:gd name="csY2" fmla="*/ 828541 h 828541"/>
              <a:gd name="csX3" fmla="*/ 0 w 3636135"/>
              <a:gd name="csY3" fmla="*/ 828541 h 8285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36135" h="828541">
                <a:moveTo>
                  <a:pt x="3636135" y="231820"/>
                </a:moveTo>
                <a:lnTo>
                  <a:pt x="2137893" y="0"/>
                </a:lnTo>
                <a:lnTo>
                  <a:pt x="0" y="828541"/>
                </a:lnTo>
                <a:lnTo>
                  <a:pt x="0" y="828541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43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C25BB-CD21-89FD-5386-4655AFDE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FA70EC3-C78E-27A1-1683-7B5F10276FD2}"/>
              </a:ext>
            </a:extLst>
          </p:cNvPr>
          <p:cNvGrpSpPr/>
          <p:nvPr/>
        </p:nvGrpSpPr>
        <p:grpSpPr>
          <a:xfrm>
            <a:off x="3859443" y="958815"/>
            <a:ext cx="4842453" cy="372500"/>
            <a:chOff x="3859443" y="958815"/>
            <a:chExt cx="4842453" cy="3725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9F569558-3332-3DE0-CD46-0F2E90B68872}"/>
                </a:ext>
              </a:extLst>
            </p:cNvPr>
            <p:cNvSpPr/>
            <p:nvPr/>
          </p:nvSpPr>
          <p:spPr>
            <a:xfrm>
              <a:off x="3859443" y="961983"/>
              <a:ext cx="4842453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F75C857-5B5A-4B16-6198-A390EAE912CF}"/>
                </a:ext>
              </a:extLst>
            </p:cNvPr>
            <p:cNvSpPr txBox="1"/>
            <p:nvPr/>
          </p:nvSpPr>
          <p:spPr>
            <a:xfrm>
              <a:off x="4323631" y="958815"/>
              <a:ext cx="4378265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Specialization-Wise Pricing 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60EBA78-2F8D-B926-6768-7F07AA41F31D}"/>
              </a:ext>
            </a:extLst>
          </p:cNvPr>
          <p:cNvGrpSpPr/>
          <p:nvPr/>
        </p:nvGrpSpPr>
        <p:grpSpPr>
          <a:xfrm>
            <a:off x="3677539" y="810186"/>
            <a:ext cx="557784" cy="646331"/>
            <a:chOff x="3677539" y="810186"/>
            <a:chExt cx="557784" cy="6463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BCA6B58-5D49-8AA9-9DD4-956126708545}"/>
                </a:ext>
              </a:extLst>
            </p:cNvPr>
            <p:cNvSpPr/>
            <p:nvPr/>
          </p:nvSpPr>
          <p:spPr>
            <a:xfrm>
              <a:off x="3677539" y="866162"/>
              <a:ext cx="557784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F1FE992-DEE5-93C9-EBFC-D501ABD8A568}"/>
                </a:ext>
              </a:extLst>
            </p:cNvPr>
            <p:cNvSpPr txBox="1"/>
            <p:nvPr/>
          </p:nvSpPr>
          <p:spPr>
            <a:xfrm>
              <a:off x="3715836" y="810186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3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2634743A-3538-8E55-4017-4E473190D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49" y="2318274"/>
            <a:ext cx="4547899" cy="2099532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18504C3-8272-A89A-5E1A-B72F525B72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40"/>
          <a:stretch>
            <a:fillRect/>
          </a:stretch>
        </p:blipFill>
        <p:spPr>
          <a:xfrm>
            <a:off x="6280669" y="2174681"/>
            <a:ext cx="5451362" cy="3013553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D8935A-EEEC-0070-BDB6-B4F4561331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26" t="1882" r="19640" b="90526"/>
          <a:stretch>
            <a:fillRect/>
          </a:stretch>
        </p:blipFill>
        <p:spPr>
          <a:xfrm>
            <a:off x="6766057" y="1802181"/>
            <a:ext cx="4480586" cy="36933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AC456D5-3710-FC8A-C026-809B060787A4}"/>
              </a:ext>
            </a:extLst>
          </p:cNvPr>
          <p:cNvSpPr txBox="1"/>
          <p:nvPr/>
        </p:nvSpPr>
        <p:spPr>
          <a:xfrm>
            <a:off x="1051341" y="1851564"/>
            <a:ext cx="40949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Comparison between Specialization and Variance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B8D2F77-A0A7-DF24-5615-E5AD83E47F82}"/>
              </a:ext>
            </a:extLst>
          </p:cNvPr>
          <p:cNvGrpSpPr/>
          <p:nvPr/>
        </p:nvGrpSpPr>
        <p:grpSpPr>
          <a:xfrm>
            <a:off x="230122" y="4644900"/>
            <a:ext cx="2690630" cy="1093090"/>
            <a:chOff x="230122" y="4644900"/>
            <a:chExt cx="2690630" cy="1093090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2F49B09-FCFE-41B7-6E3E-C49CC69B1B69}"/>
                </a:ext>
              </a:extLst>
            </p:cNvPr>
            <p:cNvSpPr txBox="1"/>
            <p:nvPr/>
          </p:nvSpPr>
          <p:spPr>
            <a:xfrm>
              <a:off x="571945" y="4799271"/>
              <a:ext cx="2348807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General Surgeon shows the highest variance in consultation fees (247,661), </a:t>
              </a:r>
              <a:r>
                <a:rPr lang="en-US" sz="1100" i="1" dirty="0"/>
                <a:t>indicating that fees vary widely across doctors within this specialization.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2C6EA8D-F0A7-EA1D-69E6-D516199A1B3B}"/>
                </a:ext>
              </a:extLst>
            </p:cNvPr>
            <p:cNvSpPr txBox="1"/>
            <p:nvPr/>
          </p:nvSpPr>
          <p:spPr>
            <a:xfrm>
              <a:off x="230122" y="4644900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048AB94-C8B2-F8ED-9055-F0D788378377}"/>
              </a:ext>
            </a:extLst>
          </p:cNvPr>
          <p:cNvGrpSpPr/>
          <p:nvPr/>
        </p:nvGrpSpPr>
        <p:grpSpPr>
          <a:xfrm>
            <a:off x="3086796" y="4938752"/>
            <a:ext cx="2688318" cy="992074"/>
            <a:chOff x="3086796" y="4938752"/>
            <a:chExt cx="2688318" cy="99207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2A011C-AE31-C5DD-15FA-C75E219B14EA}"/>
                </a:ext>
              </a:extLst>
            </p:cNvPr>
            <p:cNvSpPr txBox="1"/>
            <p:nvPr/>
          </p:nvSpPr>
          <p:spPr>
            <a:xfrm>
              <a:off x="3426307" y="5161385"/>
              <a:ext cx="2348807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Dentists show the lowest variance in consultation fees (42,864), </a:t>
              </a:r>
              <a:r>
                <a:rPr lang="en-US" sz="1100" i="1" dirty="0"/>
                <a:t>indicating relatively consistent pricing compared to other specializations.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684D49B-FE5C-6F50-9571-B367EDEB4879}"/>
                </a:ext>
              </a:extLst>
            </p:cNvPr>
            <p:cNvSpPr txBox="1"/>
            <p:nvPr/>
          </p:nvSpPr>
          <p:spPr>
            <a:xfrm>
              <a:off x="3086796" y="4938752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CBA5DDD-A89A-6062-BCE9-6A88BB1F5E5C}"/>
              </a:ext>
            </a:extLst>
          </p:cNvPr>
          <p:cNvGrpSpPr/>
          <p:nvPr/>
        </p:nvGrpSpPr>
        <p:grpSpPr>
          <a:xfrm>
            <a:off x="6446713" y="5114741"/>
            <a:ext cx="5074727" cy="816950"/>
            <a:chOff x="6446713" y="5114741"/>
            <a:chExt cx="5074727" cy="816950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BDEE7F-3ED8-E94D-82D7-1E323910A749}"/>
                </a:ext>
              </a:extLst>
            </p:cNvPr>
            <p:cNvSpPr txBox="1"/>
            <p:nvPr/>
          </p:nvSpPr>
          <p:spPr>
            <a:xfrm>
              <a:off x="6837177" y="5331527"/>
              <a:ext cx="4684263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Cardiologists and Neurologists have the highest average consultation fees </a:t>
              </a:r>
              <a:r>
                <a:rPr lang="en-US" sz="1100" i="1" dirty="0"/>
                <a:t>among the specializations, while</a:t>
              </a:r>
              <a:r>
                <a:rPr lang="en-US" sz="1100" b="1" i="1" dirty="0"/>
                <a:t> Dentists have the lowest</a:t>
              </a:r>
              <a:r>
                <a:rPr lang="en-US" sz="1100" i="1" dirty="0"/>
                <a:t>, indicating comparatively more affordable consultation pricing.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A950E78-BB08-A66B-51FB-507937272936}"/>
                </a:ext>
              </a:extLst>
            </p:cNvPr>
            <p:cNvSpPr txBox="1"/>
            <p:nvPr/>
          </p:nvSpPr>
          <p:spPr>
            <a:xfrm>
              <a:off x="6446713" y="5114741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668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453D1-5062-2ACC-EA60-0A1AFF92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672715-3A6D-CF86-68F0-CBDE6A2228E9}"/>
              </a:ext>
            </a:extLst>
          </p:cNvPr>
          <p:cNvSpPr txBox="1"/>
          <p:nvPr/>
        </p:nvSpPr>
        <p:spPr>
          <a:xfrm>
            <a:off x="2919670" y="826425"/>
            <a:ext cx="6352660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300" b="1" dirty="0"/>
              <a:t>Comparing Average Consultation Fee (Outlier Free)</a:t>
            </a:r>
            <a:endParaRPr lang="en-US" sz="2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1B6F998-F3F5-C279-C383-63D8057EC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70" t="-431" r="8055" b="91523"/>
          <a:stretch>
            <a:fillRect/>
          </a:stretch>
        </p:blipFill>
        <p:spPr>
          <a:xfrm>
            <a:off x="3660866" y="1826044"/>
            <a:ext cx="5126518" cy="419148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03B7026-2748-75FC-E760-99EEC2405838}"/>
              </a:ext>
            </a:extLst>
          </p:cNvPr>
          <p:cNvGrpSpPr/>
          <p:nvPr/>
        </p:nvGrpSpPr>
        <p:grpSpPr>
          <a:xfrm>
            <a:off x="332061" y="2100240"/>
            <a:ext cx="2690630" cy="1262367"/>
            <a:chOff x="350915" y="2024824"/>
            <a:chExt cx="2690630" cy="126236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0BA1BF-440E-0C5C-CABD-25A9846821DD}"/>
                </a:ext>
              </a:extLst>
            </p:cNvPr>
            <p:cNvSpPr txBox="1"/>
            <p:nvPr/>
          </p:nvSpPr>
          <p:spPr>
            <a:xfrm>
              <a:off x="692738" y="2179195"/>
              <a:ext cx="2348807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Neurologists and Cardiologists have among the highest average consultation fees</a:t>
              </a:r>
              <a:r>
                <a:rPr lang="en-US" sz="1100" i="1" dirty="0"/>
                <a:t>, even when free consultations are excluded, highlighting their position in the higher-priced segment.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F47E381-B80E-E585-562C-29B5FBEC6E8F}"/>
                </a:ext>
              </a:extLst>
            </p:cNvPr>
            <p:cNvSpPr txBox="1"/>
            <p:nvPr/>
          </p:nvSpPr>
          <p:spPr>
            <a:xfrm>
              <a:off x="350915" y="2024824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AB75462-B1B5-BCDD-3297-263B6FB68CC6}"/>
              </a:ext>
            </a:extLst>
          </p:cNvPr>
          <p:cNvGrpSpPr/>
          <p:nvPr/>
        </p:nvGrpSpPr>
        <p:grpSpPr>
          <a:xfrm>
            <a:off x="9139880" y="3128787"/>
            <a:ext cx="2571971" cy="1488977"/>
            <a:chOff x="9139880" y="3128787"/>
            <a:chExt cx="2571971" cy="148897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FAFC76A-AF70-4A31-936C-0C3F3B5CA9B1}"/>
                </a:ext>
              </a:extLst>
            </p:cNvPr>
            <p:cNvSpPr txBox="1"/>
            <p:nvPr/>
          </p:nvSpPr>
          <p:spPr>
            <a:xfrm>
              <a:off x="9509238" y="3340491"/>
              <a:ext cx="2202613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i="1" dirty="0"/>
                <a:t>The </a:t>
              </a:r>
              <a:r>
                <a:rPr lang="en-US" sz="1100" b="1" i="1" dirty="0"/>
                <a:t>difference between average fees including free consultations and paid-only consultations is relatively small </a:t>
              </a:r>
              <a:r>
                <a:rPr lang="en-US" sz="1100" i="1" dirty="0"/>
                <a:t>across most specializations, suggesting that free consultations have a limited impact on overall pricing patterns.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B9262C7-98B0-4B9A-4C88-55ED2047EBAF}"/>
                </a:ext>
              </a:extLst>
            </p:cNvPr>
            <p:cNvSpPr txBox="1"/>
            <p:nvPr/>
          </p:nvSpPr>
          <p:spPr>
            <a:xfrm>
              <a:off x="9139880" y="3128787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33CDE3A-F354-0F2B-6685-18A2C2D4AED0}"/>
              </a:ext>
            </a:extLst>
          </p:cNvPr>
          <p:cNvGrpSpPr/>
          <p:nvPr/>
        </p:nvGrpSpPr>
        <p:grpSpPr>
          <a:xfrm>
            <a:off x="284009" y="4044558"/>
            <a:ext cx="2563381" cy="1172677"/>
            <a:chOff x="284009" y="4044558"/>
            <a:chExt cx="2563381" cy="117267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7595BBF-94DD-4575-2E04-59EF42DE7A65}"/>
                </a:ext>
              </a:extLst>
            </p:cNvPr>
            <p:cNvSpPr txBox="1"/>
            <p:nvPr/>
          </p:nvSpPr>
          <p:spPr>
            <a:xfrm>
              <a:off x="644777" y="4278516"/>
              <a:ext cx="2202613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Dentists</a:t>
              </a:r>
              <a:r>
                <a:rPr lang="en-US" sz="1100" i="1" dirty="0"/>
                <a:t> consistently exhibit the lowest consultation fees among all specializations, reinforcing their position as the </a:t>
              </a:r>
              <a:r>
                <a:rPr lang="en-US" sz="1100" b="1" i="1" dirty="0"/>
                <a:t>most affordable healthcare service in the dataset</a:t>
              </a:r>
              <a:r>
                <a:rPr lang="en-US" sz="1100" i="1" dirty="0"/>
                <a:t>.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345DA6-1E0F-6190-B688-25806007C621}"/>
                </a:ext>
              </a:extLst>
            </p:cNvPr>
            <p:cNvSpPr txBox="1"/>
            <p:nvPr/>
          </p:nvSpPr>
          <p:spPr>
            <a:xfrm>
              <a:off x="284009" y="4044558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9EDEE55-0A13-9522-D123-8A94D39CA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203"/>
          <a:stretch>
            <a:fillRect/>
          </a:stretch>
        </p:blipFill>
        <p:spPr>
          <a:xfrm>
            <a:off x="3127888" y="2277043"/>
            <a:ext cx="6074919" cy="40834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AF68B0-AD2C-B3EA-64E8-006B76D07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3423" t="11769" r="81050" b="23344"/>
          <a:stretch>
            <a:fillRect/>
          </a:stretch>
        </p:blipFill>
        <p:spPr>
          <a:xfrm>
            <a:off x="3943351" y="2435680"/>
            <a:ext cx="335755" cy="288641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4EDBFC5-ECFE-135E-0B97-351DEF0EB7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75996" t="11769" r="18477" b="23344"/>
          <a:stretch>
            <a:fillRect/>
          </a:stretch>
        </p:blipFill>
        <p:spPr>
          <a:xfrm>
            <a:off x="7743824" y="2435680"/>
            <a:ext cx="335755" cy="28864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B83BBE9F-5221-C265-22CC-F84B957CC9CD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colorTemperature colorTemp="88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22370" t="45662" r="72103" b="23344"/>
          <a:stretch>
            <a:fillRect/>
          </a:stretch>
        </p:blipFill>
        <p:spPr>
          <a:xfrm>
            <a:off x="4488425" y="3951442"/>
            <a:ext cx="335755" cy="1378744"/>
          </a:xfrm>
          <a:prstGeom prst="rect">
            <a:avLst/>
          </a:prstGeom>
        </p:spPr>
      </p:pic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78B7BB7-80A2-A77C-43A0-2C9145117062}"/>
              </a:ext>
            </a:extLst>
          </p:cNvPr>
          <p:cNvSpPr/>
          <p:nvPr/>
        </p:nvSpPr>
        <p:spPr>
          <a:xfrm>
            <a:off x="964580" y="3791416"/>
            <a:ext cx="3691054" cy="473927"/>
          </a:xfrm>
          <a:custGeom>
            <a:avLst/>
            <a:gdLst>
              <a:gd name="csX0" fmla="*/ 3691054 w 3691054"/>
              <a:gd name="csY0" fmla="*/ 351263 h 473927"/>
              <a:gd name="csX1" fmla="*/ 3685479 w 3691054"/>
              <a:gd name="csY1" fmla="*/ 0 h 473927"/>
              <a:gd name="csX2" fmla="*/ 1087244 w 3691054"/>
              <a:gd name="csY2" fmla="*/ 5575 h 473927"/>
              <a:gd name="csX3" fmla="*/ 0 w 3691054"/>
              <a:gd name="csY3" fmla="*/ 473927 h 473927"/>
              <a:gd name="csX4" fmla="*/ 0 w 3691054"/>
              <a:gd name="csY4" fmla="*/ 473927 h 473927"/>
              <a:gd name="csX5" fmla="*/ 0 w 3691054"/>
              <a:gd name="csY5" fmla="*/ 473927 h 473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91054" h="473927">
                <a:moveTo>
                  <a:pt x="3691054" y="351263"/>
                </a:moveTo>
                <a:cubicBezTo>
                  <a:pt x="3689196" y="234175"/>
                  <a:pt x="3687337" y="117088"/>
                  <a:pt x="3685479" y="0"/>
                </a:cubicBezTo>
                <a:lnTo>
                  <a:pt x="1087244" y="5575"/>
                </a:lnTo>
                <a:lnTo>
                  <a:pt x="0" y="473927"/>
                </a:lnTo>
                <a:lnTo>
                  <a:pt x="0" y="473927"/>
                </a:lnTo>
                <a:lnTo>
                  <a:pt x="0" y="473927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43F9B342-64A3-73C8-92E5-55F9215A3D99}"/>
              </a:ext>
            </a:extLst>
          </p:cNvPr>
          <p:cNvSpPr/>
          <p:nvPr/>
        </p:nvSpPr>
        <p:spPr>
          <a:xfrm>
            <a:off x="1064941" y="1945889"/>
            <a:ext cx="3044283" cy="869795"/>
          </a:xfrm>
          <a:custGeom>
            <a:avLst/>
            <a:gdLst>
              <a:gd name="csX0" fmla="*/ 3044283 w 3044283"/>
              <a:gd name="csY0" fmla="*/ 869795 h 869795"/>
              <a:gd name="csX1" fmla="*/ 3038708 w 3044283"/>
              <a:gd name="csY1" fmla="*/ 295508 h 869795"/>
              <a:gd name="csX2" fmla="*/ 1003610 w 3044283"/>
              <a:gd name="csY2" fmla="*/ 0 h 869795"/>
              <a:gd name="csX3" fmla="*/ 0 w 3044283"/>
              <a:gd name="csY3" fmla="*/ 256478 h 8697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044283" h="869795">
                <a:moveTo>
                  <a:pt x="3044283" y="869795"/>
                </a:moveTo>
                <a:cubicBezTo>
                  <a:pt x="3042425" y="678366"/>
                  <a:pt x="3040566" y="486937"/>
                  <a:pt x="3038708" y="295508"/>
                </a:cubicBezTo>
                <a:lnTo>
                  <a:pt x="1003610" y="0"/>
                </a:lnTo>
                <a:lnTo>
                  <a:pt x="0" y="256478"/>
                </a:lnTo>
              </a:path>
            </a:pathLst>
          </a:custGeom>
          <a:noFill/>
          <a:ln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C50FDFC-C882-2C78-5A48-A8E1D4603AE6}"/>
              </a:ext>
            </a:extLst>
          </p:cNvPr>
          <p:cNvSpPr/>
          <p:nvPr/>
        </p:nvSpPr>
        <p:spPr>
          <a:xfrm>
            <a:off x="4109224" y="2821259"/>
            <a:ext cx="3808142" cy="479502"/>
          </a:xfrm>
          <a:custGeom>
            <a:avLst/>
            <a:gdLst>
              <a:gd name="csX0" fmla="*/ 3808142 w 3808142"/>
              <a:gd name="csY0" fmla="*/ 479502 h 479502"/>
              <a:gd name="csX1" fmla="*/ 0 w 3808142"/>
              <a:gd name="csY1" fmla="*/ 0 h 479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808142" h="479502">
                <a:moveTo>
                  <a:pt x="3808142" y="479502"/>
                </a:moveTo>
                <a:lnTo>
                  <a:pt x="0" y="0"/>
                </a:lnTo>
              </a:path>
            </a:pathLst>
          </a:custGeom>
          <a:noFill/>
          <a:ln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911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75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6" grpId="0" animBg="1"/>
      <p:bldP spid="38" grpId="0" animBg="1"/>
      <p:bldP spid="4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D292-D997-D26D-6B73-993B67AD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FB4987-B64C-C499-AA65-29B0837106F5}"/>
              </a:ext>
            </a:extLst>
          </p:cNvPr>
          <p:cNvGrpSpPr/>
          <p:nvPr/>
        </p:nvGrpSpPr>
        <p:grpSpPr>
          <a:xfrm>
            <a:off x="2349418" y="3177482"/>
            <a:ext cx="2664724" cy="992660"/>
            <a:chOff x="2349418" y="3177482"/>
            <a:chExt cx="2664724" cy="9926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E6FB9A2-7175-F903-3DE0-F2EF022969E2}"/>
                </a:ext>
              </a:extLst>
            </p:cNvPr>
            <p:cNvSpPr txBox="1"/>
            <p:nvPr/>
          </p:nvSpPr>
          <p:spPr>
            <a:xfrm>
              <a:off x="2670782" y="3400701"/>
              <a:ext cx="23433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A </a:t>
              </a:r>
              <a:r>
                <a:rPr lang="en-US" sz="1100" b="1" i="1" dirty="0"/>
                <a:t>few high-fee outliers </a:t>
              </a:r>
              <a:r>
                <a:rPr lang="en-US" sz="1100" i="1" dirty="0"/>
                <a:t>suggest that certain </a:t>
              </a:r>
              <a:r>
                <a:rPr lang="en-US" sz="1100" b="1" i="1" dirty="0"/>
                <a:t>highly reputed or specialized doctors </a:t>
              </a:r>
              <a:r>
                <a:rPr lang="en-US" sz="1100" i="1" dirty="0"/>
                <a:t>charge significantly above the typical consultation range.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44A750-8600-B356-ECF8-E908013B637F}"/>
                </a:ext>
              </a:extLst>
            </p:cNvPr>
            <p:cNvSpPr txBox="1"/>
            <p:nvPr/>
          </p:nvSpPr>
          <p:spPr>
            <a:xfrm>
              <a:off x="2349418" y="3177482"/>
              <a:ext cx="2718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247EAD5-EE2A-EC37-AE96-66A41EC1B82B}"/>
              </a:ext>
            </a:extLst>
          </p:cNvPr>
          <p:cNvGrpSpPr/>
          <p:nvPr/>
        </p:nvGrpSpPr>
        <p:grpSpPr>
          <a:xfrm>
            <a:off x="3936006" y="1073570"/>
            <a:ext cx="4501893" cy="372500"/>
            <a:chOff x="3936006" y="1073570"/>
            <a:chExt cx="4501893" cy="372500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728ACC75-F05D-8CB3-FBDE-9A69AF532360}"/>
                </a:ext>
              </a:extLst>
            </p:cNvPr>
            <p:cNvSpPr/>
            <p:nvPr/>
          </p:nvSpPr>
          <p:spPr>
            <a:xfrm>
              <a:off x="3936006" y="1076738"/>
              <a:ext cx="4501893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15D3970-3097-1ACC-BF97-ABB9F5FFB6F0}"/>
                </a:ext>
              </a:extLst>
            </p:cNvPr>
            <p:cNvSpPr txBox="1"/>
            <p:nvPr/>
          </p:nvSpPr>
          <p:spPr>
            <a:xfrm>
              <a:off x="4400194" y="1073570"/>
              <a:ext cx="4037705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Experience-Wise Pricing 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9182A1A-1CE4-A1E8-56D8-E074B1B560C3}"/>
              </a:ext>
            </a:extLst>
          </p:cNvPr>
          <p:cNvGrpSpPr/>
          <p:nvPr/>
        </p:nvGrpSpPr>
        <p:grpSpPr>
          <a:xfrm>
            <a:off x="3754102" y="924941"/>
            <a:ext cx="557784" cy="646331"/>
            <a:chOff x="3754102" y="924941"/>
            <a:chExt cx="557784" cy="6463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A8AAA3E-A863-ACFE-6AB5-5C9CDA6F03A2}"/>
                </a:ext>
              </a:extLst>
            </p:cNvPr>
            <p:cNvSpPr/>
            <p:nvPr/>
          </p:nvSpPr>
          <p:spPr>
            <a:xfrm>
              <a:off x="3754102" y="980917"/>
              <a:ext cx="557784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332255A-C731-20DF-EEDF-85EC7CB19EAC}"/>
                </a:ext>
              </a:extLst>
            </p:cNvPr>
            <p:cNvSpPr txBox="1"/>
            <p:nvPr/>
          </p:nvSpPr>
          <p:spPr>
            <a:xfrm>
              <a:off x="3792399" y="924941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A60EA0C-1954-68F4-0649-D651A5FACD67}"/>
              </a:ext>
            </a:extLst>
          </p:cNvPr>
          <p:cNvGrpSpPr/>
          <p:nvPr/>
        </p:nvGrpSpPr>
        <p:grpSpPr>
          <a:xfrm>
            <a:off x="745345" y="1623108"/>
            <a:ext cx="2838955" cy="1660572"/>
            <a:chOff x="745345" y="1773940"/>
            <a:chExt cx="2838955" cy="166057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44791A-27C0-BCAD-96BC-7387FDCD42BB}"/>
                </a:ext>
              </a:extLst>
            </p:cNvPr>
            <p:cNvSpPr txBox="1"/>
            <p:nvPr/>
          </p:nvSpPr>
          <p:spPr>
            <a:xfrm>
              <a:off x="1118968" y="1987962"/>
              <a:ext cx="246533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</a:t>
              </a:r>
              <a:r>
                <a:rPr lang="en-US" sz="1100" b="1" i="1" dirty="0"/>
                <a:t>regression line indicates a positive relationship</a:t>
              </a:r>
              <a:r>
                <a:rPr lang="en-US" sz="1100" i="1" dirty="0"/>
                <a:t> between doctor experience and consultation fees. Despite the upward trend, consultation fees show </a:t>
              </a:r>
              <a:r>
                <a:rPr lang="en-US" sz="1100" b="1" i="1" dirty="0"/>
                <a:t>considerable variability </a:t>
              </a:r>
              <a:r>
                <a:rPr lang="en-US" sz="1100" i="1" dirty="0"/>
                <a:t>across all experience levels.</a:t>
              </a:r>
            </a:p>
            <a:p>
              <a:r>
                <a:rPr lang="en-US" sz="1100" b="1" i="1" dirty="0"/>
                <a:t>Correlation: 0.142 </a:t>
              </a:r>
              <a:r>
                <a:rPr lang="en-US" sz="1100" i="1" dirty="0"/>
                <a:t>— weak positive association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A443DB-0D90-B2BE-3516-730B84A1C968}"/>
                </a:ext>
              </a:extLst>
            </p:cNvPr>
            <p:cNvSpPr txBox="1"/>
            <p:nvPr/>
          </p:nvSpPr>
          <p:spPr>
            <a:xfrm>
              <a:off x="745345" y="1773940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9974828-C551-4ADA-D090-72F686A88547}"/>
              </a:ext>
            </a:extLst>
          </p:cNvPr>
          <p:cNvGrpSpPr/>
          <p:nvPr/>
        </p:nvGrpSpPr>
        <p:grpSpPr>
          <a:xfrm>
            <a:off x="971335" y="4337252"/>
            <a:ext cx="2623204" cy="1152741"/>
            <a:chOff x="971335" y="4337252"/>
            <a:chExt cx="2623204" cy="115274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90F0FB-348E-5439-ADC6-C09244F441D3}"/>
                </a:ext>
              </a:extLst>
            </p:cNvPr>
            <p:cNvSpPr txBox="1"/>
            <p:nvPr/>
          </p:nvSpPr>
          <p:spPr>
            <a:xfrm>
              <a:off x="1344958" y="4551274"/>
              <a:ext cx="224958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</a:t>
              </a:r>
              <a:r>
                <a:rPr lang="en-US" sz="1100" b="1" i="1" dirty="0"/>
                <a:t>majority of doctors </a:t>
              </a:r>
              <a:r>
                <a:rPr lang="en-US" sz="1100" i="1" dirty="0"/>
                <a:t>cluster within the</a:t>
              </a:r>
              <a:r>
                <a:rPr lang="en-US" sz="1100" b="1" i="1" dirty="0"/>
                <a:t> mid-experience range (10–30 years), </a:t>
              </a:r>
              <a:r>
                <a:rPr lang="en-US" sz="1100" i="1" dirty="0"/>
                <a:t>with consultation fees mostly </a:t>
              </a:r>
              <a:r>
                <a:rPr lang="en-US" sz="1100" b="1" i="1" dirty="0"/>
                <a:t>concentrated</a:t>
              </a:r>
              <a:r>
                <a:rPr lang="en-US" sz="1100" i="1" dirty="0"/>
                <a:t> between </a:t>
              </a:r>
              <a:r>
                <a:rPr lang="en-US" sz="1100" b="1" i="1" dirty="0"/>
                <a:t>₹400 and ₹1200</a:t>
              </a:r>
              <a:r>
                <a:rPr lang="en-US" sz="1100" i="1" dirty="0"/>
                <a:t>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2C6EE3-1026-6FFE-C925-E5449723D377}"/>
                </a:ext>
              </a:extLst>
            </p:cNvPr>
            <p:cNvSpPr txBox="1"/>
            <p:nvPr/>
          </p:nvSpPr>
          <p:spPr>
            <a:xfrm>
              <a:off x="971335" y="4337252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383B61A-FF71-8632-193E-53BE18BC4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808" y="1831249"/>
            <a:ext cx="5625309" cy="396726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1E8556-7ED5-31E7-A1D9-8E03A360342F}"/>
              </a:ext>
            </a:extLst>
          </p:cNvPr>
          <p:cNvSpPr/>
          <p:nvPr/>
        </p:nvSpPr>
        <p:spPr>
          <a:xfrm>
            <a:off x="6649073" y="4327274"/>
            <a:ext cx="4254373" cy="250809"/>
          </a:xfrm>
          <a:custGeom>
            <a:avLst/>
            <a:gdLst>
              <a:gd name="csX0" fmla="*/ 0 w 3404743"/>
              <a:gd name="csY0" fmla="*/ 188173 h 188173"/>
              <a:gd name="csX1" fmla="*/ 3404743 w 3404743"/>
              <a:gd name="csY1" fmla="*/ 0 h 188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04743" h="188173">
                <a:moveTo>
                  <a:pt x="0" y="188173"/>
                </a:moveTo>
                <a:lnTo>
                  <a:pt x="3404743" y="0"/>
                </a:lnTo>
              </a:path>
            </a:pathLst>
          </a:cu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7BD171-CE9F-E098-B02C-9A7C0861EA2D}"/>
              </a:ext>
            </a:extLst>
          </p:cNvPr>
          <p:cNvSpPr/>
          <p:nvPr/>
        </p:nvSpPr>
        <p:spPr>
          <a:xfrm>
            <a:off x="7510697" y="4130081"/>
            <a:ext cx="827387" cy="882557"/>
          </a:xfrm>
          <a:prstGeom prst="roundRect">
            <a:avLst>
              <a:gd name="adj" fmla="val 15477"/>
            </a:avLst>
          </a:prstGeom>
          <a:solidFill>
            <a:schemeClr val="accent4">
              <a:lumMod val="20000"/>
              <a:lumOff val="80000"/>
              <a:alpha val="5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780A94F-30FE-656E-210B-F0732B170575}"/>
              </a:ext>
            </a:extLst>
          </p:cNvPr>
          <p:cNvSpPr/>
          <p:nvPr/>
        </p:nvSpPr>
        <p:spPr>
          <a:xfrm rot="18083671">
            <a:off x="7685186" y="2750908"/>
            <a:ext cx="1867340" cy="589409"/>
          </a:xfrm>
          <a:prstGeom prst="ellipse">
            <a:avLst/>
          </a:prstGeom>
          <a:solidFill>
            <a:schemeClr val="accent2">
              <a:alpha val="3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7E7B662-664B-B0E6-D063-BA48176930BB}"/>
              </a:ext>
            </a:extLst>
          </p:cNvPr>
          <p:cNvSpPr/>
          <p:nvPr/>
        </p:nvSpPr>
        <p:spPr>
          <a:xfrm>
            <a:off x="3505200" y="2429433"/>
            <a:ext cx="3523129" cy="2103120"/>
          </a:xfrm>
          <a:custGeom>
            <a:avLst/>
            <a:gdLst>
              <a:gd name="csX0" fmla="*/ 3523129 w 3523129"/>
              <a:gd name="csY0" fmla="*/ 2052917 h 2052917"/>
              <a:gd name="csX1" fmla="*/ 3370729 w 3523129"/>
              <a:gd name="csY1" fmla="*/ 233082 h 2052917"/>
              <a:gd name="csX2" fmla="*/ 0 w 3523129"/>
              <a:gd name="csY2" fmla="*/ 0 h 20529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523129" h="2052917">
                <a:moveTo>
                  <a:pt x="3523129" y="2052917"/>
                </a:moveTo>
                <a:lnTo>
                  <a:pt x="3370729" y="233082"/>
                </a:lnTo>
                <a:lnTo>
                  <a:pt x="0" y="0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1AE2648-799A-D589-0FC0-B163358598D1}"/>
              </a:ext>
            </a:extLst>
          </p:cNvPr>
          <p:cNvSpPr/>
          <p:nvPr/>
        </p:nvSpPr>
        <p:spPr>
          <a:xfrm>
            <a:off x="4948518" y="3379694"/>
            <a:ext cx="3299011" cy="242047"/>
          </a:xfrm>
          <a:custGeom>
            <a:avLst/>
            <a:gdLst>
              <a:gd name="csX0" fmla="*/ 3299011 w 3299011"/>
              <a:gd name="csY0" fmla="*/ 0 h 242047"/>
              <a:gd name="csX1" fmla="*/ 0 w 3299011"/>
              <a:gd name="csY1" fmla="*/ 242047 h 24204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99011" h="242047">
                <a:moveTo>
                  <a:pt x="3299011" y="0"/>
                </a:moveTo>
                <a:lnTo>
                  <a:pt x="0" y="242047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69D066-2930-85F8-CD11-1A5039F73D5B}"/>
              </a:ext>
            </a:extLst>
          </p:cNvPr>
          <p:cNvSpPr/>
          <p:nvPr/>
        </p:nvSpPr>
        <p:spPr>
          <a:xfrm>
            <a:off x="3469341" y="4688541"/>
            <a:ext cx="4222377" cy="277906"/>
          </a:xfrm>
          <a:custGeom>
            <a:avLst/>
            <a:gdLst>
              <a:gd name="csX0" fmla="*/ 4222377 w 4222377"/>
              <a:gd name="csY0" fmla="*/ 0 h 277906"/>
              <a:gd name="csX1" fmla="*/ 0 w 4222377"/>
              <a:gd name="csY1" fmla="*/ 277906 h 27790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22377" h="277906">
                <a:moveTo>
                  <a:pt x="4222377" y="0"/>
                </a:moveTo>
                <a:lnTo>
                  <a:pt x="0" y="277906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F9576-5DE8-EA71-B7EF-9D5DE16C3A10}"/>
              </a:ext>
            </a:extLst>
          </p:cNvPr>
          <p:cNvSpPr txBox="1"/>
          <p:nvPr/>
        </p:nvSpPr>
        <p:spPr>
          <a:xfrm>
            <a:off x="393370" y="411647"/>
            <a:ext cx="2667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Eras Bold ITC" panose="020B0907030504020204" pitchFamily="34" charset="0"/>
              </a:rPr>
              <a:t>FACTOR</a:t>
            </a:r>
          </a:p>
          <a:p>
            <a:r>
              <a:rPr lang="en-US" b="1" dirty="0">
                <a:latin typeface="Eras Bold ITC" panose="020B0907030504020204" pitchFamily="34" charset="0"/>
              </a:rPr>
              <a:t>IMPACT ANALYSIS</a:t>
            </a:r>
            <a:endParaRPr lang="en-US" dirty="0">
              <a:latin typeface="Eras Bold ITC" panose="020B0907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B63614-2FFB-1D22-ABE2-536668A2C694}"/>
              </a:ext>
            </a:extLst>
          </p:cNvPr>
          <p:cNvSpPr/>
          <p:nvPr/>
        </p:nvSpPr>
        <p:spPr>
          <a:xfrm>
            <a:off x="2179715" y="440870"/>
            <a:ext cx="73152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8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323 0.00116 L -0.14948 0.0011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635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0" grpId="0" animBg="1"/>
      <p:bldP spid="21" grpId="0" animBg="1"/>
      <p:bldP spid="22" grpId="0" animBg="1"/>
      <p:bldP spid="5" grpId="0"/>
      <p:bldP spid="18" grpId="0" animBg="1"/>
      <p:bldP spid="18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6F72-17F0-EDC9-C494-AD601AFFC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80FAD3A-1E0C-CC03-E845-A4AB93487E87}"/>
              </a:ext>
            </a:extLst>
          </p:cNvPr>
          <p:cNvGrpSpPr/>
          <p:nvPr/>
        </p:nvGrpSpPr>
        <p:grpSpPr>
          <a:xfrm>
            <a:off x="3956117" y="884888"/>
            <a:ext cx="4999624" cy="646331"/>
            <a:chOff x="3956117" y="1073570"/>
            <a:chExt cx="4999624" cy="646331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18AAB43F-1D20-D78E-EBCB-AB5E5C3D36AB}"/>
                </a:ext>
              </a:extLst>
            </p:cNvPr>
            <p:cNvSpPr/>
            <p:nvPr/>
          </p:nvSpPr>
          <p:spPr>
            <a:xfrm>
              <a:off x="3956117" y="1076738"/>
              <a:ext cx="4999624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66EC68A-C210-87A2-ACA6-20181C70440D}"/>
                </a:ext>
              </a:extLst>
            </p:cNvPr>
            <p:cNvSpPr txBox="1"/>
            <p:nvPr/>
          </p:nvSpPr>
          <p:spPr>
            <a:xfrm>
              <a:off x="4471626" y="1073570"/>
              <a:ext cx="4484115" cy="646331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Patient Rating-Wise Pricing 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594BBD3-DF8F-CF35-3F59-27D26DE84675}"/>
              </a:ext>
            </a:extLst>
          </p:cNvPr>
          <p:cNvGrpSpPr/>
          <p:nvPr/>
        </p:nvGrpSpPr>
        <p:grpSpPr>
          <a:xfrm>
            <a:off x="3754102" y="736259"/>
            <a:ext cx="619453" cy="646331"/>
            <a:chOff x="3754102" y="924941"/>
            <a:chExt cx="619453" cy="646331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64E422F-3B55-CD17-922B-4D7F04654B89}"/>
                </a:ext>
              </a:extLst>
            </p:cNvPr>
            <p:cNvSpPr/>
            <p:nvPr/>
          </p:nvSpPr>
          <p:spPr>
            <a:xfrm>
              <a:off x="3754102" y="980917"/>
              <a:ext cx="619453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2F14FA-EEBF-6368-BD53-CC9DB78868DB}"/>
                </a:ext>
              </a:extLst>
            </p:cNvPr>
            <p:cNvSpPr txBox="1"/>
            <p:nvPr/>
          </p:nvSpPr>
          <p:spPr>
            <a:xfrm>
              <a:off x="3796633" y="924941"/>
              <a:ext cx="256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793F51F-F758-368C-5039-D09B9EE160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422"/>
          <a:stretch>
            <a:fillRect/>
          </a:stretch>
        </p:blipFill>
        <p:spPr>
          <a:xfrm>
            <a:off x="424067" y="1997822"/>
            <a:ext cx="5671933" cy="3935237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34AE77-598C-5417-845E-A3BC85007AE7}"/>
              </a:ext>
            </a:extLst>
          </p:cNvPr>
          <p:cNvSpPr/>
          <p:nvPr/>
        </p:nvSpPr>
        <p:spPr>
          <a:xfrm rot="414706">
            <a:off x="1292378" y="4420601"/>
            <a:ext cx="4266939" cy="257934"/>
          </a:xfrm>
          <a:custGeom>
            <a:avLst/>
            <a:gdLst>
              <a:gd name="csX0" fmla="*/ 0 w 3404743"/>
              <a:gd name="csY0" fmla="*/ 188173 h 188173"/>
              <a:gd name="csX1" fmla="*/ 3404743 w 3404743"/>
              <a:gd name="csY1" fmla="*/ 0 h 1881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04743" h="188173">
                <a:moveTo>
                  <a:pt x="0" y="188173"/>
                </a:moveTo>
                <a:lnTo>
                  <a:pt x="3404743" y="0"/>
                </a:lnTo>
              </a:path>
            </a:pathLst>
          </a:custGeom>
          <a:noFill/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E589A0-9C86-996F-5FEE-4B6FD45BB2BE}"/>
              </a:ext>
            </a:extLst>
          </p:cNvPr>
          <p:cNvSpPr/>
          <p:nvPr/>
        </p:nvSpPr>
        <p:spPr>
          <a:xfrm>
            <a:off x="4760633" y="4493164"/>
            <a:ext cx="829831" cy="447913"/>
          </a:xfrm>
          <a:prstGeom prst="roundRect">
            <a:avLst>
              <a:gd name="adj" fmla="val 15477"/>
            </a:avLst>
          </a:prstGeom>
          <a:solidFill>
            <a:schemeClr val="accent4">
              <a:lumMod val="20000"/>
              <a:lumOff val="80000"/>
              <a:alpha val="5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38322F-93DF-A5F3-40E8-7AACDC3F2D38}"/>
              </a:ext>
            </a:extLst>
          </p:cNvPr>
          <p:cNvSpPr/>
          <p:nvPr/>
        </p:nvSpPr>
        <p:spPr>
          <a:xfrm rot="18083671">
            <a:off x="4585374" y="2706445"/>
            <a:ext cx="1424686" cy="878777"/>
          </a:xfrm>
          <a:prstGeom prst="ellipse">
            <a:avLst/>
          </a:prstGeom>
          <a:solidFill>
            <a:schemeClr val="accent2">
              <a:lumMod val="20000"/>
              <a:lumOff val="80000"/>
              <a:alpha val="31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264FF-0629-A0EA-9437-7C406C1894F2}"/>
              </a:ext>
            </a:extLst>
          </p:cNvPr>
          <p:cNvGrpSpPr/>
          <p:nvPr/>
        </p:nvGrpSpPr>
        <p:grpSpPr>
          <a:xfrm>
            <a:off x="6670521" y="1882007"/>
            <a:ext cx="2838955" cy="1660572"/>
            <a:chOff x="6670521" y="2032839"/>
            <a:chExt cx="2838955" cy="166057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543FF08-44CA-C706-4C49-05970CE4AFB5}"/>
                </a:ext>
              </a:extLst>
            </p:cNvPr>
            <p:cNvSpPr txBox="1"/>
            <p:nvPr/>
          </p:nvSpPr>
          <p:spPr>
            <a:xfrm>
              <a:off x="7044144" y="2246861"/>
              <a:ext cx="246533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The regression line shows </a:t>
              </a:r>
              <a:r>
                <a:rPr lang="en-US" sz="1100" b="1" i="1" dirty="0"/>
                <a:t>a slight negative relationship between patient ratings and consultation fees</a:t>
              </a:r>
              <a:r>
                <a:rPr lang="en-US" sz="1100" i="1" dirty="0"/>
                <a:t>. So, changes in one variable do not strongly influence or predict changes in the other variable.</a:t>
              </a:r>
            </a:p>
            <a:p>
              <a:r>
                <a:rPr lang="en-US" sz="1100" b="1" i="1" dirty="0"/>
                <a:t>Correlation: -0.133 </a:t>
              </a:r>
              <a:r>
                <a:rPr lang="en-US" sz="1100" i="1" dirty="0"/>
                <a:t>— weak negative association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3D829A-96DD-23EA-FA43-9FA1386A2025}"/>
                </a:ext>
              </a:extLst>
            </p:cNvPr>
            <p:cNvSpPr txBox="1"/>
            <p:nvPr/>
          </p:nvSpPr>
          <p:spPr>
            <a:xfrm>
              <a:off x="6670521" y="2032839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5119D3-786E-D030-5C83-46A7E3A6EEC4}"/>
              </a:ext>
            </a:extLst>
          </p:cNvPr>
          <p:cNvGrpSpPr/>
          <p:nvPr/>
        </p:nvGrpSpPr>
        <p:grpSpPr>
          <a:xfrm>
            <a:off x="6937304" y="4527219"/>
            <a:ext cx="2763407" cy="1322018"/>
            <a:chOff x="6937304" y="4527219"/>
            <a:chExt cx="2763407" cy="132201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425C398-9CE2-4A1F-A180-240CB7C71D45}"/>
                </a:ext>
              </a:extLst>
            </p:cNvPr>
            <p:cNvSpPr txBox="1"/>
            <p:nvPr/>
          </p:nvSpPr>
          <p:spPr>
            <a:xfrm>
              <a:off x="7310927" y="4741241"/>
              <a:ext cx="238978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/>
                <a:t>Most doctors</a:t>
              </a:r>
              <a:r>
                <a:rPr lang="en-US" sz="1100" i="1" dirty="0"/>
                <a:t> cluster in the high-rating range </a:t>
              </a:r>
              <a:r>
                <a:rPr lang="en-US" sz="1100" b="1" i="1" dirty="0"/>
                <a:t>(80–100%) </a:t>
              </a:r>
              <a:r>
                <a:rPr lang="en-US" sz="1100" i="1" dirty="0"/>
                <a:t>with consultation fees concentrated between </a:t>
              </a:r>
              <a:r>
                <a:rPr lang="en-US" sz="1100" b="1" i="1" dirty="0"/>
                <a:t>₹400 and ₹1200, </a:t>
              </a:r>
              <a:r>
                <a:rPr lang="en-US" sz="1100" i="1" dirty="0"/>
                <a:t>indicating that higher patient ratings do not necessarily correspond to higher consultation fees.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FF87A8-C7BA-583F-4E9E-A6F9ECEE7D6E}"/>
                </a:ext>
              </a:extLst>
            </p:cNvPr>
            <p:cNvSpPr txBox="1"/>
            <p:nvPr/>
          </p:nvSpPr>
          <p:spPr>
            <a:xfrm>
              <a:off x="6937304" y="4527219"/>
              <a:ext cx="2306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53A239-02A8-D575-5FE8-7E64434E0980}"/>
              </a:ext>
            </a:extLst>
          </p:cNvPr>
          <p:cNvGrpSpPr/>
          <p:nvPr/>
        </p:nvGrpSpPr>
        <p:grpSpPr>
          <a:xfrm>
            <a:off x="8270627" y="3454469"/>
            <a:ext cx="2768421" cy="992660"/>
            <a:chOff x="8270627" y="3454469"/>
            <a:chExt cx="2768421" cy="99266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AA24810-DAB6-310F-B798-F5B1AE920DD4}"/>
                </a:ext>
              </a:extLst>
            </p:cNvPr>
            <p:cNvSpPr txBox="1"/>
            <p:nvPr/>
          </p:nvSpPr>
          <p:spPr>
            <a:xfrm>
              <a:off x="8695688" y="3677688"/>
              <a:ext cx="234336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i="1" dirty="0"/>
                <a:t>A </a:t>
              </a:r>
              <a:r>
                <a:rPr lang="en-US" sz="1100" b="1" i="1" dirty="0"/>
                <a:t>few high-fee outliers indicate that some doctors charge </a:t>
              </a:r>
              <a:r>
                <a:rPr lang="en-US" sz="1100" i="1" dirty="0"/>
                <a:t>significantly above the common consultation range.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D9B3D91-22FB-C3C3-1161-477F34702C37}"/>
                </a:ext>
              </a:extLst>
            </p:cNvPr>
            <p:cNvSpPr txBox="1"/>
            <p:nvPr/>
          </p:nvSpPr>
          <p:spPr>
            <a:xfrm>
              <a:off x="8270627" y="3454469"/>
              <a:ext cx="2718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5E7AF2-C5B0-7433-3D1A-8A09E2B85609}"/>
              </a:ext>
            </a:extLst>
          </p:cNvPr>
          <p:cNvSpPr/>
          <p:nvPr/>
        </p:nvSpPr>
        <p:spPr>
          <a:xfrm>
            <a:off x="5391978" y="3269974"/>
            <a:ext cx="2875921" cy="502524"/>
          </a:xfrm>
          <a:custGeom>
            <a:avLst/>
            <a:gdLst>
              <a:gd name="csX0" fmla="*/ 0 w 2875921"/>
              <a:gd name="csY0" fmla="*/ 0 h 502524"/>
              <a:gd name="csX1" fmla="*/ 2875921 w 2875921"/>
              <a:gd name="csY1" fmla="*/ 502524 h 502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75921" h="502524">
                <a:moveTo>
                  <a:pt x="0" y="0"/>
                </a:moveTo>
                <a:lnTo>
                  <a:pt x="2875921" y="502524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32C3EC-B238-D0A4-C656-37119D8A8279}"/>
              </a:ext>
            </a:extLst>
          </p:cNvPr>
          <p:cNvSpPr/>
          <p:nvPr/>
        </p:nvSpPr>
        <p:spPr>
          <a:xfrm>
            <a:off x="2775397" y="2298879"/>
            <a:ext cx="3921617" cy="2195848"/>
          </a:xfrm>
          <a:custGeom>
            <a:avLst/>
            <a:gdLst>
              <a:gd name="csX0" fmla="*/ 0 w 3921617"/>
              <a:gd name="csY0" fmla="*/ 2195848 h 2195848"/>
              <a:gd name="csX1" fmla="*/ 2627290 w 3921617"/>
              <a:gd name="csY1" fmla="*/ 0 h 2195848"/>
              <a:gd name="csX2" fmla="*/ 3921617 w 3921617"/>
              <a:gd name="csY2" fmla="*/ 25758 h 2195848"/>
              <a:gd name="csX3" fmla="*/ 3921617 w 3921617"/>
              <a:gd name="csY3" fmla="*/ 25758 h 21958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21617" h="2195848">
                <a:moveTo>
                  <a:pt x="0" y="2195848"/>
                </a:moveTo>
                <a:lnTo>
                  <a:pt x="2627290" y="0"/>
                </a:lnTo>
                <a:lnTo>
                  <a:pt x="3921617" y="25758"/>
                </a:lnTo>
                <a:lnTo>
                  <a:pt x="3921617" y="25758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967B839-78F3-8D7C-9FE7-E0CF54C02940}"/>
              </a:ext>
            </a:extLst>
          </p:cNvPr>
          <p:cNvSpPr/>
          <p:nvPr/>
        </p:nvSpPr>
        <p:spPr>
          <a:xfrm rot="20683784">
            <a:off x="5479546" y="4585931"/>
            <a:ext cx="1463040" cy="502524"/>
          </a:xfrm>
          <a:custGeom>
            <a:avLst/>
            <a:gdLst>
              <a:gd name="csX0" fmla="*/ 0 w 2875921"/>
              <a:gd name="csY0" fmla="*/ 0 h 502524"/>
              <a:gd name="csX1" fmla="*/ 2875921 w 2875921"/>
              <a:gd name="csY1" fmla="*/ 502524 h 5025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875921" h="502524">
                <a:moveTo>
                  <a:pt x="0" y="0"/>
                </a:moveTo>
                <a:lnTo>
                  <a:pt x="2875921" y="502524"/>
                </a:lnTo>
              </a:path>
            </a:pathLst>
          </a:custGeom>
          <a:noFill/>
          <a:ln>
            <a:solidFill>
              <a:schemeClr val="tx1"/>
            </a:solidFill>
            <a:prstDash val="sysDash"/>
            <a:headEnd type="oval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77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D5355-3F42-75E5-04B9-2D228B270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7DB6D5-04E6-593B-93E3-6DEA3C4725F1}"/>
              </a:ext>
            </a:extLst>
          </p:cNvPr>
          <p:cNvSpPr txBox="1"/>
          <p:nvPr/>
        </p:nvSpPr>
        <p:spPr>
          <a:xfrm>
            <a:off x="3724027" y="873451"/>
            <a:ext cx="5052420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r>
              <a:rPr lang="en-US" sz="2300" b="1" dirty="0"/>
              <a:t>Correlation Analysis Between Variables</a:t>
            </a:r>
            <a:endParaRPr lang="en-US" sz="2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5441CE-95E5-9EB4-EBD3-6EEBE6E6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20"/>
          <a:stretch>
            <a:fillRect/>
          </a:stretch>
        </p:blipFill>
        <p:spPr>
          <a:xfrm>
            <a:off x="5691172" y="2103248"/>
            <a:ext cx="5052420" cy="3902088"/>
          </a:xfrm>
          <a:prstGeom prst="rect">
            <a:avLst/>
          </a:prstGeom>
          <a:ln w="3175">
            <a:solidFill>
              <a:schemeClr val="tx1"/>
            </a:solidFill>
            <a:prstDash val="lgDash"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243223-320F-EE4A-EC46-87B7C8EAC9F7}"/>
              </a:ext>
            </a:extLst>
          </p:cNvPr>
          <p:cNvSpPr txBox="1"/>
          <p:nvPr/>
        </p:nvSpPr>
        <p:spPr>
          <a:xfrm>
            <a:off x="957130" y="4275391"/>
            <a:ext cx="38031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/>
              <a:t>Experience</a:t>
            </a:r>
            <a:r>
              <a:rPr lang="en-US" sz="1100" i="1" dirty="0"/>
              <a:t> and </a:t>
            </a:r>
            <a:r>
              <a:rPr lang="en-US" sz="1100" b="1" i="1" dirty="0"/>
              <a:t>patient</a:t>
            </a:r>
            <a:r>
              <a:rPr lang="en-US" sz="1100" i="1" dirty="0"/>
              <a:t> </a:t>
            </a:r>
            <a:r>
              <a:rPr lang="en-US" sz="1100" b="1" i="1" dirty="0"/>
              <a:t>ratings</a:t>
            </a:r>
            <a:r>
              <a:rPr lang="en-US" sz="1100" i="1" dirty="0"/>
              <a:t> </a:t>
            </a:r>
            <a:r>
              <a:rPr lang="en-US" sz="1100" b="1" i="1" dirty="0"/>
              <a:t>show weak associations with consultation fees</a:t>
            </a:r>
            <a:r>
              <a:rPr lang="en-US" sz="1100" i="1" dirty="0"/>
              <a:t>, while city and specialization exhibit stronger pricing differences in the analysis.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6172D2-739E-CCA8-8A72-89BE9868F6DD}"/>
              </a:ext>
            </a:extLst>
          </p:cNvPr>
          <p:cNvSpPr txBox="1"/>
          <p:nvPr/>
        </p:nvSpPr>
        <p:spPr>
          <a:xfrm>
            <a:off x="1381349" y="4660112"/>
            <a:ext cx="230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solidFill>
                <a:schemeClr val="bg2">
                  <a:lumMod val="90000"/>
                </a:schemeClr>
              </a:solidFill>
              <a:latin typeface="Eras Bold ITC" panose="020B0907030504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DFF875F-6C64-CAD8-5DD8-D5F348402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902" y="2762834"/>
            <a:ext cx="4493471" cy="1123367"/>
          </a:xfrm>
          <a:prstGeom prst="rect">
            <a:avLst/>
          </a:prstGeom>
          <a:ln>
            <a:solidFill>
              <a:schemeClr val="tx1"/>
            </a:solidFill>
            <a:prstDash val="lgDashDot"/>
          </a:ln>
        </p:spPr>
      </p:pic>
    </p:spTree>
    <p:extLst>
      <p:ext uri="{BB962C8B-B14F-4D97-AF65-F5344CB8AC3E}">
        <p14:creationId xmlns:p14="http://schemas.microsoft.com/office/powerpoint/2010/main" val="293399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14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5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41E2E-BDC6-D1D9-D89A-950DD37BF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83F4217-42A9-AAF5-6349-3BF29F04816D}"/>
              </a:ext>
            </a:extLst>
          </p:cNvPr>
          <p:cNvSpPr txBox="1"/>
          <p:nvPr/>
        </p:nvSpPr>
        <p:spPr>
          <a:xfrm>
            <a:off x="393370" y="411647"/>
            <a:ext cx="3235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Eras Bold ITC" panose="020B0907030504020204" pitchFamily="34" charset="0"/>
              </a:rPr>
              <a:t>MULTIFACTOR </a:t>
            </a:r>
          </a:p>
          <a:p>
            <a:r>
              <a:rPr lang="en-US" b="1" dirty="0">
                <a:latin typeface="Eras Bold ITC" panose="020B0907030504020204" pitchFamily="34" charset="0"/>
              </a:rPr>
              <a:t>COMPARATIVE ANALYSIS</a:t>
            </a:r>
            <a:endParaRPr lang="en-US" dirty="0">
              <a:latin typeface="Eras Bold ITC" panose="020B0907030504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A7EDCFD-756D-8F36-B639-68CB0F3F2D40}"/>
              </a:ext>
            </a:extLst>
          </p:cNvPr>
          <p:cNvGrpSpPr/>
          <p:nvPr/>
        </p:nvGrpSpPr>
        <p:grpSpPr>
          <a:xfrm>
            <a:off x="3263462" y="1360440"/>
            <a:ext cx="5867091" cy="372500"/>
            <a:chOff x="3263462" y="1360440"/>
            <a:chExt cx="5867091" cy="3725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232C414-CBFA-5A4C-33C5-656440C1366B}"/>
                </a:ext>
              </a:extLst>
            </p:cNvPr>
            <p:cNvSpPr/>
            <p:nvPr/>
          </p:nvSpPr>
          <p:spPr>
            <a:xfrm>
              <a:off x="3263462" y="1363608"/>
              <a:ext cx="5867091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DA184C4-49CA-8FF0-CD1D-8C920470706D}"/>
                </a:ext>
              </a:extLst>
            </p:cNvPr>
            <p:cNvSpPr txBox="1"/>
            <p:nvPr/>
          </p:nvSpPr>
          <p:spPr>
            <a:xfrm>
              <a:off x="3770006" y="1360440"/>
              <a:ext cx="5360547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City and Specialization-Wise Pricing Analysis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9926BF9-B221-7DA3-11F6-4C3FCB9C3529}"/>
              </a:ext>
            </a:extLst>
          </p:cNvPr>
          <p:cNvGrpSpPr/>
          <p:nvPr/>
        </p:nvGrpSpPr>
        <p:grpSpPr>
          <a:xfrm>
            <a:off x="3061447" y="1211811"/>
            <a:ext cx="619453" cy="646331"/>
            <a:chOff x="3061447" y="1211811"/>
            <a:chExt cx="619453" cy="64633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27CE525-EB9F-D656-D811-FD667D3D0A0F}"/>
                </a:ext>
              </a:extLst>
            </p:cNvPr>
            <p:cNvSpPr/>
            <p:nvPr/>
          </p:nvSpPr>
          <p:spPr>
            <a:xfrm>
              <a:off x="3061447" y="1267787"/>
              <a:ext cx="619453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90D6BA-80A2-0D47-2575-869E858ED9A9}"/>
                </a:ext>
              </a:extLst>
            </p:cNvPr>
            <p:cNvSpPr txBox="1"/>
            <p:nvPr/>
          </p:nvSpPr>
          <p:spPr>
            <a:xfrm>
              <a:off x="3103978" y="1211811"/>
              <a:ext cx="256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1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BD76FC1-69B8-311A-928E-F83E75752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662" y="2445699"/>
            <a:ext cx="6937014" cy="3576366"/>
          </a:xfrm>
          <a:prstGeom prst="rect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6AED305-5EF5-E4AB-ADA3-7E2CD2FA40A0}"/>
              </a:ext>
            </a:extLst>
          </p:cNvPr>
          <p:cNvGrpSpPr/>
          <p:nvPr/>
        </p:nvGrpSpPr>
        <p:grpSpPr>
          <a:xfrm>
            <a:off x="459558" y="2109438"/>
            <a:ext cx="3845742" cy="1022079"/>
            <a:chOff x="459558" y="2109438"/>
            <a:chExt cx="3845742" cy="1022079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F811E33-2F66-1594-DDD0-349F71A10A7E}"/>
                </a:ext>
              </a:extLst>
            </p:cNvPr>
            <p:cNvSpPr txBox="1"/>
            <p:nvPr/>
          </p:nvSpPr>
          <p:spPr>
            <a:xfrm>
              <a:off x="763150" y="2192798"/>
              <a:ext cx="354215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Significant Pricing Variation Across Cities</a:t>
              </a:r>
            </a:p>
            <a:p>
              <a:r>
                <a:rPr lang="en-US" sz="1100" i="1" dirty="0"/>
                <a:t>The heatmap shows that the same medical specialization charges different consultation fees in different cities, indicating strong regional pricing differences in urban healthcare markets.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94C0749-319C-7933-3580-94A04A609859}"/>
                </a:ext>
              </a:extLst>
            </p:cNvPr>
            <p:cNvSpPr txBox="1"/>
            <p:nvPr/>
          </p:nvSpPr>
          <p:spPr>
            <a:xfrm>
              <a:off x="459558" y="210943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C3A2A7-C057-C623-ED92-BFA60F9ED546}"/>
              </a:ext>
            </a:extLst>
          </p:cNvPr>
          <p:cNvGrpSpPr/>
          <p:nvPr/>
        </p:nvGrpSpPr>
        <p:grpSpPr>
          <a:xfrm>
            <a:off x="459558" y="3109835"/>
            <a:ext cx="3696806" cy="1089326"/>
            <a:chOff x="459558" y="3085108"/>
            <a:chExt cx="3696806" cy="108932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19B1755-6990-A79A-3797-5A94A956835A}"/>
                </a:ext>
              </a:extLst>
            </p:cNvPr>
            <p:cNvSpPr txBox="1"/>
            <p:nvPr/>
          </p:nvSpPr>
          <p:spPr>
            <a:xfrm>
              <a:off x="763149" y="3235715"/>
              <a:ext cx="3393215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Certain Cities Act as Premium Healthcare Markets</a:t>
              </a:r>
              <a:br>
                <a:rPr lang="en-US" sz="1100" i="1" dirty="0"/>
              </a:br>
              <a:r>
                <a:rPr lang="en-US" sz="1100" i="1" dirty="0"/>
                <a:t>Cities such as Mumbai, Delhi, and Kolkata consistently display higher consultation fees across multiple specializations, indicating higher-priced urban healthcare markets.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B1C679A-BFBF-A9AC-4572-6089CAB3B4B1}"/>
                </a:ext>
              </a:extLst>
            </p:cNvPr>
            <p:cNvSpPr txBox="1"/>
            <p:nvPr/>
          </p:nvSpPr>
          <p:spPr>
            <a:xfrm>
              <a:off x="459558" y="308510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C78021C-D57E-2356-5356-7F6BA637D5A3}"/>
              </a:ext>
            </a:extLst>
          </p:cNvPr>
          <p:cNvGrpSpPr/>
          <p:nvPr/>
        </p:nvGrpSpPr>
        <p:grpSpPr>
          <a:xfrm>
            <a:off x="459558" y="4177479"/>
            <a:ext cx="3845742" cy="922202"/>
            <a:chOff x="459558" y="4114800"/>
            <a:chExt cx="3845742" cy="922202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CF43F35-590D-6FCB-F702-54488906634B}"/>
                </a:ext>
              </a:extLst>
            </p:cNvPr>
            <p:cNvSpPr txBox="1"/>
            <p:nvPr/>
          </p:nvSpPr>
          <p:spPr>
            <a:xfrm>
              <a:off x="763150" y="4267561"/>
              <a:ext cx="354215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i="1" dirty="0"/>
                <a:t> </a:t>
              </a:r>
              <a:r>
                <a:rPr lang="en-US" sz="1100" b="1" i="1" dirty="0"/>
                <a:t>Specialization Pricing Is Not Uniform Nationwide</a:t>
              </a:r>
            </a:p>
            <a:p>
              <a:r>
                <a:rPr lang="en-US" sz="1100" i="1" dirty="0"/>
                <a:t>For the same specialization (e.g., Cardiologist), consultation fees vary across cities, highlighting substantial city-level differences in pricing.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DD62BE6-AF14-4E3F-A78C-8D7B8F4225C6}"/>
                </a:ext>
              </a:extLst>
            </p:cNvPr>
            <p:cNvSpPr txBox="1"/>
            <p:nvPr/>
          </p:nvSpPr>
          <p:spPr>
            <a:xfrm>
              <a:off x="459558" y="4114800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A1969F6-7FAB-C108-6972-089EE3360A9F}"/>
              </a:ext>
            </a:extLst>
          </p:cNvPr>
          <p:cNvGrpSpPr/>
          <p:nvPr/>
        </p:nvGrpSpPr>
        <p:grpSpPr>
          <a:xfrm>
            <a:off x="459558" y="5077998"/>
            <a:ext cx="3542374" cy="874289"/>
            <a:chOff x="459558" y="5077998"/>
            <a:chExt cx="3542374" cy="874289"/>
          </a:xfrm>
        </p:grpSpPr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478484B-F65A-E713-1B54-9115140428D8}"/>
                </a:ext>
              </a:extLst>
            </p:cNvPr>
            <p:cNvSpPr txBox="1"/>
            <p:nvPr/>
          </p:nvSpPr>
          <p:spPr>
            <a:xfrm>
              <a:off x="763149" y="5182846"/>
              <a:ext cx="32387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Premium Healthcare Clusters Exist</a:t>
              </a:r>
              <a:br>
                <a:rPr lang="en-US" sz="1100" i="1" dirty="0"/>
              </a:br>
              <a:r>
                <a:rPr lang="en-US" sz="1100" i="1" dirty="0"/>
                <a:t>The heatmap reveals city–specialization combinations with substantially higher consultation fees, highlighting localized pricing differences.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5008E85-3254-E2F7-32FF-298B70A9BC9B}"/>
                </a:ext>
              </a:extLst>
            </p:cNvPr>
            <p:cNvSpPr txBox="1"/>
            <p:nvPr/>
          </p:nvSpPr>
          <p:spPr>
            <a:xfrm>
              <a:off x="459558" y="507799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1509D57-1C4F-9CC5-2A29-88AADE3441AE}"/>
              </a:ext>
            </a:extLst>
          </p:cNvPr>
          <p:cNvSpPr/>
          <p:nvPr/>
        </p:nvSpPr>
        <p:spPr>
          <a:xfrm>
            <a:off x="2179715" y="440870"/>
            <a:ext cx="73152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14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018 -0.00486 L -0.14948 0.0011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90" y="301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C413B-8C4C-8DA8-F8B6-C7102EFB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56EA71B-5B6A-8F21-CDB7-5402A68A75E5}"/>
              </a:ext>
            </a:extLst>
          </p:cNvPr>
          <p:cNvGrpSpPr/>
          <p:nvPr/>
        </p:nvGrpSpPr>
        <p:grpSpPr>
          <a:xfrm>
            <a:off x="3803586" y="997266"/>
            <a:ext cx="4786844" cy="372500"/>
            <a:chOff x="3803586" y="1444524"/>
            <a:chExt cx="4786844" cy="3725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21BB504-0A43-096A-4304-BB3B1E570F38}"/>
                </a:ext>
              </a:extLst>
            </p:cNvPr>
            <p:cNvSpPr/>
            <p:nvPr/>
          </p:nvSpPr>
          <p:spPr>
            <a:xfrm>
              <a:off x="3803586" y="1447692"/>
              <a:ext cx="4706162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8E260A0-E30D-29F5-4D2D-E20102334D23}"/>
                </a:ext>
              </a:extLst>
            </p:cNvPr>
            <p:cNvSpPr txBox="1"/>
            <p:nvPr/>
          </p:nvSpPr>
          <p:spPr>
            <a:xfrm>
              <a:off x="4310130" y="1444524"/>
              <a:ext cx="428030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Premium Segment Pricing Analysis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CC39D86-42DC-9DD3-1748-265AD8F09F5C}"/>
              </a:ext>
            </a:extLst>
          </p:cNvPr>
          <p:cNvGrpSpPr/>
          <p:nvPr/>
        </p:nvGrpSpPr>
        <p:grpSpPr>
          <a:xfrm>
            <a:off x="3601570" y="848637"/>
            <a:ext cx="619453" cy="646331"/>
            <a:chOff x="3601570" y="1295895"/>
            <a:chExt cx="619453" cy="64633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CC141FC-370A-8AB4-10FB-1EC0E5DF0841}"/>
                </a:ext>
              </a:extLst>
            </p:cNvPr>
            <p:cNvSpPr/>
            <p:nvPr/>
          </p:nvSpPr>
          <p:spPr>
            <a:xfrm>
              <a:off x="3601570" y="1351871"/>
              <a:ext cx="619453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48E030-2EA8-96C3-97EC-B2C61CB7561D}"/>
                </a:ext>
              </a:extLst>
            </p:cNvPr>
            <p:cNvSpPr txBox="1"/>
            <p:nvPr/>
          </p:nvSpPr>
          <p:spPr>
            <a:xfrm>
              <a:off x="3644101" y="1295895"/>
              <a:ext cx="256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C08E79E-B687-A697-34F6-F1949A738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9" y="2625421"/>
            <a:ext cx="5848875" cy="28714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6B11DB8-14DD-3DD3-C716-2934D23E6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86" y="2625421"/>
            <a:ext cx="5971665" cy="287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22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390D7-D2AA-0AD9-738E-123480D8D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36F2BF0-C371-C0D0-E1BD-44BDEF09E476}"/>
              </a:ext>
            </a:extLst>
          </p:cNvPr>
          <p:cNvGrpSpPr/>
          <p:nvPr/>
        </p:nvGrpSpPr>
        <p:grpSpPr>
          <a:xfrm>
            <a:off x="3601570" y="838696"/>
            <a:ext cx="4988860" cy="646331"/>
            <a:chOff x="3061447" y="1211811"/>
            <a:chExt cx="4988860" cy="64633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777C33B-2F94-B181-BFB9-025294D1E783}"/>
                </a:ext>
              </a:extLst>
            </p:cNvPr>
            <p:cNvSpPr/>
            <p:nvPr/>
          </p:nvSpPr>
          <p:spPr>
            <a:xfrm>
              <a:off x="3263463" y="1363608"/>
              <a:ext cx="4706162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EFA627-B76A-CFCB-6D49-3551516919C4}"/>
                </a:ext>
              </a:extLst>
            </p:cNvPr>
            <p:cNvSpPr txBox="1"/>
            <p:nvPr/>
          </p:nvSpPr>
          <p:spPr>
            <a:xfrm>
              <a:off x="3770007" y="1360440"/>
              <a:ext cx="428030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Premium Segment Pricing Analysis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899599-5479-6F40-D658-9C01C578492E}"/>
                </a:ext>
              </a:extLst>
            </p:cNvPr>
            <p:cNvSpPr/>
            <p:nvPr/>
          </p:nvSpPr>
          <p:spPr>
            <a:xfrm>
              <a:off x="3061447" y="1267787"/>
              <a:ext cx="619453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096A51F-93A3-8151-124B-0DA07F1B1708}"/>
                </a:ext>
              </a:extLst>
            </p:cNvPr>
            <p:cNvSpPr txBox="1"/>
            <p:nvPr/>
          </p:nvSpPr>
          <p:spPr>
            <a:xfrm>
              <a:off x="3103978" y="1211811"/>
              <a:ext cx="256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2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A04FA06-EACE-34E5-D1CA-8B2587181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831" y="2294996"/>
            <a:ext cx="6429985" cy="363111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02AB131-AC58-0ECD-39D4-013A0EDD3486}"/>
              </a:ext>
            </a:extLst>
          </p:cNvPr>
          <p:cNvGrpSpPr/>
          <p:nvPr/>
        </p:nvGrpSpPr>
        <p:grpSpPr>
          <a:xfrm>
            <a:off x="459558" y="2109438"/>
            <a:ext cx="3845742" cy="852801"/>
            <a:chOff x="459558" y="2109438"/>
            <a:chExt cx="3845742" cy="85280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EE3F31-F43E-8FE4-F008-86A75E69015B}"/>
                </a:ext>
              </a:extLst>
            </p:cNvPr>
            <p:cNvSpPr txBox="1"/>
            <p:nvPr/>
          </p:nvSpPr>
          <p:spPr>
            <a:xfrm>
              <a:off x="763150" y="2192798"/>
              <a:ext cx="354215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Premium Healthcare Market Concentration</a:t>
              </a:r>
              <a:endParaRPr lang="en-US" sz="1100" i="1" dirty="0"/>
            </a:p>
            <a:p>
              <a:r>
                <a:rPr lang="en-US" sz="1100" i="1" dirty="0"/>
                <a:t>The premium segment includes doctors with consultation fees at or above the 75th-percentile threshold of ₹1,000.</a:t>
              </a:r>
            </a:p>
            <a:p>
              <a:r>
                <a:rPr lang="en-US" sz="1100" i="1" dirty="0"/>
                <a:t>365 doctors (33.8%) fall into this segment.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854C5B-341A-0456-F734-B81CABB87E57}"/>
                </a:ext>
              </a:extLst>
            </p:cNvPr>
            <p:cNvSpPr txBox="1"/>
            <p:nvPr/>
          </p:nvSpPr>
          <p:spPr>
            <a:xfrm>
              <a:off x="459558" y="210943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25BE85-CC99-83DB-5148-EE6B83BCD7C8}"/>
              </a:ext>
            </a:extLst>
          </p:cNvPr>
          <p:cNvGrpSpPr/>
          <p:nvPr/>
        </p:nvGrpSpPr>
        <p:grpSpPr>
          <a:xfrm>
            <a:off x="459558" y="2948306"/>
            <a:ext cx="3696806" cy="1089326"/>
            <a:chOff x="459558" y="3085108"/>
            <a:chExt cx="3696806" cy="10893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1AC9DCC-C3DE-32C0-317F-C929728C0D69}"/>
                </a:ext>
              </a:extLst>
            </p:cNvPr>
            <p:cNvSpPr txBox="1"/>
            <p:nvPr/>
          </p:nvSpPr>
          <p:spPr>
            <a:xfrm>
              <a:off x="763149" y="3235715"/>
              <a:ext cx="3393215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Premium Doctors Are Concentrated in Major Cities</a:t>
              </a:r>
              <a:endParaRPr lang="en-US" sz="1100" i="1" dirty="0"/>
            </a:p>
            <a:p>
              <a:r>
                <a:rPr lang="en-US" sz="1100" i="1" dirty="0"/>
                <a:t>Analysis shows that premium consultation providers are largely concentrated in major metropolitan cities such as Mumbai, Delhi, and Kolkata, indicating higher-priced healthcare markets in these cities.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946DEAD-4CC1-88F7-753E-CA5ADBBC12E8}"/>
                </a:ext>
              </a:extLst>
            </p:cNvPr>
            <p:cNvSpPr txBox="1"/>
            <p:nvPr/>
          </p:nvSpPr>
          <p:spPr>
            <a:xfrm>
              <a:off x="459558" y="308510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932F199-42B1-F476-2175-C1E7E65CA44B}"/>
              </a:ext>
            </a:extLst>
          </p:cNvPr>
          <p:cNvGrpSpPr/>
          <p:nvPr/>
        </p:nvGrpSpPr>
        <p:grpSpPr>
          <a:xfrm>
            <a:off x="459558" y="4023699"/>
            <a:ext cx="3845742" cy="1068233"/>
            <a:chOff x="459558" y="4114800"/>
            <a:chExt cx="3845742" cy="106823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9C7DA14-AEA6-D8AF-44B3-151D502D5A18}"/>
                </a:ext>
              </a:extLst>
            </p:cNvPr>
            <p:cNvSpPr txBox="1"/>
            <p:nvPr/>
          </p:nvSpPr>
          <p:spPr>
            <a:xfrm>
              <a:off x="763150" y="4244314"/>
              <a:ext cx="354215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Certain Specializations Dominate the Premium Segment</a:t>
              </a:r>
              <a:endParaRPr lang="en-US" sz="1100" i="1" dirty="0"/>
            </a:p>
            <a:p>
              <a:r>
                <a:rPr lang="en-US" sz="1100" i="1" dirty="0"/>
                <a:t>Specializations such as Cardiology, Neurology, and General Physicians appear more frequently in the premium segment, indicating that highly specialized medical services tend to command higher consultation fees.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38DF49-4636-B071-F495-01389FBE16C7}"/>
                </a:ext>
              </a:extLst>
            </p:cNvPr>
            <p:cNvSpPr txBox="1"/>
            <p:nvPr/>
          </p:nvSpPr>
          <p:spPr>
            <a:xfrm>
              <a:off x="459558" y="4114800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4E73B-B130-7074-D319-A6C7548D1A30}"/>
              </a:ext>
            </a:extLst>
          </p:cNvPr>
          <p:cNvGrpSpPr/>
          <p:nvPr/>
        </p:nvGrpSpPr>
        <p:grpSpPr>
          <a:xfrm>
            <a:off x="459558" y="5077998"/>
            <a:ext cx="3542374" cy="1043567"/>
            <a:chOff x="459558" y="5077998"/>
            <a:chExt cx="3542374" cy="104356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457EC75-1078-995F-BD59-D67872C0BC29}"/>
                </a:ext>
              </a:extLst>
            </p:cNvPr>
            <p:cNvSpPr txBox="1"/>
            <p:nvPr/>
          </p:nvSpPr>
          <p:spPr>
            <a:xfrm>
              <a:off x="763149" y="5182846"/>
              <a:ext cx="3238783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 Urban Premium Healthcare Clusters Exist</a:t>
              </a:r>
              <a:endParaRPr lang="en-US" sz="1100" i="1" dirty="0"/>
            </a:p>
            <a:p>
              <a:r>
                <a:rPr lang="en-US" sz="1100" i="1" dirty="0"/>
                <a:t>The distribution of premium doctors across cities and specializations reveals clear urban healthcare clusters, where certain cities and specialties dominate the high-fee segment.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55959BA-74CF-67DD-8248-A72CD7993861}"/>
                </a:ext>
              </a:extLst>
            </p:cNvPr>
            <p:cNvSpPr txBox="1"/>
            <p:nvPr/>
          </p:nvSpPr>
          <p:spPr>
            <a:xfrm>
              <a:off x="459558" y="5077998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446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5D5BF-2AF6-F8EE-4304-41E2F1D2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493F78-E25E-05EC-FA94-8E6848C74924}"/>
              </a:ext>
            </a:extLst>
          </p:cNvPr>
          <p:cNvSpPr txBox="1"/>
          <p:nvPr/>
        </p:nvSpPr>
        <p:spPr>
          <a:xfrm>
            <a:off x="393370" y="411647"/>
            <a:ext cx="2667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Eras Bold ITC" panose="020B0907030504020204" pitchFamily="34" charset="0"/>
              </a:rPr>
              <a:t>MARKET</a:t>
            </a:r>
          </a:p>
          <a:p>
            <a:r>
              <a:rPr lang="en-US" b="1" dirty="0">
                <a:latin typeface="Eras Bold ITC" panose="020B0907030504020204" pitchFamily="34" charset="0"/>
              </a:rPr>
              <a:t>SEGMENTATION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0FFF94-6A7D-158B-3B38-76797064966A}"/>
              </a:ext>
            </a:extLst>
          </p:cNvPr>
          <p:cNvGrpSpPr/>
          <p:nvPr/>
        </p:nvGrpSpPr>
        <p:grpSpPr>
          <a:xfrm>
            <a:off x="3803586" y="966055"/>
            <a:ext cx="4786844" cy="372500"/>
            <a:chOff x="3803586" y="966055"/>
            <a:chExt cx="4786844" cy="37250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6D84BD4-71B7-175D-90C7-256CF84F8612}"/>
                </a:ext>
              </a:extLst>
            </p:cNvPr>
            <p:cNvSpPr/>
            <p:nvPr/>
          </p:nvSpPr>
          <p:spPr>
            <a:xfrm>
              <a:off x="3803586" y="969223"/>
              <a:ext cx="4706162" cy="3693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7A02BF5-D6DE-5148-F62B-90B844FD9D89}"/>
                </a:ext>
              </a:extLst>
            </p:cNvPr>
            <p:cNvSpPr txBox="1"/>
            <p:nvPr/>
          </p:nvSpPr>
          <p:spPr>
            <a:xfrm>
              <a:off x="4310130" y="966055"/>
              <a:ext cx="4280300" cy="369332"/>
            </a:xfrm>
            <a:prstGeom prst="rect">
              <a:avLst/>
            </a:prstGeom>
            <a:no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Eras Bold ITC" panose="020B0907030504020204" pitchFamily="34" charset="0"/>
                </a:rPr>
                <a:t>Market Segment Pricing Analysis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F399837-0D00-D8BB-843E-21D0E2B74CB9}"/>
              </a:ext>
            </a:extLst>
          </p:cNvPr>
          <p:cNvGrpSpPr/>
          <p:nvPr/>
        </p:nvGrpSpPr>
        <p:grpSpPr>
          <a:xfrm>
            <a:off x="3601570" y="817426"/>
            <a:ext cx="619453" cy="646331"/>
            <a:chOff x="3601570" y="817426"/>
            <a:chExt cx="619453" cy="64633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8EC5132-8585-6F91-A040-8F7BC016DFF3}"/>
                </a:ext>
              </a:extLst>
            </p:cNvPr>
            <p:cNvSpPr/>
            <p:nvPr/>
          </p:nvSpPr>
          <p:spPr>
            <a:xfrm>
              <a:off x="3601570" y="873402"/>
              <a:ext cx="619453" cy="5546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187DD7-CA34-D767-F40A-6E04F14D7101}"/>
                </a:ext>
              </a:extLst>
            </p:cNvPr>
            <p:cNvSpPr txBox="1"/>
            <p:nvPr/>
          </p:nvSpPr>
          <p:spPr>
            <a:xfrm>
              <a:off x="3644101" y="817426"/>
              <a:ext cx="25616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Eras Bold ITC" panose="020B0907030504020204" pitchFamily="34" charset="0"/>
                </a:rPr>
                <a:t>1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8ED7936-38DA-2F60-BE46-BEB59C34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88" y="1559693"/>
            <a:ext cx="5879979" cy="32896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83E903-B094-1375-9176-1739B86EE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80" y="1559692"/>
            <a:ext cx="5535598" cy="32896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DED58FC-3414-17A9-C149-87928AB332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6394" y="1389608"/>
            <a:ext cx="734337" cy="59169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15ECEF-1508-3532-A36B-BE557081E3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22" y="1389607"/>
            <a:ext cx="733301" cy="59169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3E8085A-C0F8-FBAF-C231-EF9BC94BCEC9}"/>
              </a:ext>
            </a:extLst>
          </p:cNvPr>
          <p:cNvGrpSpPr/>
          <p:nvPr/>
        </p:nvGrpSpPr>
        <p:grpSpPr>
          <a:xfrm>
            <a:off x="1097522" y="4798707"/>
            <a:ext cx="5388344" cy="1022079"/>
            <a:chOff x="1097522" y="4958966"/>
            <a:chExt cx="5388344" cy="102207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A42288-E717-DDA4-9E4C-1190A2AEED77}"/>
                </a:ext>
              </a:extLst>
            </p:cNvPr>
            <p:cNvSpPr txBox="1"/>
            <p:nvPr/>
          </p:nvSpPr>
          <p:spPr>
            <a:xfrm>
              <a:off x="1401114" y="5042326"/>
              <a:ext cx="5084752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Healthcare Market Shows Clear Price Segmentation</a:t>
              </a:r>
              <a:endParaRPr lang="en-US" sz="1100" i="1" dirty="0"/>
            </a:p>
            <a:p>
              <a:r>
                <a:rPr lang="en-US" sz="1100" i="1" dirty="0"/>
                <a:t>The consultation fee distribution reveals a clear segmentation into budget, mid-range, and premium healthcare providers, indicating a structured pricing hierarchy within urban healthcare markets. Note: </a:t>
              </a:r>
              <a:r>
                <a:rPr lang="en-US" sz="1100" dirty="0"/>
                <a:t>Segmentation is based on paid consultations; segment boundaries are relative to this dataset.</a:t>
              </a:r>
              <a:endParaRPr lang="en-US" sz="1100" i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F2004D9-67F9-BF0B-6FA5-BDE563CF1B51}"/>
                </a:ext>
              </a:extLst>
            </p:cNvPr>
            <p:cNvSpPr txBox="1"/>
            <p:nvPr/>
          </p:nvSpPr>
          <p:spPr>
            <a:xfrm>
              <a:off x="1097522" y="4958966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9498D7F-215A-89D4-C438-6B97EAB463E0}"/>
              </a:ext>
            </a:extLst>
          </p:cNvPr>
          <p:cNvGrpSpPr/>
          <p:nvPr/>
        </p:nvGrpSpPr>
        <p:grpSpPr>
          <a:xfrm>
            <a:off x="461061" y="5733839"/>
            <a:ext cx="5546337" cy="750771"/>
            <a:chOff x="461061" y="5733839"/>
            <a:chExt cx="5546337" cy="75077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1D9230D-31AA-0494-E308-6FD1D6E3EB07}"/>
                </a:ext>
              </a:extLst>
            </p:cNvPr>
            <p:cNvSpPr txBox="1"/>
            <p:nvPr/>
          </p:nvSpPr>
          <p:spPr>
            <a:xfrm>
              <a:off x="764653" y="5884446"/>
              <a:ext cx="5242745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Premium Healthcare Providers Are Concentrated in Certain Cities</a:t>
              </a:r>
              <a:endParaRPr lang="en-US" sz="1100" i="1" dirty="0"/>
            </a:p>
            <a:p>
              <a:r>
                <a:rPr lang="en-US" sz="1100" i="1" dirty="0"/>
                <a:t>Major metropolitan cities tend to have a higher proportion of doctors in the premium segment, indicating greater concentration of higher-priced consultations.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7C4FA6D-5679-B00C-FFB0-BE9A7D9ED20C}"/>
                </a:ext>
              </a:extLst>
            </p:cNvPr>
            <p:cNvSpPr txBox="1"/>
            <p:nvPr/>
          </p:nvSpPr>
          <p:spPr>
            <a:xfrm>
              <a:off x="461061" y="5733839"/>
              <a:ext cx="29678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AF083D7-4F98-BA75-298D-12E10C6CE452}"/>
              </a:ext>
            </a:extLst>
          </p:cNvPr>
          <p:cNvGrpSpPr/>
          <p:nvPr/>
        </p:nvGrpSpPr>
        <p:grpSpPr>
          <a:xfrm>
            <a:off x="7158089" y="4880345"/>
            <a:ext cx="4909882" cy="752925"/>
            <a:chOff x="7158089" y="4880345"/>
            <a:chExt cx="4909882" cy="752925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4EB134-5CAA-0529-B605-2FE3BA9C2D36}"/>
                </a:ext>
              </a:extLst>
            </p:cNvPr>
            <p:cNvSpPr txBox="1"/>
            <p:nvPr/>
          </p:nvSpPr>
          <p:spPr>
            <a:xfrm>
              <a:off x="7461681" y="5033106"/>
              <a:ext cx="460629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Certain Specializations Dominate Premium Healthcare</a:t>
              </a:r>
              <a:endParaRPr lang="en-US" sz="1100" i="1" dirty="0"/>
            </a:p>
            <a:p>
              <a:r>
                <a:rPr lang="en-US" sz="1100" i="1" dirty="0"/>
                <a:t>Neurology and other higher-priced specializations show a greater representation in the premium segment.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2D4727C-3ADF-176A-202C-F2BFD3C6243D}"/>
                </a:ext>
              </a:extLst>
            </p:cNvPr>
            <p:cNvSpPr txBox="1"/>
            <p:nvPr/>
          </p:nvSpPr>
          <p:spPr>
            <a:xfrm>
              <a:off x="7158089" y="4880345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3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BB219A-BCE8-E932-5DDF-9D1CC54177A7}"/>
              </a:ext>
            </a:extLst>
          </p:cNvPr>
          <p:cNvGrpSpPr/>
          <p:nvPr/>
        </p:nvGrpSpPr>
        <p:grpSpPr>
          <a:xfrm>
            <a:off x="6477604" y="5652152"/>
            <a:ext cx="4822153" cy="874289"/>
            <a:chOff x="6477604" y="5652152"/>
            <a:chExt cx="4822153" cy="874289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5F22A5-AA3F-C8A8-721C-778C97F23443}"/>
                </a:ext>
              </a:extLst>
            </p:cNvPr>
            <p:cNvSpPr txBox="1"/>
            <p:nvPr/>
          </p:nvSpPr>
          <p:spPr>
            <a:xfrm>
              <a:off x="6781195" y="5757000"/>
              <a:ext cx="4518562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100" b="1" i="1" dirty="0"/>
                <a:t>Budget Healthcare Is More Common in Emerging Cities</a:t>
              </a:r>
              <a:endParaRPr lang="en-US" sz="1100" i="1" dirty="0"/>
            </a:p>
            <a:p>
              <a:r>
                <a:rPr lang="en-US" sz="1100" i="1" dirty="0"/>
                <a:t>Smaller or emerging cities like Pune, Patna and Visakhapatnam tend to have a higher proportion of budget and mid-range healthcare providers, indicating more accessible consultation pricing.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D6A89B-F03D-6490-E862-BD5F4FAA74C2}"/>
                </a:ext>
              </a:extLst>
            </p:cNvPr>
            <p:cNvSpPr txBox="1"/>
            <p:nvPr/>
          </p:nvSpPr>
          <p:spPr>
            <a:xfrm>
              <a:off x="6477604" y="5652152"/>
              <a:ext cx="2306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bg2">
                      <a:lumMod val="90000"/>
                    </a:schemeClr>
                  </a:solidFill>
                  <a:latin typeface="Eras Bold ITC" panose="020B0907030504020204" pitchFamily="34" charset="0"/>
                </a:rPr>
                <a:t>4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F83E0-55F3-4F28-ED8D-AFFE3A313634}"/>
              </a:ext>
            </a:extLst>
          </p:cNvPr>
          <p:cNvSpPr/>
          <p:nvPr/>
        </p:nvSpPr>
        <p:spPr>
          <a:xfrm>
            <a:off x="2179715" y="440870"/>
            <a:ext cx="73152" cy="59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9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52 0.00023 L -0.14948 0.00116 " pathEditMode="relative" rAng="0" ptsTypes="AA">
                                      <p:cBhvr>
                                        <p:cTn id="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906" y="46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DCD698AA-26F3-43B9-8ED5-8C728B9212D0}"/>
              </a:ext>
            </a:extLst>
          </p:cNvPr>
          <p:cNvGrpSpPr/>
          <p:nvPr/>
        </p:nvGrpSpPr>
        <p:grpSpPr>
          <a:xfrm>
            <a:off x="7002812" y="1829314"/>
            <a:ext cx="2040972" cy="3374996"/>
            <a:chOff x="7002812" y="1829314"/>
            <a:chExt cx="2040972" cy="337499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A2132F0-5E26-54C5-73A4-90D814CB77DC}"/>
                </a:ext>
              </a:extLst>
            </p:cNvPr>
            <p:cNvGrpSpPr/>
            <p:nvPr/>
          </p:nvGrpSpPr>
          <p:grpSpPr>
            <a:xfrm>
              <a:off x="7002812" y="1829314"/>
              <a:ext cx="2040972" cy="3374996"/>
              <a:chOff x="1767155" y="2059969"/>
              <a:chExt cx="2609636" cy="3621640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1C21AD2-C92F-7DAF-852C-38A780521181}"/>
                  </a:ext>
                </a:extLst>
              </p:cNvPr>
              <p:cNvSpPr/>
              <p:nvPr/>
            </p:nvSpPr>
            <p:spPr>
              <a:xfrm>
                <a:off x="1767155" y="4798031"/>
                <a:ext cx="2609636" cy="883578"/>
              </a:xfrm>
              <a:custGeom>
                <a:avLst/>
                <a:gdLst>
                  <a:gd name="csX0" fmla="*/ 0 w 2609636"/>
                  <a:gd name="csY0" fmla="*/ 0 h 883578"/>
                  <a:gd name="csX1" fmla="*/ 2609636 w 2609636"/>
                  <a:gd name="csY1" fmla="*/ 0 h 883578"/>
                  <a:gd name="csX2" fmla="*/ 2609636 w 2609636"/>
                  <a:gd name="csY2" fmla="*/ 469168 h 883578"/>
                  <a:gd name="csX3" fmla="*/ 2195226 w 2609636"/>
                  <a:gd name="csY3" fmla="*/ 883578 h 883578"/>
                  <a:gd name="csX4" fmla="*/ 414410 w 2609636"/>
                  <a:gd name="csY4" fmla="*/ 883578 h 883578"/>
                  <a:gd name="csX5" fmla="*/ 0 w 2609636"/>
                  <a:gd name="csY5" fmla="*/ 469168 h 883578"/>
                  <a:gd name="csX6" fmla="*/ 0 w 2609636"/>
                  <a:gd name="csY6" fmla="*/ 0 h 8835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883578">
                    <a:moveTo>
                      <a:pt x="0" y="0"/>
                    </a:moveTo>
                    <a:lnTo>
                      <a:pt x="2609636" y="0"/>
                    </a:lnTo>
                    <a:lnTo>
                      <a:pt x="2609636" y="469168"/>
                    </a:lnTo>
                    <a:cubicBezTo>
                      <a:pt x="2609636" y="698040"/>
                      <a:pt x="2424098" y="883578"/>
                      <a:pt x="2195226" y="883578"/>
                    </a:cubicBezTo>
                    <a:lnTo>
                      <a:pt x="414410" y="883578"/>
                    </a:lnTo>
                    <a:cubicBezTo>
                      <a:pt x="185538" y="883578"/>
                      <a:pt x="0" y="698040"/>
                      <a:pt x="0" y="469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55CC0C86-179B-2D96-5AD4-EAF19F272ACF}"/>
                  </a:ext>
                </a:extLst>
              </p:cNvPr>
              <p:cNvSpPr/>
              <p:nvPr/>
            </p:nvSpPr>
            <p:spPr>
              <a:xfrm>
                <a:off x="1767155" y="2059969"/>
                <a:ext cx="2609636" cy="2738062"/>
              </a:xfrm>
              <a:custGeom>
                <a:avLst/>
                <a:gdLst>
                  <a:gd name="csX0" fmla="*/ 414410 w 2609636"/>
                  <a:gd name="csY0" fmla="*/ 0 h 2738062"/>
                  <a:gd name="csX1" fmla="*/ 2195226 w 2609636"/>
                  <a:gd name="csY1" fmla="*/ 0 h 2738062"/>
                  <a:gd name="csX2" fmla="*/ 2609636 w 2609636"/>
                  <a:gd name="csY2" fmla="*/ 414410 h 2738062"/>
                  <a:gd name="csX3" fmla="*/ 2609636 w 2609636"/>
                  <a:gd name="csY3" fmla="*/ 2738062 h 2738062"/>
                  <a:gd name="csX4" fmla="*/ 0 w 2609636"/>
                  <a:gd name="csY4" fmla="*/ 2738062 h 2738062"/>
                  <a:gd name="csX5" fmla="*/ 0 w 2609636"/>
                  <a:gd name="csY5" fmla="*/ 414410 h 2738062"/>
                  <a:gd name="csX6" fmla="*/ 414410 w 2609636"/>
                  <a:gd name="csY6" fmla="*/ 0 h 2738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2738062">
                    <a:moveTo>
                      <a:pt x="414410" y="0"/>
                    </a:moveTo>
                    <a:lnTo>
                      <a:pt x="2195226" y="0"/>
                    </a:lnTo>
                    <a:cubicBezTo>
                      <a:pt x="2424098" y="0"/>
                      <a:pt x="2609636" y="185538"/>
                      <a:pt x="2609636" y="414410"/>
                    </a:cubicBezTo>
                    <a:lnTo>
                      <a:pt x="2609636" y="2738062"/>
                    </a:lnTo>
                    <a:lnTo>
                      <a:pt x="0" y="2738062"/>
                    </a:lnTo>
                    <a:lnTo>
                      <a:pt x="0" y="414410"/>
                    </a:lnTo>
                    <a:cubicBezTo>
                      <a:pt x="0" y="185538"/>
                      <a:pt x="185538" y="0"/>
                      <a:pt x="414410" y="0"/>
                    </a:cubicBezTo>
                    <a:close/>
                  </a:path>
                </a:pathLst>
              </a:custGeom>
              <a:solidFill>
                <a:srgbClr val="FFFB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A53B680-3E0F-DF97-BB6F-3A4E9827E141}"/>
                </a:ext>
              </a:extLst>
            </p:cNvPr>
            <p:cNvSpPr txBox="1"/>
            <p:nvPr/>
          </p:nvSpPr>
          <p:spPr>
            <a:xfrm>
              <a:off x="7050607" y="2810549"/>
              <a:ext cx="1982904" cy="127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1" dirty="0"/>
                <a:t>Doctor experience and patient ratings show only weak relationships with consultation fees</a:t>
              </a:r>
              <a:r>
                <a:rPr lang="en-US" sz="1100" i="1" dirty="0"/>
                <a:t>, while city and specialization exhibit stronger pricing differences in the analysis.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D544654-B9F3-A2AA-A23B-7A037AC257D4}"/>
              </a:ext>
            </a:extLst>
          </p:cNvPr>
          <p:cNvGrpSpPr/>
          <p:nvPr/>
        </p:nvGrpSpPr>
        <p:grpSpPr>
          <a:xfrm>
            <a:off x="4897555" y="2030380"/>
            <a:ext cx="2047671" cy="3374996"/>
            <a:chOff x="4897555" y="2030380"/>
            <a:chExt cx="2047671" cy="3374996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5FB2167-DADB-BC19-1F0B-912665C2EA67}"/>
                </a:ext>
              </a:extLst>
            </p:cNvPr>
            <p:cNvGrpSpPr/>
            <p:nvPr/>
          </p:nvGrpSpPr>
          <p:grpSpPr>
            <a:xfrm>
              <a:off x="4897555" y="2030380"/>
              <a:ext cx="2040972" cy="3374996"/>
              <a:chOff x="1767155" y="2059969"/>
              <a:chExt cx="2609636" cy="3621640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EFCA1CB-A587-C00C-B174-CC50CF23484D}"/>
                  </a:ext>
                </a:extLst>
              </p:cNvPr>
              <p:cNvSpPr/>
              <p:nvPr/>
            </p:nvSpPr>
            <p:spPr>
              <a:xfrm>
                <a:off x="1767155" y="4798031"/>
                <a:ext cx="2609636" cy="883578"/>
              </a:xfrm>
              <a:custGeom>
                <a:avLst/>
                <a:gdLst>
                  <a:gd name="csX0" fmla="*/ 0 w 2609636"/>
                  <a:gd name="csY0" fmla="*/ 0 h 883578"/>
                  <a:gd name="csX1" fmla="*/ 2609636 w 2609636"/>
                  <a:gd name="csY1" fmla="*/ 0 h 883578"/>
                  <a:gd name="csX2" fmla="*/ 2609636 w 2609636"/>
                  <a:gd name="csY2" fmla="*/ 469168 h 883578"/>
                  <a:gd name="csX3" fmla="*/ 2195226 w 2609636"/>
                  <a:gd name="csY3" fmla="*/ 883578 h 883578"/>
                  <a:gd name="csX4" fmla="*/ 414410 w 2609636"/>
                  <a:gd name="csY4" fmla="*/ 883578 h 883578"/>
                  <a:gd name="csX5" fmla="*/ 0 w 2609636"/>
                  <a:gd name="csY5" fmla="*/ 469168 h 883578"/>
                  <a:gd name="csX6" fmla="*/ 0 w 2609636"/>
                  <a:gd name="csY6" fmla="*/ 0 h 8835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883578">
                    <a:moveTo>
                      <a:pt x="0" y="0"/>
                    </a:moveTo>
                    <a:lnTo>
                      <a:pt x="2609636" y="0"/>
                    </a:lnTo>
                    <a:lnTo>
                      <a:pt x="2609636" y="469168"/>
                    </a:lnTo>
                    <a:cubicBezTo>
                      <a:pt x="2609636" y="698040"/>
                      <a:pt x="2424098" y="883578"/>
                      <a:pt x="2195226" y="883578"/>
                    </a:cubicBezTo>
                    <a:lnTo>
                      <a:pt x="414410" y="883578"/>
                    </a:lnTo>
                    <a:cubicBezTo>
                      <a:pt x="185538" y="883578"/>
                      <a:pt x="0" y="698040"/>
                      <a:pt x="0" y="469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2BBD448D-5E66-1EE8-B192-EE24ABDF6DDA}"/>
                  </a:ext>
                </a:extLst>
              </p:cNvPr>
              <p:cNvSpPr/>
              <p:nvPr/>
            </p:nvSpPr>
            <p:spPr>
              <a:xfrm>
                <a:off x="1767155" y="2059969"/>
                <a:ext cx="2609636" cy="2738062"/>
              </a:xfrm>
              <a:custGeom>
                <a:avLst/>
                <a:gdLst>
                  <a:gd name="csX0" fmla="*/ 414410 w 2609636"/>
                  <a:gd name="csY0" fmla="*/ 0 h 2738062"/>
                  <a:gd name="csX1" fmla="*/ 2195226 w 2609636"/>
                  <a:gd name="csY1" fmla="*/ 0 h 2738062"/>
                  <a:gd name="csX2" fmla="*/ 2609636 w 2609636"/>
                  <a:gd name="csY2" fmla="*/ 414410 h 2738062"/>
                  <a:gd name="csX3" fmla="*/ 2609636 w 2609636"/>
                  <a:gd name="csY3" fmla="*/ 2738062 h 2738062"/>
                  <a:gd name="csX4" fmla="*/ 0 w 2609636"/>
                  <a:gd name="csY4" fmla="*/ 2738062 h 2738062"/>
                  <a:gd name="csX5" fmla="*/ 0 w 2609636"/>
                  <a:gd name="csY5" fmla="*/ 414410 h 2738062"/>
                  <a:gd name="csX6" fmla="*/ 414410 w 2609636"/>
                  <a:gd name="csY6" fmla="*/ 0 h 2738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2738062">
                    <a:moveTo>
                      <a:pt x="414410" y="0"/>
                    </a:moveTo>
                    <a:lnTo>
                      <a:pt x="2195226" y="0"/>
                    </a:lnTo>
                    <a:cubicBezTo>
                      <a:pt x="2424098" y="0"/>
                      <a:pt x="2609636" y="185538"/>
                      <a:pt x="2609636" y="414410"/>
                    </a:cubicBezTo>
                    <a:lnTo>
                      <a:pt x="2609636" y="2738062"/>
                    </a:lnTo>
                    <a:lnTo>
                      <a:pt x="0" y="2738062"/>
                    </a:lnTo>
                    <a:lnTo>
                      <a:pt x="0" y="414410"/>
                    </a:lnTo>
                    <a:cubicBezTo>
                      <a:pt x="0" y="185538"/>
                      <a:pt x="185538" y="0"/>
                      <a:pt x="414410" y="0"/>
                    </a:cubicBezTo>
                    <a:close/>
                  </a:path>
                </a:pathLst>
              </a:custGeom>
              <a:solidFill>
                <a:srgbClr val="FFFD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FA557D-51E1-2579-4EB2-5E306FADA7DA}"/>
                </a:ext>
              </a:extLst>
            </p:cNvPr>
            <p:cNvSpPr txBox="1"/>
            <p:nvPr/>
          </p:nvSpPr>
          <p:spPr>
            <a:xfrm>
              <a:off x="4962322" y="3079417"/>
              <a:ext cx="1982904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1" dirty="0"/>
                <a:t>Medical specialization is associated with differences in consultation pricing</a:t>
              </a:r>
              <a:r>
                <a:rPr lang="en-US" sz="1100" i="1" dirty="0"/>
                <a:t>, with some specialized fields showing higher average fees than others.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2C93165-A1ED-70F4-5F85-3B54F8C02A17}"/>
              </a:ext>
            </a:extLst>
          </p:cNvPr>
          <p:cNvGrpSpPr/>
          <p:nvPr/>
        </p:nvGrpSpPr>
        <p:grpSpPr>
          <a:xfrm>
            <a:off x="2792297" y="2241016"/>
            <a:ext cx="2040972" cy="3374996"/>
            <a:chOff x="2792297" y="2241016"/>
            <a:chExt cx="2040972" cy="33749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82B0228-292C-897F-DCAD-B70832187C2E}"/>
                </a:ext>
              </a:extLst>
            </p:cNvPr>
            <p:cNvGrpSpPr/>
            <p:nvPr/>
          </p:nvGrpSpPr>
          <p:grpSpPr>
            <a:xfrm>
              <a:off x="2792297" y="2241016"/>
              <a:ext cx="2040972" cy="3374996"/>
              <a:chOff x="1767155" y="2059969"/>
              <a:chExt cx="2609636" cy="3621640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2A2B2CD-93CF-68C1-B34C-DA21AD8505E9}"/>
                  </a:ext>
                </a:extLst>
              </p:cNvPr>
              <p:cNvSpPr/>
              <p:nvPr/>
            </p:nvSpPr>
            <p:spPr>
              <a:xfrm>
                <a:off x="1767155" y="4798031"/>
                <a:ext cx="2609636" cy="883578"/>
              </a:xfrm>
              <a:custGeom>
                <a:avLst/>
                <a:gdLst>
                  <a:gd name="csX0" fmla="*/ 0 w 2609636"/>
                  <a:gd name="csY0" fmla="*/ 0 h 883578"/>
                  <a:gd name="csX1" fmla="*/ 2609636 w 2609636"/>
                  <a:gd name="csY1" fmla="*/ 0 h 883578"/>
                  <a:gd name="csX2" fmla="*/ 2609636 w 2609636"/>
                  <a:gd name="csY2" fmla="*/ 469168 h 883578"/>
                  <a:gd name="csX3" fmla="*/ 2195226 w 2609636"/>
                  <a:gd name="csY3" fmla="*/ 883578 h 883578"/>
                  <a:gd name="csX4" fmla="*/ 414410 w 2609636"/>
                  <a:gd name="csY4" fmla="*/ 883578 h 883578"/>
                  <a:gd name="csX5" fmla="*/ 0 w 2609636"/>
                  <a:gd name="csY5" fmla="*/ 469168 h 883578"/>
                  <a:gd name="csX6" fmla="*/ 0 w 2609636"/>
                  <a:gd name="csY6" fmla="*/ 0 h 8835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883578">
                    <a:moveTo>
                      <a:pt x="0" y="0"/>
                    </a:moveTo>
                    <a:lnTo>
                      <a:pt x="2609636" y="0"/>
                    </a:lnTo>
                    <a:lnTo>
                      <a:pt x="2609636" y="469168"/>
                    </a:lnTo>
                    <a:cubicBezTo>
                      <a:pt x="2609636" y="698040"/>
                      <a:pt x="2424098" y="883578"/>
                      <a:pt x="2195226" y="883578"/>
                    </a:cubicBezTo>
                    <a:lnTo>
                      <a:pt x="414410" y="883578"/>
                    </a:lnTo>
                    <a:cubicBezTo>
                      <a:pt x="185538" y="883578"/>
                      <a:pt x="0" y="698040"/>
                      <a:pt x="0" y="469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72CB19E-87E3-0285-6F1C-D6EB2F5C4ED4}"/>
                  </a:ext>
                </a:extLst>
              </p:cNvPr>
              <p:cNvSpPr/>
              <p:nvPr/>
            </p:nvSpPr>
            <p:spPr>
              <a:xfrm>
                <a:off x="1767155" y="2059969"/>
                <a:ext cx="2609636" cy="2738062"/>
              </a:xfrm>
              <a:custGeom>
                <a:avLst/>
                <a:gdLst>
                  <a:gd name="csX0" fmla="*/ 414410 w 2609636"/>
                  <a:gd name="csY0" fmla="*/ 0 h 2738062"/>
                  <a:gd name="csX1" fmla="*/ 2195226 w 2609636"/>
                  <a:gd name="csY1" fmla="*/ 0 h 2738062"/>
                  <a:gd name="csX2" fmla="*/ 2609636 w 2609636"/>
                  <a:gd name="csY2" fmla="*/ 414410 h 2738062"/>
                  <a:gd name="csX3" fmla="*/ 2609636 w 2609636"/>
                  <a:gd name="csY3" fmla="*/ 2738062 h 2738062"/>
                  <a:gd name="csX4" fmla="*/ 0 w 2609636"/>
                  <a:gd name="csY4" fmla="*/ 2738062 h 2738062"/>
                  <a:gd name="csX5" fmla="*/ 0 w 2609636"/>
                  <a:gd name="csY5" fmla="*/ 414410 h 2738062"/>
                  <a:gd name="csX6" fmla="*/ 414410 w 2609636"/>
                  <a:gd name="csY6" fmla="*/ 0 h 2738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2738062">
                    <a:moveTo>
                      <a:pt x="414410" y="0"/>
                    </a:moveTo>
                    <a:lnTo>
                      <a:pt x="2195226" y="0"/>
                    </a:lnTo>
                    <a:cubicBezTo>
                      <a:pt x="2424098" y="0"/>
                      <a:pt x="2609636" y="185538"/>
                      <a:pt x="2609636" y="414410"/>
                    </a:cubicBezTo>
                    <a:lnTo>
                      <a:pt x="2609636" y="2738062"/>
                    </a:lnTo>
                    <a:lnTo>
                      <a:pt x="0" y="2738062"/>
                    </a:lnTo>
                    <a:lnTo>
                      <a:pt x="0" y="414410"/>
                    </a:lnTo>
                    <a:cubicBezTo>
                      <a:pt x="0" y="185538"/>
                      <a:pt x="185538" y="0"/>
                      <a:pt x="414410" y="0"/>
                    </a:cubicBezTo>
                    <a:close/>
                  </a:path>
                </a:pathLst>
              </a:custGeom>
              <a:solidFill>
                <a:srgbClr val="FFFB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FAF90F1-AB40-BE59-DC8D-0B852079395B}"/>
                </a:ext>
              </a:extLst>
            </p:cNvPr>
            <p:cNvSpPr txBox="1"/>
            <p:nvPr/>
          </p:nvSpPr>
          <p:spPr>
            <a:xfrm>
              <a:off x="2908434" y="3180788"/>
              <a:ext cx="1835941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1" dirty="0"/>
                <a:t>City-level differences play a major role in observed pricing patterns</a:t>
              </a:r>
              <a:r>
                <a:rPr lang="en-US" sz="1100" i="1" dirty="0"/>
                <a:t>, with metropolitan cities generally showing higher consultation fees.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FFC99B-5FAF-A932-F7ED-A8CCCAAB7502}"/>
              </a:ext>
            </a:extLst>
          </p:cNvPr>
          <p:cNvGrpSpPr/>
          <p:nvPr/>
        </p:nvGrpSpPr>
        <p:grpSpPr>
          <a:xfrm>
            <a:off x="688380" y="2491547"/>
            <a:ext cx="2040972" cy="3374996"/>
            <a:chOff x="688380" y="2491547"/>
            <a:chExt cx="2040972" cy="337499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6031322-5F1D-1156-9C8A-8A901865ADB8}"/>
                </a:ext>
              </a:extLst>
            </p:cNvPr>
            <p:cNvGrpSpPr/>
            <p:nvPr/>
          </p:nvGrpSpPr>
          <p:grpSpPr>
            <a:xfrm>
              <a:off x="688380" y="2491547"/>
              <a:ext cx="2040972" cy="3374996"/>
              <a:chOff x="1767155" y="2059969"/>
              <a:chExt cx="2609636" cy="362164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631D2B9C-DF6F-2496-CA2A-5C85A66F1DE3}"/>
                  </a:ext>
                </a:extLst>
              </p:cNvPr>
              <p:cNvSpPr/>
              <p:nvPr/>
            </p:nvSpPr>
            <p:spPr>
              <a:xfrm>
                <a:off x="1767155" y="4798031"/>
                <a:ext cx="2609636" cy="883578"/>
              </a:xfrm>
              <a:custGeom>
                <a:avLst/>
                <a:gdLst>
                  <a:gd name="csX0" fmla="*/ 0 w 2609636"/>
                  <a:gd name="csY0" fmla="*/ 0 h 883578"/>
                  <a:gd name="csX1" fmla="*/ 2609636 w 2609636"/>
                  <a:gd name="csY1" fmla="*/ 0 h 883578"/>
                  <a:gd name="csX2" fmla="*/ 2609636 w 2609636"/>
                  <a:gd name="csY2" fmla="*/ 469168 h 883578"/>
                  <a:gd name="csX3" fmla="*/ 2195226 w 2609636"/>
                  <a:gd name="csY3" fmla="*/ 883578 h 883578"/>
                  <a:gd name="csX4" fmla="*/ 414410 w 2609636"/>
                  <a:gd name="csY4" fmla="*/ 883578 h 883578"/>
                  <a:gd name="csX5" fmla="*/ 0 w 2609636"/>
                  <a:gd name="csY5" fmla="*/ 469168 h 883578"/>
                  <a:gd name="csX6" fmla="*/ 0 w 2609636"/>
                  <a:gd name="csY6" fmla="*/ 0 h 8835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883578">
                    <a:moveTo>
                      <a:pt x="0" y="0"/>
                    </a:moveTo>
                    <a:lnTo>
                      <a:pt x="2609636" y="0"/>
                    </a:lnTo>
                    <a:lnTo>
                      <a:pt x="2609636" y="469168"/>
                    </a:lnTo>
                    <a:cubicBezTo>
                      <a:pt x="2609636" y="698040"/>
                      <a:pt x="2424098" y="883578"/>
                      <a:pt x="2195226" y="883578"/>
                    </a:cubicBezTo>
                    <a:lnTo>
                      <a:pt x="414410" y="883578"/>
                    </a:lnTo>
                    <a:cubicBezTo>
                      <a:pt x="185538" y="883578"/>
                      <a:pt x="0" y="698040"/>
                      <a:pt x="0" y="469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A4FF3932-F269-932C-C312-040A9A79EF88}"/>
                  </a:ext>
                </a:extLst>
              </p:cNvPr>
              <p:cNvSpPr/>
              <p:nvPr/>
            </p:nvSpPr>
            <p:spPr>
              <a:xfrm>
                <a:off x="1767155" y="2059969"/>
                <a:ext cx="2609636" cy="2738062"/>
              </a:xfrm>
              <a:custGeom>
                <a:avLst/>
                <a:gdLst>
                  <a:gd name="csX0" fmla="*/ 414410 w 2609636"/>
                  <a:gd name="csY0" fmla="*/ 0 h 2738062"/>
                  <a:gd name="csX1" fmla="*/ 2195226 w 2609636"/>
                  <a:gd name="csY1" fmla="*/ 0 h 2738062"/>
                  <a:gd name="csX2" fmla="*/ 2609636 w 2609636"/>
                  <a:gd name="csY2" fmla="*/ 414410 h 2738062"/>
                  <a:gd name="csX3" fmla="*/ 2609636 w 2609636"/>
                  <a:gd name="csY3" fmla="*/ 2738062 h 2738062"/>
                  <a:gd name="csX4" fmla="*/ 0 w 2609636"/>
                  <a:gd name="csY4" fmla="*/ 2738062 h 2738062"/>
                  <a:gd name="csX5" fmla="*/ 0 w 2609636"/>
                  <a:gd name="csY5" fmla="*/ 414410 h 2738062"/>
                  <a:gd name="csX6" fmla="*/ 414410 w 2609636"/>
                  <a:gd name="csY6" fmla="*/ 0 h 2738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2738062">
                    <a:moveTo>
                      <a:pt x="414410" y="0"/>
                    </a:moveTo>
                    <a:lnTo>
                      <a:pt x="2195226" y="0"/>
                    </a:lnTo>
                    <a:cubicBezTo>
                      <a:pt x="2424098" y="0"/>
                      <a:pt x="2609636" y="185538"/>
                      <a:pt x="2609636" y="414410"/>
                    </a:cubicBezTo>
                    <a:lnTo>
                      <a:pt x="2609636" y="2738062"/>
                    </a:lnTo>
                    <a:lnTo>
                      <a:pt x="0" y="2738062"/>
                    </a:lnTo>
                    <a:lnTo>
                      <a:pt x="0" y="414410"/>
                    </a:lnTo>
                    <a:cubicBezTo>
                      <a:pt x="0" y="185538"/>
                      <a:pt x="185538" y="0"/>
                      <a:pt x="414410" y="0"/>
                    </a:cubicBezTo>
                    <a:close/>
                  </a:path>
                </a:pathLst>
              </a:custGeom>
              <a:solidFill>
                <a:srgbClr val="FFFD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419C57-D103-7EF3-4AE2-18265717821D}"/>
                </a:ext>
              </a:extLst>
            </p:cNvPr>
            <p:cNvSpPr txBox="1"/>
            <p:nvPr/>
          </p:nvSpPr>
          <p:spPr>
            <a:xfrm>
              <a:off x="791478" y="3341733"/>
              <a:ext cx="1797610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b="1" i="1" dirty="0"/>
                <a:t>Urban healthcare consultation pricing shows strong variation</a:t>
              </a:r>
              <a:r>
                <a:rPr lang="en-US" sz="1100" i="1" dirty="0"/>
                <a:t> across cities and medical specializations, while experience and patient ratings exhibit only weak associations with fees.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086E29B-7172-2658-0B35-C34604FF9BA2}"/>
              </a:ext>
            </a:extLst>
          </p:cNvPr>
          <p:cNvGrpSpPr/>
          <p:nvPr/>
        </p:nvGrpSpPr>
        <p:grpSpPr>
          <a:xfrm>
            <a:off x="688380" y="2241015"/>
            <a:ext cx="2482916" cy="762768"/>
            <a:chOff x="688380" y="2241015"/>
            <a:chExt cx="2482916" cy="762768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BFF0C92-F281-BEEB-9BFF-39328E5CFA42}"/>
                </a:ext>
              </a:extLst>
            </p:cNvPr>
            <p:cNvSpPr/>
            <p:nvPr/>
          </p:nvSpPr>
          <p:spPr>
            <a:xfrm>
              <a:off x="688380" y="2241015"/>
              <a:ext cx="2482916" cy="76276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C9C08AA-AF90-3A68-CF1C-F801891E5963}"/>
                </a:ext>
              </a:extLst>
            </p:cNvPr>
            <p:cNvSpPr txBox="1"/>
            <p:nvPr/>
          </p:nvSpPr>
          <p:spPr>
            <a:xfrm>
              <a:off x="743175" y="2451491"/>
              <a:ext cx="1876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CONCLUSION-01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BBCF151-9028-D33D-08D8-CC86114EFBB6}"/>
              </a:ext>
            </a:extLst>
          </p:cNvPr>
          <p:cNvGrpSpPr/>
          <p:nvPr/>
        </p:nvGrpSpPr>
        <p:grpSpPr>
          <a:xfrm>
            <a:off x="2792297" y="2030380"/>
            <a:ext cx="2482916" cy="762768"/>
            <a:chOff x="2792297" y="2030380"/>
            <a:chExt cx="2482916" cy="762768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CD78B7F-E7BD-20B2-2ED1-E88A2405E5F8}"/>
                </a:ext>
              </a:extLst>
            </p:cNvPr>
            <p:cNvSpPr/>
            <p:nvPr/>
          </p:nvSpPr>
          <p:spPr>
            <a:xfrm>
              <a:off x="2792297" y="2030380"/>
              <a:ext cx="2482916" cy="76276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0A430C5-EE0E-45D9-2B0E-74D52B4E4FD3}"/>
                </a:ext>
              </a:extLst>
            </p:cNvPr>
            <p:cNvSpPr txBox="1"/>
            <p:nvPr/>
          </p:nvSpPr>
          <p:spPr>
            <a:xfrm>
              <a:off x="2908434" y="2246023"/>
              <a:ext cx="1876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CONCLUSION-02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90BC43-8B0B-732B-3AC4-9D4B6E1B9B9F}"/>
              </a:ext>
            </a:extLst>
          </p:cNvPr>
          <p:cNvGrpSpPr/>
          <p:nvPr/>
        </p:nvGrpSpPr>
        <p:grpSpPr>
          <a:xfrm>
            <a:off x="9104050" y="1668143"/>
            <a:ext cx="2040972" cy="3374996"/>
            <a:chOff x="9104050" y="1668143"/>
            <a:chExt cx="2040972" cy="3374996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1FDEB3-97B0-2817-20CE-5F9B5C730556}"/>
                </a:ext>
              </a:extLst>
            </p:cNvPr>
            <p:cNvGrpSpPr/>
            <p:nvPr/>
          </p:nvGrpSpPr>
          <p:grpSpPr>
            <a:xfrm>
              <a:off x="9104050" y="1668143"/>
              <a:ext cx="2040972" cy="3374996"/>
              <a:chOff x="1767155" y="2059969"/>
              <a:chExt cx="2609636" cy="3621640"/>
            </a:xfrm>
          </p:grpSpPr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7183233E-84DF-02EC-47A0-8BC8B9F2B06E}"/>
                  </a:ext>
                </a:extLst>
              </p:cNvPr>
              <p:cNvSpPr/>
              <p:nvPr/>
            </p:nvSpPr>
            <p:spPr>
              <a:xfrm>
                <a:off x="1767155" y="4798031"/>
                <a:ext cx="2609636" cy="883578"/>
              </a:xfrm>
              <a:custGeom>
                <a:avLst/>
                <a:gdLst>
                  <a:gd name="csX0" fmla="*/ 0 w 2609636"/>
                  <a:gd name="csY0" fmla="*/ 0 h 883578"/>
                  <a:gd name="csX1" fmla="*/ 2609636 w 2609636"/>
                  <a:gd name="csY1" fmla="*/ 0 h 883578"/>
                  <a:gd name="csX2" fmla="*/ 2609636 w 2609636"/>
                  <a:gd name="csY2" fmla="*/ 469168 h 883578"/>
                  <a:gd name="csX3" fmla="*/ 2195226 w 2609636"/>
                  <a:gd name="csY3" fmla="*/ 883578 h 883578"/>
                  <a:gd name="csX4" fmla="*/ 414410 w 2609636"/>
                  <a:gd name="csY4" fmla="*/ 883578 h 883578"/>
                  <a:gd name="csX5" fmla="*/ 0 w 2609636"/>
                  <a:gd name="csY5" fmla="*/ 469168 h 883578"/>
                  <a:gd name="csX6" fmla="*/ 0 w 2609636"/>
                  <a:gd name="csY6" fmla="*/ 0 h 8835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883578">
                    <a:moveTo>
                      <a:pt x="0" y="0"/>
                    </a:moveTo>
                    <a:lnTo>
                      <a:pt x="2609636" y="0"/>
                    </a:lnTo>
                    <a:lnTo>
                      <a:pt x="2609636" y="469168"/>
                    </a:lnTo>
                    <a:cubicBezTo>
                      <a:pt x="2609636" y="698040"/>
                      <a:pt x="2424098" y="883578"/>
                      <a:pt x="2195226" y="883578"/>
                    </a:cubicBezTo>
                    <a:lnTo>
                      <a:pt x="414410" y="883578"/>
                    </a:lnTo>
                    <a:cubicBezTo>
                      <a:pt x="185538" y="883578"/>
                      <a:pt x="0" y="698040"/>
                      <a:pt x="0" y="469168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774B643-E6EE-4968-BA43-3231151C1D2F}"/>
                  </a:ext>
                </a:extLst>
              </p:cNvPr>
              <p:cNvSpPr/>
              <p:nvPr/>
            </p:nvSpPr>
            <p:spPr>
              <a:xfrm>
                <a:off x="1767155" y="2059969"/>
                <a:ext cx="2609636" cy="2738062"/>
              </a:xfrm>
              <a:custGeom>
                <a:avLst/>
                <a:gdLst>
                  <a:gd name="csX0" fmla="*/ 414410 w 2609636"/>
                  <a:gd name="csY0" fmla="*/ 0 h 2738062"/>
                  <a:gd name="csX1" fmla="*/ 2195226 w 2609636"/>
                  <a:gd name="csY1" fmla="*/ 0 h 2738062"/>
                  <a:gd name="csX2" fmla="*/ 2609636 w 2609636"/>
                  <a:gd name="csY2" fmla="*/ 414410 h 2738062"/>
                  <a:gd name="csX3" fmla="*/ 2609636 w 2609636"/>
                  <a:gd name="csY3" fmla="*/ 2738062 h 2738062"/>
                  <a:gd name="csX4" fmla="*/ 0 w 2609636"/>
                  <a:gd name="csY4" fmla="*/ 2738062 h 2738062"/>
                  <a:gd name="csX5" fmla="*/ 0 w 2609636"/>
                  <a:gd name="csY5" fmla="*/ 414410 h 2738062"/>
                  <a:gd name="csX6" fmla="*/ 414410 w 2609636"/>
                  <a:gd name="csY6" fmla="*/ 0 h 2738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609636" h="2738062">
                    <a:moveTo>
                      <a:pt x="414410" y="0"/>
                    </a:moveTo>
                    <a:lnTo>
                      <a:pt x="2195226" y="0"/>
                    </a:lnTo>
                    <a:cubicBezTo>
                      <a:pt x="2424098" y="0"/>
                      <a:pt x="2609636" y="185538"/>
                      <a:pt x="2609636" y="414410"/>
                    </a:cubicBezTo>
                    <a:lnTo>
                      <a:pt x="2609636" y="2738062"/>
                    </a:lnTo>
                    <a:lnTo>
                      <a:pt x="0" y="2738062"/>
                    </a:lnTo>
                    <a:lnTo>
                      <a:pt x="0" y="414410"/>
                    </a:lnTo>
                    <a:cubicBezTo>
                      <a:pt x="0" y="185538"/>
                      <a:pt x="185538" y="0"/>
                      <a:pt x="414410" y="0"/>
                    </a:cubicBezTo>
                    <a:close/>
                  </a:path>
                </a:pathLst>
              </a:custGeom>
              <a:solidFill>
                <a:srgbClr val="FFFDE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E8113CC-E79B-D5A8-5CBB-4EC1C7AB6FE6}"/>
                </a:ext>
              </a:extLst>
            </p:cNvPr>
            <p:cNvSpPr txBox="1"/>
            <p:nvPr/>
          </p:nvSpPr>
          <p:spPr>
            <a:xfrm>
              <a:off x="9150786" y="2613723"/>
              <a:ext cx="1994236" cy="11079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i="1" dirty="0"/>
                <a:t>Overall, the </a:t>
              </a:r>
              <a:r>
                <a:rPr lang="en-US" sz="1100" b="1" i="1" dirty="0"/>
                <a:t>analysis highlights substantial variation in urban healthcare consultation fees </a:t>
              </a:r>
              <a:r>
                <a:rPr lang="en-US" sz="1100" i="1" dirty="0"/>
                <a:t>across cities and medical specializations, along with clear premium pricing patterns.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957D1FB-0F58-D4B9-FC6E-B4EA24D63CAC}"/>
              </a:ext>
            </a:extLst>
          </p:cNvPr>
          <p:cNvGrpSpPr/>
          <p:nvPr/>
        </p:nvGrpSpPr>
        <p:grpSpPr>
          <a:xfrm>
            <a:off x="4896215" y="1829314"/>
            <a:ext cx="2482916" cy="762768"/>
            <a:chOff x="4896215" y="1829314"/>
            <a:chExt cx="2482916" cy="762768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D5C09EB-A4CF-91AC-4DA6-70F043C4FF75}"/>
                </a:ext>
              </a:extLst>
            </p:cNvPr>
            <p:cNvSpPr/>
            <p:nvPr/>
          </p:nvSpPr>
          <p:spPr>
            <a:xfrm>
              <a:off x="4896215" y="1829314"/>
              <a:ext cx="2482916" cy="76276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D95DA2C-D64F-4020-5537-2C1699DDC7ED}"/>
                </a:ext>
              </a:extLst>
            </p:cNvPr>
            <p:cNvSpPr txBox="1"/>
            <p:nvPr/>
          </p:nvSpPr>
          <p:spPr>
            <a:xfrm>
              <a:off x="5057772" y="2015728"/>
              <a:ext cx="1876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CONCLUSION-03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F19A43E-71A4-08DD-ACA3-B1B19FDDE02C}"/>
              </a:ext>
            </a:extLst>
          </p:cNvPr>
          <p:cNvGrpSpPr/>
          <p:nvPr/>
        </p:nvGrpSpPr>
        <p:grpSpPr>
          <a:xfrm>
            <a:off x="7000132" y="1648996"/>
            <a:ext cx="2482916" cy="762768"/>
            <a:chOff x="7000132" y="1648996"/>
            <a:chExt cx="2482916" cy="762768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55397E62-0E50-377A-BC77-F30670E609CA}"/>
                </a:ext>
              </a:extLst>
            </p:cNvPr>
            <p:cNvSpPr/>
            <p:nvPr/>
          </p:nvSpPr>
          <p:spPr>
            <a:xfrm>
              <a:off x="7000132" y="1648996"/>
              <a:ext cx="2482916" cy="762768"/>
            </a:xfrm>
            <a:prstGeom prst="roundRect">
              <a:avLst/>
            </a:prstGeom>
            <a:solidFill>
              <a:srgbClr val="FCE8E8"/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67C8D93-78B2-016B-FFC4-255545CBA010}"/>
                </a:ext>
              </a:extLst>
            </p:cNvPr>
            <p:cNvSpPr txBox="1"/>
            <p:nvPr/>
          </p:nvSpPr>
          <p:spPr>
            <a:xfrm>
              <a:off x="7118676" y="1872144"/>
              <a:ext cx="1876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CONCLUSION-04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2E34C4-9126-65BD-2745-B707B5FC0FE1}"/>
              </a:ext>
            </a:extLst>
          </p:cNvPr>
          <p:cNvGrpSpPr/>
          <p:nvPr/>
        </p:nvGrpSpPr>
        <p:grpSpPr>
          <a:xfrm>
            <a:off x="9101370" y="1487825"/>
            <a:ext cx="2482916" cy="762768"/>
            <a:chOff x="9101370" y="1487825"/>
            <a:chExt cx="2482916" cy="762768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73FBE043-9724-93F1-0A2A-465190D52D9C}"/>
                </a:ext>
              </a:extLst>
            </p:cNvPr>
            <p:cNvSpPr/>
            <p:nvPr/>
          </p:nvSpPr>
          <p:spPr>
            <a:xfrm>
              <a:off x="9101370" y="1487825"/>
              <a:ext cx="2482916" cy="76276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  <a:effectLst>
              <a:outerShdw blurRad="2413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845C34B-5C08-FF20-179F-1463A25F5E86}"/>
                </a:ext>
              </a:extLst>
            </p:cNvPr>
            <p:cNvSpPr txBox="1"/>
            <p:nvPr/>
          </p:nvSpPr>
          <p:spPr>
            <a:xfrm>
              <a:off x="9219914" y="1702909"/>
              <a:ext cx="18767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Microsoft JhengHei UI" panose="020B0604030504040204" pitchFamily="34" charset="-120"/>
                  <a:ea typeface="Microsoft JhengHei UI" panose="020B0604030504040204" pitchFamily="34" charset="-120"/>
                </a:rPr>
                <a:t>CONCLUSION-05</a:t>
              </a:r>
            </a:p>
          </p:txBody>
        </p:sp>
      </p:grpSp>
      <p:sp>
        <p:nvSpPr>
          <p:cNvPr id="57" name="Right Triangle 56">
            <a:extLst>
              <a:ext uri="{FF2B5EF4-FFF2-40B4-BE49-F238E27FC236}">
                <a16:creationId xmlns:a16="http://schemas.microsoft.com/office/drawing/2014/main" id="{8BB4D1D1-B916-95B9-FE33-113ECFA0F62B}"/>
              </a:ext>
            </a:extLst>
          </p:cNvPr>
          <p:cNvSpPr/>
          <p:nvPr/>
        </p:nvSpPr>
        <p:spPr>
          <a:xfrm rot="10800000">
            <a:off x="2799649" y="2617607"/>
            <a:ext cx="371647" cy="326332"/>
          </a:xfrm>
          <a:prstGeom prst="rtTriangle">
            <a:avLst/>
          </a:prstGeom>
          <a:solidFill>
            <a:srgbClr val="FBE5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E5D6"/>
              </a:solidFill>
            </a:endParaRPr>
          </a:p>
        </p:txBody>
      </p:sp>
      <p:sp>
        <p:nvSpPr>
          <p:cNvPr id="58" name="Right Triangle 57">
            <a:extLst>
              <a:ext uri="{FF2B5EF4-FFF2-40B4-BE49-F238E27FC236}">
                <a16:creationId xmlns:a16="http://schemas.microsoft.com/office/drawing/2014/main" id="{6661B5A5-C8A8-9BF2-4C40-A55FA1B16EA7}"/>
              </a:ext>
            </a:extLst>
          </p:cNvPr>
          <p:cNvSpPr/>
          <p:nvPr/>
        </p:nvSpPr>
        <p:spPr>
          <a:xfrm rot="10800000">
            <a:off x="4903566" y="2428916"/>
            <a:ext cx="371647" cy="326332"/>
          </a:xfrm>
          <a:prstGeom prst="rtTriangle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E5D6"/>
              </a:solidFill>
            </a:endParaRPr>
          </a:p>
        </p:txBody>
      </p:sp>
      <p:sp>
        <p:nvSpPr>
          <p:cNvPr id="59" name="Right Triangle 58">
            <a:extLst>
              <a:ext uri="{FF2B5EF4-FFF2-40B4-BE49-F238E27FC236}">
                <a16:creationId xmlns:a16="http://schemas.microsoft.com/office/drawing/2014/main" id="{0EA37FB8-D8BD-D460-55A8-D39F3EE366EC}"/>
              </a:ext>
            </a:extLst>
          </p:cNvPr>
          <p:cNvSpPr/>
          <p:nvPr/>
        </p:nvSpPr>
        <p:spPr>
          <a:xfrm rot="10800000">
            <a:off x="6998788" y="2200682"/>
            <a:ext cx="371647" cy="326332"/>
          </a:xfrm>
          <a:prstGeom prst="rtTriangle">
            <a:avLst/>
          </a:prstGeom>
          <a:solidFill>
            <a:srgbClr val="FC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E5D6"/>
              </a:solidFill>
            </a:endParaRPr>
          </a:p>
        </p:txBody>
      </p:sp>
      <p:sp>
        <p:nvSpPr>
          <p:cNvPr id="60" name="Right Triangle 59">
            <a:extLst>
              <a:ext uri="{FF2B5EF4-FFF2-40B4-BE49-F238E27FC236}">
                <a16:creationId xmlns:a16="http://schemas.microsoft.com/office/drawing/2014/main" id="{C0A60410-AEB3-1CE9-1E74-8D27846CD3B5}"/>
              </a:ext>
            </a:extLst>
          </p:cNvPr>
          <p:cNvSpPr/>
          <p:nvPr/>
        </p:nvSpPr>
        <p:spPr>
          <a:xfrm rot="10800000">
            <a:off x="9100026" y="2049589"/>
            <a:ext cx="371647" cy="326332"/>
          </a:xfrm>
          <a:prstGeom prst="rtTriangle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BE5D6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98FA2A-D29D-982C-554A-2557B36C217B}"/>
              </a:ext>
            </a:extLst>
          </p:cNvPr>
          <p:cNvSpPr txBox="1"/>
          <p:nvPr/>
        </p:nvSpPr>
        <p:spPr>
          <a:xfrm>
            <a:off x="688380" y="548539"/>
            <a:ext cx="4144889" cy="923330"/>
          </a:xfrm>
          <a:prstGeom prst="rect">
            <a:avLst/>
          </a:prstGeom>
          <a:noFill/>
          <a:effectLst/>
        </p:spPr>
        <p:txBody>
          <a:bodyPr wrap="square" rtlCol="0">
            <a:prstTxWarp prst="textCascadeUp">
              <a:avLst>
                <a:gd name="adj" fmla="val 64473"/>
              </a:avLst>
            </a:prstTxWarp>
            <a:spAutoFit/>
          </a:bodyPr>
          <a:lstStyle/>
          <a:p>
            <a:r>
              <a:rPr lang="en-US" sz="5400" dirty="0">
                <a:solidFill>
                  <a:schemeClr val="accent3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Eras Bold ITC" panose="020B0907030504020204" pitchFamily="34" charset="0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142311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750"/>
                            </p:stCondLst>
                            <p:childTnLst>
                              <p:par>
                                <p:cTn id="42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75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250"/>
                            </p:stCondLst>
                            <p:childTnLst>
                              <p:par>
                                <p:cTn id="6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55B2-D147-D56D-E6D3-3183CE0E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751466-4C5D-2F45-7642-A89BE51A16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CE241D-BF0C-7C22-2E0C-B5AF2EB0111D}"/>
              </a:ext>
            </a:extLst>
          </p:cNvPr>
          <p:cNvSpPr/>
          <p:nvPr/>
        </p:nvSpPr>
        <p:spPr>
          <a:xfrm>
            <a:off x="6026071" y="2955547"/>
            <a:ext cx="3061694" cy="2086956"/>
          </a:xfrm>
          <a:custGeom>
            <a:avLst/>
            <a:gdLst>
              <a:gd name="csX0" fmla="*/ 0 w 2735961"/>
              <a:gd name="csY0" fmla="*/ 0 h 2086956"/>
              <a:gd name="csX1" fmla="*/ 2735961 w 2735961"/>
              <a:gd name="csY1" fmla="*/ 0 h 2086956"/>
              <a:gd name="csX2" fmla="*/ 2735961 w 2735961"/>
              <a:gd name="csY2" fmla="*/ 56613 h 2086956"/>
              <a:gd name="csX3" fmla="*/ 2187756 w 2735961"/>
              <a:gd name="csY3" fmla="*/ 1428108 h 2086956"/>
              <a:gd name="csX4" fmla="*/ 1502534 w 2735961"/>
              <a:gd name="csY4" fmla="*/ 1428108 h 2086956"/>
              <a:gd name="csX5" fmla="*/ 1862166 w 2735961"/>
              <a:gd name="csY5" fmla="*/ 2086956 h 2086956"/>
              <a:gd name="csX6" fmla="*/ 536437 w 2735961"/>
              <a:gd name="csY6" fmla="*/ 1428108 h 2086956"/>
              <a:gd name="csX7" fmla="*/ 0 w 2735961"/>
              <a:gd name="csY7" fmla="*/ 1428108 h 2086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735961" h="2086956">
                <a:moveTo>
                  <a:pt x="0" y="0"/>
                </a:moveTo>
                <a:lnTo>
                  <a:pt x="2735961" y="0"/>
                </a:lnTo>
                <a:lnTo>
                  <a:pt x="2735961" y="56613"/>
                </a:lnTo>
                <a:lnTo>
                  <a:pt x="2187756" y="1428108"/>
                </a:lnTo>
                <a:lnTo>
                  <a:pt x="1502534" y="1428108"/>
                </a:lnTo>
                <a:lnTo>
                  <a:pt x="1862166" y="2086956"/>
                </a:lnTo>
                <a:lnTo>
                  <a:pt x="536437" y="1428108"/>
                </a:lnTo>
                <a:lnTo>
                  <a:pt x="0" y="142810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CF6749-75B9-0344-3018-29FBC5DD933D}"/>
              </a:ext>
            </a:extLst>
          </p:cNvPr>
          <p:cNvSpPr txBox="1"/>
          <p:nvPr/>
        </p:nvSpPr>
        <p:spPr>
          <a:xfrm>
            <a:off x="6173725" y="3287626"/>
            <a:ext cx="2275238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YOU!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E00DC23-7D34-45DC-95BD-9474CB16B4BB}"/>
              </a:ext>
            </a:extLst>
          </p:cNvPr>
          <p:cNvSpPr/>
          <p:nvPr/>
        </p:nvSpPr>
        <p:spPr>
          <a:xfrm>
            <a:off x="3300432" y="1835666"/>
            <a:ext cx="3968805" cy="2134583"/>
          </a:xfrm>
          <a:custGeom>
            <a:avLst/>
            <a:gdLst>
              <a:gd name="csX0" fmla="*/ 545857 w 3701680"/>
              <a:gd name="csY0" fmla="*/ 0 h 2134583"/>
              <a:gd name="csX1" fmla="*/ 3701680 w 3701680"/>
              <a:gd name="csY1" fmla="*/ 0 h 2134583"/>
              <a:gd name="csX2" fmla="*/ 3701680 w 3701680"/>
              <a:gd name="csY2" fmla="*/ 1438382 h 2134583"/>
              <a:gd name="csX3" fmla="*/ 1904826 w 3701680"/>
              <a:gd name="csY3" fmla="*/ 1438382 h 2134583"/>
              <a:gd name="csX4" fmla="*/ 611368 w 3701680"/>
              <a:gd name="csY4" fmla="*/ 2134583 h 2134583"/>
              <a:gd name="csX5" fmla="*/ 929122 w 3701680"/>
              <a:gd name="csY5" fmla="*/ 1438382 h 2134583"/>
              <a:gd name="csX6" fmla="*/ 0 w 3701680"/>
              <a:gd name="csY6" fmla="*/ 1438382 h 21345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01680" h="2134583">
                <a:moveTo>
                  <a:pt x="545857" y="0"/>
                </a:moveTo>
                <a:lnTo>
                  <a:pt x="3701680" y="0"/>
                </a:lnTo>
                <a:lnTo>
                  <a:pt x="3701680" y="1438382"/>
                </a:lnTo>
                <a:lnTo>
                  <a:pt x="1904826" y="1438382"/>
                </a:lnTo>
                <a:lnTo>
                  <a:pt x="611368" y="2134583"/>
                </a:lnTo>
                <a:lnTo>
                  <a:pt x="929122" y="1438382"/>
                </a:lnTo>
                <a:lnTo>
                  <a:pt x="0" y="1438382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317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C1D179-DA0F-12C2-6420-8A7E91FC3690}"/>
              </a:ext>
            </a:extLst>
          </p:cNvPr>
          <p:cNvSpPr txBox="1"/>
          <p:nvPr/>
        </p:nvSpPr>
        <p:spPr>
          <a:xfrm>
            <a:off x="3643345" y="2116376"/>
            <a:ext cx="3262432" cy="101566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bg1"/>
                </a:solidFill>
                <a:latin typeface="Arial Black" panose="020B0A04020102020204" pitchFamily="34" charset="0"/>
              </a:rPr>
              <a:t>THANK</a:t>
            </a:r>
          </a:p>
        </p:txBody>
      </p:sp>
    </p:spTree>
    <p:extLst>
      <p:ext uri="{BB962C8B-B14F-4D97-AF65-F5344CB8AC3E}">
        <p14:creationId xmlns:p14="http://schemas.microsoft.com/office/powerpoint/2010/main" val="14583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 p14:presetBounceEnd="60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8" accel="2533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accel="25000" fill="hold" grpId="0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7" grpId="0" animBg="1"/>
          <p:bldP spid="19" grpId="0"/>
          <p:bldP spid="9" grpId="0" animBg="1"/>
          <p:bldP spid="21" grpId="0"/>
        </p:bld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Project_On_Doctor_Consultancy_Fee</Template>
  <TotalTime>95</TotalTime>
  <Words>2419</Words>
  <Application>Microsoft Office PowerPoint</Application>
  <PresentationFormat>Widescreen</PresentationFormat>
  <Paragraphs>420</Paragraphs>
  <Slides>33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53" baseType="lpstr">
      <vt:lpstr>Microsoft JhengHei UI</vt:lpstr>
      <vt:lpstr>Algerian</vt:lpstr>
      <vt:lpstr>Aparajita</vt:lpstr>
      <vt:lpstr>Arial</vt:lpstr>
      <vt:lpstr>Arial Black</vt:lpstr>
      <vt:lpstr>Bahnschrift SemiBold SemiConden</vt:lpstr>
      <vt:lpstr>Britannic Bold</vt:lpstr>
      <vt:lpstr>Calibri</vt:lpstr>
      <vt:lpstr>Calibri Light</vt:lpstr>
      <vt:lpstr>Eras Bold ITC</vt:lpstr>
      <vt:lpstr>Eras Demi ITC</vt:lpstr>
      <vt:lpstr>Franklin Gothic Demi</vt:lpstr>
      <vt:lpstr>Jumble</vt:lpstr>
      <vt:lpstr>menlo</vt:lpstr>
      <vt:lpstr>Oswald</vt:lpstr>
      <vt:lpstr>Perpetua</vt:lpstr>
      <vt:lpstr>Rockwell Extra Bold</vt:lpstr>
      <vt:lpstr>Segoe UI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theafrozshams@outlook.com</dc:creator>
  <cp:lastModifiedBy>theafrozshams@outlook.com</cp:lastModifiedBy>
  <cp:revision>7</cp:revision>
  <dcterms:created xsi:type="dcterms:W3CDTF">2026-03-23T14:15:29Z</dcterms:created>
  <dcterms:modified xsi:type="dcterms:W3CDTF">2026-09-15T07:05:59Z</dcterms:modified>
</cp:coreProperties>
</file>